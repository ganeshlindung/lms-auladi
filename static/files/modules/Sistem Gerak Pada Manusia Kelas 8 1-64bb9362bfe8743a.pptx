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sldIdLst>
    <p:sldId id="256" r:id="rId2"/>
    <p:sldId id="258" r:id="rId3"/>
    <p:sldId id="259" r:id="rId4"/>
    <p:sldId id="263" r:id="rId5"/>
    <p:sldId id="268" r:id="rId6"/>
    <p:sldId id="265" r:id="rId7"/>
    <p:sldId id="269" r:id="rId8"/>
    <p:sldId id="270" r:id="rId9"/>
    <p:sldId id="271" r:id="rId10"/>
    <p:sldId id="272" r:id="rId11"/>
    <p:sldId id="275" r:id="rId12"/>
    <p:sldId id="277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D0065BE-0657-4A47-90AD-C21C55E16B19}" type="datetime4">
              <a:rPr lang="en-US" smtClean="0"/>
              <a:pPr/>
              <a:t>July 26, 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7BB8AF-C16A-4836-A92D-61834B5F0BA5}" type="datetime4">
              <a:rPr lang="en-US" smtClean="0"/>
              <a:pPr/>
              <a:t>July 26,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47D2193-4505-4A75-99BB-880C6989A757}" type="datetime4">
              <a:rPr lang="en-US" smtClean="0"/>
              <a:pPr/>
              <a:t>July 26,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3A18F4-33C3-445B-924C-31108C51719C}" type="datetime4">
              <a:rPr lang="en-US" smtClean="0"/>
              <a:pPr/>
              <a:t>July 26,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F7543A-E259-478F-9E0D-57BA40E442B7}" type="datetime4">
              <a:rPr lang="en-US" smtClean="0"/>
              <a:pPr/>
              <a:t>July 26,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FB012D-77A1-44B0-BB26-329BA1EE55C9}" type="datetime4">
              <a:rPr lang="en-US" smtClean="0"/>
              <a:pPr/>
              <a:t>July 26, 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4B7499E-3031-413E-B01E-B94970708CAA}" type="datetime4">
              <a:rPr lang="en-US" smtClean="0"/>
              <a:pPr/>
              <a:t>July 26,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C7EAB0C-2220-4D0E-A0DD-DB7FA0F742F4}" type="datetime4">
              <a:rPr lang="en-US" smtClean="0"/>
              <a:pPr/>
              <a:t>July 26,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3416D63-31BF-4B94-B6C5-E20B2C63F515}" type="datetime4">
              <a:rPr lang="en-US" smtClean="0"/>
              <a:pPr/>
              <a:t>July 26,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6C3AA4-67BE-44F7-809A-3582401494AF}" type="datetime4">
              <a:rPr lang="en-US" smtClean="0"/>
              <a:pPr/>
              <a:t>July 26,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172EEB-1769-4776-AD69-E7C1260563EB}" type="datetime4">
              <a:rPr lang="en-US" smtClean="0"/>
              <a:pPr/>
              <a:t>July 26,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2B1B13E-D5AF-485E-81A1-82A140076526}" type="datetime4">
              <a:rPr lang="en-US" smtClean="0"/>
              <a:pPr/>
              <a:t>July 26, 2024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 err="1" smtClean="0"/>
              <a:t>Sistem</a:t>
            </a:r>
            <a:r>
              <a:rPr lang="en-US" sz="4400" dirty="0" smtClean="0"/>
              <a:t> </a:t>
            </a:r>
            <a:r>
              <a:rPr lang="en-US" sz="4400" dirty="0" err="1" smtClean="0"/>
              <a:t>Gerak</a:t>
            </a:r>
            <a:r>
              <a:rPr lang="en-US" sz="4400" dirty="0" smtClean="0"/>
              <a:t> </a:t>
            </a:r>
            <a:r>
              <a:rPr lang="en-US" sz="4400" dirty="0" err="1" smtClean="0"/>
              <a:t>Pada</a:t>
            </a:r>
            <a:r>
              <a:rPr lang="en-US" sz="4400" dirty="0" smtClean="0"/>
              <a:t> </a:t>
            </a:r>
            <a:r>
              <a:rPr lang="en-US" sz="4400" dirty="0" err="1" smtClean="0"/>
              <a:t>Manusia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88964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Tulang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3339" y="1231032"/>
            <a:ext cx="7497688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Tulang</a:t>
            </a:r>
            <a:r>
              <a:rPr lang="id-ID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merupakan alat gerak pasif karena tidak dapat bergerak tanpa bantuan otot.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600" y="1916832"/>
            <a:ext cx="717055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Beberapa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fungsi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tulang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tubuh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manusia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sebagai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berikut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Sebagai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alat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gerak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pasif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karena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kerja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tulang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ditentukan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oleh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otot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eriod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Penopang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tubuh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agar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tidak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jatuh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eriod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Tempat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melekatnya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otot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eriod"/>
            </a:pPr>
            <a:r>
              <a:rPr lang="sv-SE" sz="2000" dirty="0" smtClean="0">
                <a:latin typeface="Times New Roman" pitchFamily="18" charset="0"/>
                <a:cs typeface="Times New Roman" pitchFamily="18" charset="0"/>
              </a:rPr>
              <a:t>Pelindung </a:t>
            </a:r>
            <a:r>
              <a:rPr lang="sv-SE" sz="2000" dirty="0">
                <a:latin typeface="Times New Roman" pitchFamily="18" charset="0"/>
                <a:cs typeface="Times New Roman" pitchFamily="18" charset="0"/>
              </a:rPr>
              <a:t>organ lunak bagian </a:t>
            </a:r>
            <a:r>
              <a:rPr lang="sv-SE" sz="2000" dirty="0" smtClean="0">
                <a:latin typeface="Times New Roman" pitchFamily="18" charset="0"/>
                <a:cs typeface="Times New Roman" pitchFamily="18" charset="0"/>
              </a:rPr>
              <a:t>dalam</a:t>
            </a:r>
          </a:p>
          <a:p>
            <a:pPr marL="342900" indent="-342900">
              <a:buAutoNum type="arabicPeriod"/>
            </a:pPr>
            <a:r>
              <a:rPr lang="sv-SE" sz="2000" dirty="0" smtClean="0">
                <a:latin typeface="Times New Roman" pitchFamily="18" charset="0"/>
                <a:cs typeface="Times New Roman" pitchFamily="18" charset="0"/>
              </a:rPr>
              <a:t>Tempat </a:t>
            </a:r>
            <a:r>
              <a:rPr lang="sv-SE" sz="2000" dirty="0">
                <a:latin typeface="Times New Roman" pitchFamily="18" charset="0"/>
                <a:cs typeface="Times New Roman" pitchFamily="18" charset="0"/>
              </a:rPr>
              <a:t>menyimpan cadangan </a:t>
            </a:r>
            <a:r>
              <a:rPr lang="sv-SE" sz="2000" dirty="0" smtClean="0">
                <a:latin typeface="Times New Roman" pitchFamily="18" charset="0"/>
                <a:cs typeface="Times New Roman" pitchFamily="18" charset="0"/>
              </a:rPr>
              <a:t>mineral</a:t>
            </a:r>
            <a:endParaRPr lang="sv-SE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71600" y="3949025"/>
            <a:ext cx="6705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000" b="1" dirty="0">
                <a:latin typeface="Times New Roman" pitchFamily="18" charset="0"/>
                <a:cs typeface="Times New Roman" pitchFamily="18" charset="0"/>
              </a:rPr>
              <a:t>Berdasarkan jenisnya, ada dua macam tulang yaitu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id-ID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85900" y="4463315"/>
            <a:ext cx="3467100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91440"/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Tulang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rawan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Kartilago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id-ID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91342" y="5072915"/>
            <a:ext cx="3461657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91440"/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Tulang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keras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(osteon)</a:t>
            </a:r>
            <a:endParaRPr lang="id-ID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7840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1" grpId="0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89800" y="618834"/>
            <a:ext cx="2184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 err="1" smtClean="0"/>
              <a:t>Tulang</a:t>
            </a:r>
            <a:r>
              <a:rPr lang="en-US" dirty="0" smtClean="0"/>
              <a:t> </a:t>
            </a:r>
            <a:r>
              <a:rPr lang="en-US" dirty="0" err="1" smtClean="0"/>
              <a:t>Rawan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10507" y="908720"/>
            <a:ext cx="788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Ada </a:t>
            </a:r>
            <a:r>
              <a:rPr lang="en-US" dirty="0" err="1" smtClean="0"/>
              <a:t>tiga</a:t>
            </a:r>
            <a:r>
              <a:rPr lang="en-US" dirty="0" smtClean="0"/>
              <a:t> </a:t>
            </a:r>
            <a:r>
              <a:rPr lang="en-US" dirty="0" err="1" smtClean="0"/>
              <a:t>jenis</a:t>
            </a:r>
            <a:r>
              <a:rPr lang="en-US" dirty="0" smtClean="0"/>
              <a:t> </a:t>
            </a:r>
            <a:r>
              <a:rPr lang="en-US" dirty="0" err="1" smtClean="0"/>
              <a:t>tulang</a:t>
            </a:r>
            <a:r>
              <a:rPr lang="en-US" dirty="0" smtClean="0"/>
              <a:t> </a:t>
            </a:r>
            <a:r>
              <a:rPr lang="en-US" dirty="0" err="1" smtClean="0"/>
              <a:t>rawan</a:t>
            </a:r>
            <a:r>
              <a:rPr lang="en-US" dirty="0" smtClean="0"/>
              <a:t>, </a:t>
            </a:r>
            <a:r>
              <a:rPr lang="en-US" dirty="0" err="1" smtClean="0"/>
              <a:t>yaitu</a:t>
            </a:r>
            <a:r>
              <a:rPr lang="en-US" dirty="0" smtClean="0"/>
              <a:t> </a:t>
            </a:r>
            <a:r>
              <a:rPr lang="en-US" dirty="0" err="1" smtClean="0"/>
              <a:t>tulang</a:t>
            </a:r>
            <a:r>
              <a:rPr lang="en-US" dirty="0" smtClean="0"/>
              <a:t> </a:t>
            </a:r>
            <a:r>
              <a:rPr lang="en-US" dirty="0" err="1" smtClean="0"/>
              <a:t>rawan</a:t>
            </a:r>
            <a:r>
              <a:rPr lang="en-US" dirty="0" smtClean="0"/>
              <a:t> </a:t>
            </a:r>
            <a:r>
              <a:rPr lang="en-US" dirty="0" err="1" smtClean="0"/>
              <a:t>hialin</a:t>
            </a:r>
            <a:r>
              <a:rPr lang="en-US" dirty="0" smtClean="0"/>
              <a:t>, </a:t>
            </a:r>
            <a:r>
              <a:rPr lang="en-US" dirty="0" err="1" smtClean="0"/>
              <a:t>tulang</a:t>
            </a:r>
            <a:r>
              <a:rPr lang="en-US" dirty="0" smtClean="0"/>
              <a:t> </a:t>
            </a:r>
            <a:r>
              <a:rPr lang="en-US" dirty="0" err="1" smtClean="0"/>
              <a:t>rawan</a:t>
            </a:r>
            <a:r>
              <a:rPr lang="en-US" dirty="0" smtClean="0"/>
              <a:t> </a:t>
            </a:r>
            <a:r>
              <a:rPr lang="en-US" dirty="0" err="1" smtClean="0"/>
              <a:t>fibrosa</a:t>
            </a:r>
            <a:r>
              <a:rPr lang="en-US" dirty="0" smtClean="0"/>
              <a:t>,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tulang</a:t>
            </a:r>
            <a:r>
              <a:rPr lang="en-US" dirty="0" smtClean="0"/>
              <a:t> </a:t>
            </a:r>
            <a:r>
              <a:rPr lang="en-US" dirty="0" err="1" smtClean="0"/>
              <a:t>rawan</a:t>
            </a:r>
            <a:r>
              <a:rPr lang="en-US" dirty="0" smtClean="0"/>
              <a:t> </a:t>
            </a:r>
            <a:r>
              <a:rPr lang="en-US" dirty="0" err="1" smtClean="0"/>
              <a:t>elastis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94587" y="1772816"/>
            <a:ext cx="2072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 err="1" smtClean="0"/>
              <a:t>Tulang</a:t>
            </a:r>
            <a:r>
              <a:rPr lang="en-US" dirty="0" smtClean="0"/>
              <a:t> </a:t>
            </a:r>
            <a:r>
              <a:rPr lang="en-US" dirty="0" err="1" smtClean="0"/>
              <a:t>Keras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34154" y="2084655"/>
            <a:ext cx="78600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/>
              <a:t>Tulang</a:t>
            </a:r>
            <a:r>
              <a:rPr lang="en-US" dirty="0"/>
              <a:t> </a:t>
            </a:r>
            <a:r>
              <a:rPr lang="en-US" dirty="0" err="1"/>
              <a:t>keras</a:t>
            </a:r>
            <a:r>
              <a:rPr lang="en-US" dirty="0"/>
              <a:t> (osteon) </a:t>
            </a:r>
            <a:r>
              <a:rPr lang="en-US" dirty="0" err="1"/>
              <a:t>tersusun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sel-sel</a:t>
            </a:r>
            <a:r>
              <a:rPr lang="en-US" dirty="0"/>
              <a:t> </a:t>
            </a:r>
            <a:r>
              <a:rPr lang="en-US" dirty="0" err="1"/>
              <a:t>tulang</a:t>
            </a:r>
            <a:r>
              <a:rPr lang="en-US" dirty="0"/>
              <a:t> (</a:t>
            </a:r>
            <a:r>
              <a:rPr lang="en-US" dirty="0" err="1"/>
              <a:t>osteosit</a:t>
            </a:r>
            <a:r>
              <a:rPr lang="en-US" dirty="0"/>
              <a:t>),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mengandung</a:t>
            </a:r>
            <a:r>
              <a:rPr lang="en-US" dirty="0"/>
              <a:t> </a:t>
            </a:r>
            <a:r>
              <a:rPr lang="en-US" dirty="0" err="1" smtClean="0"/>
              <a:t>kalsium</a:t>
            </a:r>
            <a:r>
              <a:rPr lang="en-US" dirty="0" smtClean="0"/>
              <a:t>, </a:t>
            </a:r>
            <a:r>
              <a:rPr lang="en-US" dirty="0" err="1" smtClean="0"/>
              <a:t>fosfor</a:t>
            </a:r>
            <a:r>
              <a:rPr lang="en-US" dirty="0" smtClean="0"/>
              <a:t>, </a:t>
            </a:r>
            <a:r>
              <a:rPr lang="en-US" dirty="0" err="1" smtClean="0"/>
              <a:t>rotein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zat</a:t>
            </a:r>
            <a:r>
              <a:rPr lang="en-US" dirty="0" smtClean="0"/>
              <a:t> </a:t>
            </a:r>
            <a:r>
              <a:rPr lang="en-US" dirty="0" err="1" smtClean="0"/>
              <a:t>perekat</a:t>
            </a:r>
            <a:r>
              <a:rPr lang="en-US" dirty="0" smtClean="0"/>
              <a:t>. </a:t>
            </a:r>
            <a:r>
              <a:rPr lang="en-US" dirty="0" err="1" smtClean="0"/>
              <a:t>Kalsium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osfor</a:t>
            </a:r>
            <a:r>
              <a:rPr lang="en-US" dirty="0" smtClean="0"/>
              <a:t> yang </a:t>
            </a:r>
            <a:r>
              <a:rPr lang="en-US" dirty="0" err="1" smtClean="0"/>
              <a:t>terkandung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matriks</a:t>
            </a:r>
            <a:r>
              <a:rPr lang="en-US" dirty="0" smtClean="0"/>
              <a:t> </a:t>
            </a:r>
            <a:r>
              <a:rPr lang="en-US" dirty="0" err="1" smtClean="0"/>
              <a:t>menyebabkan</a:t>
            </a:r>
            <a:r>
              <a:rPr lang="en-US" dirty="0" smtClean="0"/>
              <a:t> </a:t>
            </a:r>
            <a:r>
              <a:rPr lang="en-US" dirty="0" err="1" smtClean="0"/>
              <a:t>tulang</a:t>
            </a:r>
            <a:r>
              <a:rPr lang="en-US" dirty="0" smtClean="0"/>
              <a:t> 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keras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lentur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10507" y="3429000"/>
            <a:ext cx="788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 smtClean="0"/>
              <a:t>Berdasarkan</a:t>
            </a:r>
            <a:r>
              <a:rPr lang="en-US" dirty="0" smtClean="0"/>
              <a:t> </a:t>
            </a:r>
            <a:r>
              <a:rPr lang="en-US" dirty="0" err="1"/>
              <a:t>bentuknya</a:t>
            </a:r>
            <a:r>
              <a:rPr lang="en-US" dirty="0"/>
              <a:t>, </a:t>
            </a:r>
            <a:r>
              <a:rPr lang="en-US" dirty="0" err="1"/>
              <a:t>tulang</a:t>
            </a:r>
            <a:r>
              <a:rPr lang="en-US" dirty="0"/>
              <a:t> </a:t>
            </a:r>
            <a:r>
              <a:rPr lang="en-US" dirty="0" err="1" smtClean="0"/>
              <a:t>keras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/>
              <a:t>dibedakan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 smtClean="0"/>
              <a:t>tiga</a:t>
            </a:r>
            <a:r>
              <a:rPr lang="en-US" dirty="0" smtClean="0"/>
              <a:t> </a:t>
            </a:r>
            <a:r>
              <a:rPr lang="en-US" dirty="0" err="1" smtClean="0"/>
              <a:t>macam</a:t>
            </a:r>
            <a:r>
              <a:rPr lang="en-US" dirty="0" smtClean="0"/>
              <a:t>, </a:t>
            </a:r>
            <a:r>
              <a:rPr lang="en-US" dirty="0" err="1" smtClean="0"/>
              <a:t>yaitu</a:t>
            </a:r>
            <a:r>
              <a:rPr lang="en-US" dirty="0" smtClean="0"/>
              <a:t> </a:t>
            </a:r>
            <a:r>
              <a:rPr lang="en-US" dirty="0" err="1" smtClean="0"/>
              <a:t>tulang</a:t>
            </a:r>
            <a:r>
              <a:rPr lang="en-US" dirty="0" smtClean="0"/>
              <a:t> </a:t>
            </a:r>
            <a:r>
              <a:rPr lang="en-US" dirty="0" err="1"/>
              <a:t>pipa</a:t>
            </a:r>
            <a:r>
              <a:rPr lang="en-US" dirty="0"/>
              <a:t>, </a:t>
            </a:r>
            <a:r>
              <a:rPr lang="en-US" dirty="0" err="1"/>
              <a:t>tulang</a:t>
            </a:r>
            <a:r>
              <a:rPr lang="en-US" dirty="0"/>
              <a:t> </a:t>
            </a:r>
            <a:r>
              <a:rPr lang="en-US" dirty="0" err="1"/>
              <a:t>pipih</a:t>
            </a:r>
            <a:r>
              <a:rPr lang="en-US" dirty="0"/>
              <a:t>,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/>
              <a:t>tulang</a:t>
            </a:r>
            <a:r>
              <a:rPr lang="en-US" dirty="0"/>
              <a:t> </a:t>
            </a:r>
            <a:r>
              <a:rPr lang="en-US" dirty="0" err="1"/>
              <a:t>pendek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39552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Sendi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7701" y="1053900"/>
            <a:ext cx="3429000" cy="40005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cs typeface="Calibri" pitchFamily="34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cs typeface="Calibri" pitchFamily="34" charset="0"/>
              </a:rPr>
              <a:t>Sendi</a:t>
            </a:r>
            <a:r>
              <a:rPr lang="en-US" sz="2000" b="1" dirty="0">
                <a:solidFill>
                  <a:schemeClr val="tx1"/>
                </a:solidFill>
                <a:cs typeface="Calibri" pitchFamily="34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cs typeface="Calibri" pitchFamily="34" charset="0"/>
              </a:rPr>
              <a:t>Mati</a:t>
            </a:r>
            <a:r>
              <a:rPr lang="en-US" sz="2000" b="1" dirty="0">
                <a:solidFill>
                  <a:schemeClr val="tx1"/>
                </a:solidFill>
                <a:cs typeface="Calibri" pitchFamily="34" charset="0"/>
              </a:rPr>
              <a:t> (</a:t>
            </a:r>
            <a:r>
              <a:rPr lang="en-US" sz="2000" b="1" dirty="0" err="1">
                <a:solidFill>
                  <a:schemeClr val="tx1"/>
                </a:solidFill>
                <a:cs typeface="Calibri" pitchFamily="34" charset="0"/>
              </a:rPr>
              <a:t>Sinartosis</a:t>
            </a:r>
            <a:r>
              <a:rPr lang="en-US" sz="2000" b="1" dirty="0">
                <a:solidFill>
                  <a:schemeClr val="tx1"/>
                </a:solidFill>
                <a:cs typeface="Calibri" pitchFamily="34" charset="0"/>
              </a:rPr>
              <a:t>)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05717" y="1412776"/>
            <a:ext cx="7662563" cy="9097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111136" tIns="55568" rIns="111136" bIns="55568" rtlCol="0">
            <a:noAutofit/>
          </a:bodyPr>
          <a:lstStyle>
            <a:lvl1pPr marL="416761" indent="-416761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02981" indent="-347301" algn="l" defTabSz="111136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89202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944883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500564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056245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611926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167607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723287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indent="-174625" algn="just" defTabSz="914400">
              <a:defRPr/>
            </a:pPr>
            <a:r>
              <a:rPr lang="en-US" sz="1800" dirty="0" err="1">
                <a:sym typeface="Wingdings" pitchFamily="2" charset="2"/>
              </a:rPr>
              <a:t>merupakan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hubungan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antartulang</a:t>
            </a:r>
            <a:r>
              <a:rPr lang="en-US" sz="1800" dirty="0">
                <a:sym typeface="Wingdings" pitchFamily="2" charset="2"/>
              </a:rPr>
              <a:t> yang </a:t>
            </a:r>
            <a:r>
              <a:rPr lang="id-ID" sz="1800" dirty="0" smtClean="0">
                <a:sym typeface="Wingdings" pitchFamily="2" charset="2"/>
              </a:rPr>
              <a:t>dihubungkan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id-ID" sz="1800" dirty="0" smtClean="0">
                <a:sym typeface="Wingdings" pitchFamily="2" charset="2"/>
              </a:rPr>
              <a:t>oleh </a:t>
            </a:r>
            <a:r>
              <a:rPr lang="id-ID" sz="1800" dirty="0">
                <a:sym typeface="Wingdings" pitchFamily="2" charset="2"/>
              </a:rPr>
              <a:t>serabut </a:t>
            </a:r>
            <a:r>
              <a:rPr lang="id-ID" sz="1800" dirty="0" smtClean="0">
                <a:sym typeface="Wingdings" pitchFamily="2" charset="2"/>
              </a:rPr>
              <a:t>jaringan </a:t>
            </a:r>
            <a:r>
              <a:rPr lang="id-ID" sz="1800" dirty="0">
                <a:sym typeface="Wingdings" pitchFamily="2" charset="2"/>
              </a:rPr>
              <a:t>ikat</a:t>
            </a:r>
            <a:r>
              <a:rPr lang="en-US" sz="1800" dirty="0">
                <a:sym typeface="Wingdings" pitchFamily="2" charset="2"/>
              </a:rPr>
              <a:t>, </a:t>
            </a:r>
            <a:r>
              <a:rPr lang="en-US" sz="1800" dirty="0" err="1">
                <a:sym typeface="Wingdings" pitchFamily="2" charset="2"/>
              </a:rPr>
              <a:t>sehingga</a:t>
            </a:r>
            <a:r>
              <a:rPr lang="id-ID" sz="1800" dirty="0">
                <a:sym typeface="Wingdings" pitchFamily="2" charset="2"/>
              </a:rPr>
              <a:t> tidak dapat digera</a:t>
            </a:r>
            <a:r>
              <a:rPr lang="en-US" sz="1800" dirty="0">
                <a:sym typeface="Wingdings" pitchFamily="2" charset="2"/>
              </a:rPr>
              <a:t>k</a:t>
            </a:r>
            <a:r>
              <a:rPr lang="id-ID" sz="1800" dirty="0">
                <a:sym typeface="Wingdings" pitchFamily="2" charset="2"/>
              </a:rPr>
              <a:t>kan</a:t>
            </a:r>
            <a:r>
              <a:rPr lang="en-US" sz="1800" dirty="0">
                <a:sym typeface="Wingdings" pitchFamily="2" charset="2"/>
              </a:rPr>
              <a:t>.</a:t>
            </a:r>
            <a:endParaRPr lang="id-ID" sz="1800" dirty="0">
              <a:sym typeface="Wingdings" pitchFamily="2" charset="2"/>
            </a:endParaRPr>
          </a:p>
          <a:p>
            <a:pPr marL="174625" lvl="0" indent="-174625" algn="just" defTabSz="914400">
              <a:defRPr/>
            </a:pPr>
            <a:r>
              <a:rPr lang="id-ID" sz="1800" dirty="0">
                <a:sym typeface="Wingdings" pitchFamily="2" charset="2"/>
              </a:rPr>
              <a:t>Contoh : Hubungan antartulang tengkorak (sutura)</a:t>
            </a:r>
            <a:r>
              <a:rPr lang="en-US" sz="1800" dirty="0">
                <a:sym typeface="Wingdings" pitchFamily="2" charset="2"/>
              </a:rPr>
              <a:t>.</a:t>
            </a:r>
            <a:endParaRPr lang="id-ID" sz="1800" dirty="0">
              <a:sym typeface="Wingdings" pitchFamily="2" charset="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77700" y="2492896"/>
            <a:ext cx="3810000" cy="40005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cs typeface="Calibri" pitchFamily="34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cs typeface="Calibri" pitchFamily="34" charset="0"/>
              </a:rPr>
              <a:t>Sendi</a:t>
            </a:r>
            <a:r>
              <a:rPr lang="en-US" sz="2000" b="1" dirty="0">
                <a:solidFill>
                  <a:schemeClr val="tx1"/>
                </a:solidFill>
                <a:cs typeface="Calibri" pitchFamily="34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cs typeface="Calibri" pitchFamily="34" charset="0"/>
              </a:rPr>
              <a:t>Kaku</a:t>
            </a:r>
            <a:r>
              <a:rPr lang="en-US" sz="2000" b="1" dirty="0">
                <a:solidFill>
                  <a:schemeClr val="tx1"/>
                </a:solidFill>
                <a:cs typeface="Calibri" pitchFamily="34" charset="0"/>
              </a:rPr>
              <a:t> (</a:t>
            </a:r>
            <a:r>
              <a:rPr lang="en-US" sz="2000" b="1" dirty="0" err="1">
                <a:solidFill>
                  <a:schemeClr val="tx1"/>
                </a:solidFill>
                <a:cs typeface="Calibri" pitchFamily="34" charset="0"/>
              </a:rPr>
              <a:t>Amfiartrosis</a:t>
            </a:r>
            <a:r>
              <a:rPr lang="en-US" sz="2000" b="1" dirty="0">
                <a:solidFill>
                  <a:schemeClr val="tx1"/>
                </a:solidFill>
                <a:cs typeface="Calibri" pitchFamily="34" charset="0"/>
              </a:rPr>
              <a:t>)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05718" y="2969146"/>
            <a:ext cx="7662562" cy="135552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111136" tIns="55568" rIns="111136" bIns="55568" rtlCol="0">
            <a:noAutofit/>
          </a:bodyPr>
          <a:lstStyle>
            <a:lvl1pPr marL="416761" indent="-416761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02981" indent="-347301" algn="l" defTabSz="111136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89202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944883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500564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056245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611926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167607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723287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indent="-174625" algn="just" defTabSz="914400">
              <a:defRPr/>
            </a:pPr>
            <a:r>
              <a:rPr lang="id-ID" sz="1800" dirty="0">
                <a:sym typeface="Wingdings" pitchFamily="2" charset="2"/>
              </a:rPr>
              <a:t>Sendi kaku </a:t>
            </a:r>
            <a:r>
              <a:rPr lang="en-US" sz="1800" dirty="0" err="1">
                <a:sym typeface="Wingdings" pitchFamily="2" charset="2"/>
              </a:rPr>
              <a:t>merupakan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hubungan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antartulang</a:t>
            </a:r>
            <a:r>
              <a:rPr lang="en-US" sz="1800" dirty="0">
                <a:sym typeface="Wingdings" pitchFamily="2" charset="2"/>
              </a:rPr>
              <a:t> yang </a:t>
            </a:r>
            <a:r>
              <a:rPr lang="id-ID" sz="1800" dirty="0">
                <a:sym typeface="Wingdings" pitchFamily="2" charset="2"/>
              </a:rPr>
              <a:t>dihubungkan oleh kartilago  memungkinkan gerakan </a:t>
            </a:r>
            <a:r>
              <a:rPr lang="en-US" sz="1800" dirty="0" err="1">
                <a:sym typeface="Wingdings" pitchFamily="2" charset="2"/>
              </a:rPr>
              <a:t>secara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id-ID" sz="1800" dirty="0">
                <a:sym typeface="Wingdings" pitchFamily="2" charset="2"/>
              </a:rPr>
              <a:t>terbatas.</a:t>
            </a:r>
          </a:p>
          <a:p>
            <a:pPr marL="174625" lvl="0" indent="-174625" algn="just" defTabSz="914400">
              <a:defRPr/>
            </a:pPr>
            <a:r>
              <a:rPr lang="id-ID" sz="1800" dirty="0">
                <a:sym typeface="Wingdings" pitchFamily="2" charset="2"/>
              </a:rPr>
              <a:t>Contoh : sendi antarruas tulang belakang, sendi antara tulang betis dan </a:t>
            </a:r>
            <a:r>
              <a:rPr lang="en-US" sz="1800" dirty="0" err="1">
                <a:sym typeface="Wingdings" pitchFamily="2" charset="2"/>
              </a:rPr>
              <a:t>tulang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id-ID" sz="1800" dirty="0">
                <a:sym typeface="Wingdings" pitchFamily="2" charset="2"/>
              </a:rPr>
              <a:t>kering</a:t>
            </a:r>
            <a:r>
              <a:rPr lang="en-US" sz="1800" dirty="0">
                <a:sym typeface="Wingdings" pitchFamily="2" charset="2"/>
              </a:rPr>
              <a:t>.</a:t>
            </a:r>
            <a:endParaRPr lang="id-ID" sz="1800" dirty="0">
              <a:sym typeface="Wingdings" pitchFamily="2" charset="2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715416" y="4804641"/>
            <a:ext cx="7291982" cy="136066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111136" tIns="55568" rIns="111136" bIns="55568" rtlCol="0">
            <a:noAutofit/>
          </a:bodyPr>
          <a:lstStyle>
            <a:lvl1pPr marL="416761" indent="-416761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02981" indent="-347301" algn="l" defTabSz="111136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89202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944883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500564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056245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611926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167607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723287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 defTabSz="914400">
              <a:defRPr/>
            </a:pPr>
            <a:r>
              <a:rPr lang="en-US" sz="1800" dirty="0" err="1">
                <a:cs typeface="Calibri" pitchFamily="34" charset="0"/>
                <a:sym typeface="Wingdings" pitchFamily="2" charset="2"/>
              </a:rPr>
              <a:t>merupakan</a:t>
            </a:r>
            <a:r>
              <a:rPr lang="en-US" sz="1800" dirty="0">
                <a:cs typeface="Calibri" pitchFamily="34" charset="0"/>
                <a:sym typeface="Wingdings" pitchFamily="2" charset="2"/>
              </a:rPr>
              <a:t> </a:t>
            </a:r>
            <a:r>
              <a:rPr lang="en-US" sz="1800" dirty="0" err="1">
                <a:cs typeface="Calibri" pitchFamily="34" charset="0"/>
                <a:sym typeface="Wingdings" pitchFamily="2" charset="2"/>
              </a:rPr>
              <a:t>sendi</a:t>
            </a:r>
            <a:r>
              <a:rPr lang="en-US" sz="1800" dirty="0">
                <a:cs typeface="Calibri" pitchFamily="34" charset="0"/>
                <a:sym typeface="Wingdings" pitchFamily="2" charset="2"/>
              </a:rPr>
              <a:t> yang </a:t>
            </a:r>
            <a:r>
              <a:rPr lang="en-US" sz="1800" dirty="0" smtClean="0">
                <a:cs typeface="Calibri" pitchFamily="34" charset="0"/>
                <a:sym typeface="Wingdings" pitchFamily="2" charset="2"/>
              </a:rPr>
              <a:t>t</a:t>
            </a:r>
            <a:r>
              <a:rPr lang="id-ID" sz="1800" dirty="0" smtClean="0">
                <a:cs typeface="Calibri" pitchFamily="34" charset="0"/>
                <a:sym typeface="Wingdings" pitchFamily="2" charset="2"/>
              </a:rPr>
              <a:t>idak </a:t>
            </a:r>
            <a:r>
              <a:rPr lang="id-ID" sz="1800" dirty="0">
                <a:cs typeface="Calibri" pitchFamily="34" charset="0"/>
                <a:sym typeface="Wingdings" pitchFamily="2" charset="2"/>
              </a:rPr>
              <a:t>dihubungkan oleh jaringan ikat </a:t>
            </a:r>
            <a:r>
              <a:rPr lang="en-US" sz="1800" dirty="0">
                <a:cs typeface="Calibri" pitchFamily="34" charset="0"/>
                <a:sym typeface="Wingdings" pitchFamily="2" charset="2"/>
              </a:rPr>
              <a:t> </a:t>
            </a:r>
            <a:r>
              <a:rPr lang="id-ID" sz="1800" dirty="0" smtClean="0">
                <a:cs typeface="Calibri" pitchFamily="34" charset="0"/>
                <a:sym typeface="Wingdings" pitchFamily="2" charset="2"/>
              </a:rPr>
              <a:t> </a:t>
            </a:r>
            <a:r>
              <a:rPr lang="id-ID" sz="1800" dirty="0">
                <a:cs typeface="Calibri" pitchFamily="34" charset="0"/>
                <a:sym typeface="Wingdings" pitchFamily="2" charset="2"/>
              </a:rPr>
              <a:t>tulang dapat bergerak </a:t>
            </a:r>
            <a:r>
              <a:rPr lang="id-ID" sz="1800" dirty="0" smtClean="0">
                <a:cs typeface="Calibri" pitchFamily="34" charset="0"/>
                <a:sym typeface="Wingdings" pitchFamily="2" charset="2"/>
              </a:rPr>
              <a:t>bebas.</a:t>
            </a:r>
            <a:endParaRPr lang="en-US" sz="1800" dirty="0">
              <a:cs typeface="Calibri" pitchFamily="34" charset="0"/>
              <a:sym typeface="Wingdings" pitchFamily="2" charset="2"/>
            </a:endParaRPr>
          </a:p>
          <a:p>
            <a:pPr lvl="0" algn="just" defTabSz="914400">
              <a:defRPr/>
            </a:pPr>
            <a:r>
              <a:rPr lang="en-US" sz="1800" dirty="0" err="1" smtClean="0"/>
              <a:t>Sendi</a:t>
            </a:r>
            <a:r>
              <a:rPr lang="en-US" sz="1800" dirty="0" smtClean="0"/>
              <a:t> </a:t>
            </a:r>
            <a:r>
              <a:rPr lang="en-US" sz="1800" dirty="0" err="1" smtClean="0"/>
              <a:t>gerak</a:t>
            </a:r>
            <a:r>
              <a:rPr lang="en-US" sz="1800" dirty="0" smtClean="0"/>
              <a:t> </a:t>
            </a:r>
            <a:r>
              <a:rPr lang="en-US" sz="1800" dirty="0" err="1"/>
              <a:t>terdiri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beberapa</a:t>
            </a:r>
            <a:r>
              <a:rPr lang="en-US" sz="1800" dirty="0"/>
              <a:t> </a:t>
            </a:r>
            <a:r>
              <a:rPr lang="en-US" sz="1800" dirty="0" err="1"/>
              <a:t>jenis</a:t>
            </a:r>
            <a:r>
              <a:rPr lang="en-US" sz="1800" dirty="0"/>
              <a:t>, </a:t>
            </a:r>
            <a:r>
              <a:rPr lang="en-US" sz="1800" dirty="0" err="1"/>
              <a:t>yaitu</a:t>
            </a:r>
            <a:r>
              <a:rPr lang="en-US" sz="1800" dirty="0"/>
              <a:t> </a:t>
            </a:r>
            <a:r>
              <a:rPr lang="en-US" sz="1800" dirty="0" err="1"/>
              <a:t>sendi</a:t>
            </a:r>
            <a:r>
              <a:rPr lang="en-US" sz="1800" dirty="0"/>
              <a:t> </a:t>
            </a:r>
            <a:r>
              <a:rPr lang="en-US" sz="1800" dirty="0" err="1"/>
              <a:t>engsel</a:t>
            </a:r>
            <a:r>
              <a:rPr lang="en-US" sz="1800" dirty="0"/>
              <a:t>, </a:t>
            </a:r>
            <a:r>
              <a:rPr lang="en-US" sz="1800" dirty="0" err="1"/>
              <a:t>sendi</a:t>
            </a:r>
            <a:r>
              <a:rPr lang="en-US" sz="1800" dirty="0"/>
              <a:t> </a:t>
            </a:r>
            <a:r>
              <a:rPr lang="en-US" sz="1800" dirty="0" err="1"/>
              <a:t>pelana</a:t>
            </a:r>
            <a:r>
              <a:rPr lang="en-US" sz="1800" dirty="0"/>
              <a:t>, </a:t>
            </a:r>
            <a:r>
              <a:rPr lang="en-US" sz="1800" dirty="0" err="1"/>
              <a:t>sendi</a:t>
            </a:r>
            <a:r>
              <a:rPr lang="en-US" sz="1800" dirty="0"/>
              <a:t> </a:t>
            </a:r>
            <a:r>
              <a:rPr lang="en-US" sz="1800" dirty="0" err="1"/>
              <a:t>putar</a:t>
            </a:r>
            <a:r>
              <a:rPr lang="en-US" sz="1800" dirty="0"/>
              <a:t>, </a:t>
            </a:r>
            <a:r>
              <a:rPr lang="en-US" sz="1800" dirty="0" err="1"/>
              <a:t>sendi</a:t>
            </a:r>
            <a:r>
              <a:rPr lang="en-US" sz="1800" dirty="0"/>
              <a:t> </a:t>
            </a:r>
            <a:r>
              <a:rPr lang="en-US" sz="1800" dirty="0" err="1"/>
              <a:t>peluru</a:t>
            </a:r>
            <a:r>
              <a:rPr lang="en-US" sz="1800" dirty="0"/>
              <a:t>, </a:t>
            </a:r>
            <a:r>
              <a:rPr lang="en-US" sz="1800" dirty="0" err="1"/>
              <a:t>sendi</a:t>
            </a:r>
            <a:r>
              <a:rPr lang="en-US" sz="1800" dirty="0"/>
              <a:t> </a:t>
            </a:r>
            <a:r>
              <a:rPr lang="en-US" sz="1800" dirty="0" err="1"/>
              <a:t>geser</a:t>
            </a:r>
            <a:r>
              <a:rPr lang="en-US" sz="1800" dirty="0"/>
              <a:t>.</a:t>
            </a:r>
            <a:endParaRPr lang="id-ID" sz="1800" dirty="0">
              <a:cs typeface="Calibri" pitchFamily="34" charset="0"/>
              <a:sym typeface="Wingdings" pitchFamily="2" charset="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7399" y="4347441"/>
            <a:ext cx="3429000" cy="40005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cs typeface="Calibri" pitchFamily="34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cs typeface="Calibri" pitchFamily="34" charset="0"/>
              </a:rPr>
              <a:t>Sendi</a:t>
            </a:r>
            <a:r>
              <a:rPr lang="en-US" sz="2000" b="1" dirty="0">
                <a:solidFill>
                  <a:schemeClr val="tx1"/>
                </a:solidFill>
                <a:cs typeface="Calibri" pitchFamily="34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cs typeface="Calibri" pitchFamily="34" charset="0"/>
              </a:rPr>
              <a:t>Gerak</a:t>
            </a:r>
            <a:r>
              <a:rPr lang="en-US" sz="2000" b="1" dirty="0">
                <a:solidFill>
                  <a:schemeClr val="tx1"/>
                </a:solidFill>
                <a:cs typeface="Calibri" pitchFamily="34" charset="0"/>
              </a:rPr>
              <a:t> (</a:t>
            </a:r>
            <a:r>
              <a:rPr lang="en-US" sz="2000" b="1" dirty="0" err="1">
                <a:solidFill>
                  <a:schemeClr val="tx1"/>
                </a:solidFill>
                <a:cs typeface="Calibri" pitchFamily="34" charset="0"/>
              </a:rPr>
              <a:t>Diartosis</a:t>
            </a:r>
            <a:r>
              <a:rPr lang="en-US" sz="2000" b="1" dirty="0">
                <a:solidFill>
                  <a:schemeClr val="tx1"/>
                </a:solidFill>
                <a:cs typeface="Calibri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72394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9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erhatikan gambar berikut! Contoh sendi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16632"/>
            <a:ext cx="9180512" cy="6480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841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59" y="2658085"/>
            <a:ext cx="7920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3.  </a:t>
            </a:r>
            <a:r>
              <a:rPr lang="en-US" dirty="0" err="1" smtClean="0"/>
              <a:t>Sendi</a:t>
            </a:r>
            <a:r>
              <a:rPr lang="en-US" dirty="0" smtClean="0"/>
              <a:t> </a:t>
            </a:r>
            <a:r>
              <a:rPr lang="en-US" dirty="0" err="1" smtClean="0"/>
              <a:t>Putar</a:t>
            </a:r>
            <a:endParaRPr lang="en-US" dirty="0" smtClean="0"/>
          </a:p>
          <a:p>
            <a:pPr algn="just"/>
            <a:r>
              <a:rPr lang="en-US" dirty="0"/>
              <a:t>     </a:t>
            </a:r>
            <a:r>
              <a:rPr lang="en-US" dirty="0" err="1"/>
              <a:t>Sendi</a:t>
            </a:r>
            <a:r>
              <a:rPr lang="en-US" dirty="0"/>
              <a:t> </a:t>
            </a:r>
            <a:r>
              <a:rPr lang="en-US" dirty="0" err="1"/>
              <a:t>putar</a:t>
            </a:r>
            <a:r>
              <a:rPr lang="en-US" dirty="0"/>
              <a:t>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gerakan</a:t>
            </a:r>
            <a:r>
              <a:rPr lang="en-US" dirty="0"/>
              <a:t> </a:t>
            </a:r>
            <a:r>
              <a:rPr lang="en-US" dirty="0" err="1"/>
              <a:t>memutar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rotasi</a:t>
            </a:r>
            <a:r>
              <a:rPr lang="en-US" dirty="0"/>
              <a:t>, </a:t>
            </a:r>
            <a:r>
              <a:rPr lang="en-US" dirty="0" err="1" smtClean="0"/>
              <a:t>contoh</a:t>
            </a:r>
            <a:r>
              <a:rPr lang="en-US" dirty="0" smtClean="0"/>
              <a:t> </a:t>
            </a:r>
          </a:p>
          <a:p>
            <a:pPr algn="just"/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err="1" smtClean="0"/>
              <a:t>sendi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ruas</a:t>
            </a:r>
            <a:r>
              <a:rPr lang="en-US" dirty="0" smtClean="0"/>
              <a:t> </a:t>
            </a:r>
            <a:r>
              <a:rPr lang="en-US" dirty="0" err="1" smtClean="0"/>
              <a:t>tulang</a:t>
            </a:r>
            <a:r>
              <a:rPr lang="en-US" dirty="0" smtClean="0"/>
              <a:t> </a:t>
            </a:r>
            <a:r>
              <a:rPr lang="en-US" dirty="0" err="1" smtClean="0"/>
              <a:t>leher</a:t>
            </a:r>
            <a:r>
              <a:rPr lang="en-US" dirty="0" smtClean="0"/>
              <a:t> </a:t>
            </a:r>
            <a:r>
              <a:rPr lang="en-US" dirty="0" err="1" smtClean="0"/>
              <a:t>pertama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ruas</a:t>
            </a:r>
            <a:r>
              <a:rPr lang="en-US" dirty="0" smtClean="0"/>
              <a:t> </a:t>
            </a:r>
            <a:r>
              <a:rPr lang="en-US" dirty="0" err="1" smtClean="0"/>
              <a:t>leher</a:t>
            </a:r>
            <a:r>
              <a:rPr lang="en-US" dirty="0" smtClean="0"/>
              <a:t> </a:t>
            </a:r>
            <a:r>
              <a:rPr lang="en-US" dirty="0" err="1" smtClean="0"/>
              <a:t>kedua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11558" y="3717032"/>
            <a:ext cx="7920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4</a:t>
            </a:r>
            <a:r>
              <a:rPr lang="en-US" dirty="0" smtClean="0"/>
              <a:t>.  </a:t>
            </a:r>
            <a:r>
              <a:rPr lang="en-US" dirty="0" err="1" smtClean="0"/>
              <a:t>Sendi</a:t>
            </a:r>
            <a:r>
              <a:rPr lang="en-US" dirty="0" smtClean="0"/>
              <a:t> </a:t>
            </a:r>
            <a:r>
              <a:rPr lang="en-US" dirty="0" err="1" smtClean="0"/>
              <a:t>Peluru</a:t>
            </a:r>
            <a:endParaRPr lang="en-US" dirty="0" smtClean="0"/>
          </a:p>
          <a:p>
            <a:pPr algn="just"/>
            <a:r>
              <a:rPr lang="en-US" dirty="0"/>
              <a:t>     </a:t>
            </a:r>
            <a:r>
              <a:rPr lang="en-US" dirty="0" err="1"/>
              <a:t>Sendi</a:t>
            </a:r>
            <a:r>
              <a:rPr lang="en-US" dirty="0"/>
              <a:t> </a:t>
            </a:r>
            <a:r>
              <a:rPr lang="en-US" dirty="0" err="1"/>
              <a:t>peluru</a:t>
            </a:r>
            <a:r>
              <a:rPr lang="en-US" dirty="0"/>
              <a:t>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gerakan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segala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, </a:t>
            </a:r>
            <a:r>
              <a:rPr lang="en-US" dirty="0" err="1"/>
              <a:t>contoh</a:t>
            </a:r>
            <a:r>
              <a:rPr lang="en-US" dirty="0"/>
              <a:t> </a:t>
            </a:r>
            <a:endParaRPr lang="en-US" dirty="0" smtClean="0"/>
          </a:p>
          <a:p>
            <a:pPr algn="just"/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err="1" smtClean="0"/>
              <a:t>sendi</a:t>
            </a:r>
            <a:r>
              <a:rPr lang="en-US" dirty="0" smtClean="0"/>
              <a:t> </a:t>
            </a:r>
            <a:r>
              <a:rPr lang="en-US" dirty="0" err="1" smtClean="0"/>
              <a:t>antara</a:t>
            </a:r>
            <a:r>
              <a:rPr lang="en-US" dirty="0" smtClean="0"/>
              <a:t> </a:t>
            </a:r>
            <a:r>
              <a:rPr lang="en-US" dirty="0" err="1" smtClean="0"/>
              <a:t>tulang</a:t>
            </a:r>
            <a:r>
              <a:rPr lang="en-US" dirty="0" smtClean="0"/>
              <a:t> </a:t>
            </a:r>
            <a:r>
              <a:rPr lang="en-US" dirty="0" err="1" smtClean="0"/>
              <a:t>paha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tulang</a:t>
            </a:r>
            <a:r>
              <a:rPr lang="en-US" dirty="0" smtClean="0"/>
              <a:t> </a:t>
            </a:r>
            <a:r>
              <a:rPr lang="en-US" dirty="0" err="1" smtClean="0"/>
              <a:t>gelang</a:t>
            </a:r>
            <a:r>
              <a:rPr lang="en-US" dirty="0" smtClean="0"/>
              <a:t> </a:t>
            </a:r>
            <a:r>
              <a:rPr lang="en-US" dirty="0" err="1" smtClean="0"/>
              <a:t>panggul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antara</a:t>
            </a:r>
            <a:r>
              <a:rPr lang="en-US" dirty="0" smtClean="0"/>
              <a:t> </a:t>
            </a:r>
          </a:p>
          <a:p>
            <a:pPr algn="just"/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err="1" smtClean="0"/>
              <a:t>tulang</a:t>
            </a:r>
            <a:r>
              <a:rPr lang="en-US" dirty="0" smtClean="0"/>
              <a:t> </a:t>
            </a:r>
            <a:r>
              <a:rPr lang="en-US" dirty="0" err="1" smtClean="0"/>
              <a:t>lengan</a:t>
            </a:r>
            <a:r>
              <a:rPr lang="en-US" dirty="0" smtClean="0"/>
              <a:t> </a:t>
            </a:r>
            <a:r>
              <a:rPr lang="en-US" dirty="0" err="1" smtClean="0"/>
              <a:t>atas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tulang</a:t>
            </a:r>
            <a:r>
              <a:rPr lang="en-US" dirty="0" smtClean="0"/>
              <a:t> </a:t>
            </a:r>
            <a:r>
              <a:rPr lang="en-US" dirty="0" err="1" smtClean="0"/>
              <a:t>gelang</a:t>
            </a:r>
            <a:r>
              <a:rPr lang="en-US" dirty="0" smtClean="0"/>
              <a:t> </a:t>
            </a:r>
            <a:r>
              <a:rPr lang="en-US" dirty="0" err="1" smtClean="0"/>
              <a:t>bahu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11558" y="5131049"/>
            <a:ext cx="7920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5.  </a:t>
            </a:r>
            <a:r>
              <a:rPr lang="en-US" dirty="0" err="1" smtClean="0"/>
              <a:t>Sendi</a:t>
            </a:r>
            <a:r>
              <a:rPr lang="en-US" dirty="0" smtClean="0"/>
              <a:t> </a:t>
            </a:r>
            <a:r>
              <a:rPr lang="en-US" dirty="0" err="1" smtClean="0"/>
              <a:t>Geser</a:t>
            </a:r>
            <a:endParaRPr lang="en-US" dirty="0" smtClean="0"/>
          </a:p>
          <a:p>
            <a:pPr algn="just"/>
            <a:r>
              <a:rPr lang="en-US" dirty="0"/>
              <a:t>     </a:t>
            </a:r>
            <a:r>
              <a:rPr lang="en-US" dirty="0" err="1"/>
              <a:t>Sendi</a:t>
            </a:r>
            <a:r>
              <a:rPr lang="en-US" dirty="0"/>
              <a:t> </a:t>
            </a:r>
            <a:r>
              <a:rPr lang="en-US" dirty="0" err="1"/>
              <a:t>geser</a:t>
            </a:r>
            <a:r>
              <a:rPr lang="en-US" dirty="0"/>
              <a:t>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gerakan</a:t>
            </a:r>
            <a:r>
              <a:rPr lang="en-US" dirty="0"/>
              <a:t> </a:t>
            </a:r>
            <a:r>
              <a:rPr lang="en-US" dirty="0" err="1"/>
              <a:t>menggeser</a:t>
            </a:r>
            <a:r>
              <a:rPr lang="en-US" dirty="0"/>
              <a:t>, </a:t>
            </a:r>
            <a:r>
              <a:rPr lang="en-US" dirty="0" err="1"/>
              <a:t>contoh</a:t>
            </a:r>
            <a:r>
              <a:rPr lang="en-US" dirty="0"/>
              <a:t> </a:t>
            </a:r>
            <a:endParaRPr lang="en-US" dirty="0" smtClean="0"/>
          </a:p>
          <a:p>
            <a:pPr algn="just"/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err="1" smtClean="0"/>
              <a:t>hubungan</a:t>
            </a:r>
            <a:r>
              <a:rPr lang="en-US" dirty="0" smtClean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tulang</a:t>
            </a:r>
            <a:r>
              <a:rPr lang="en-US" dirty="0"/>
              <a:t> </a:t>
            </a:r>
            <a:r>
              <a:rPr lang="en-US" dirty="0" err="1" smtClean="0"/>
              <a:t>belakang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11559" y="612726"/>
            <a:ext cx="7920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 err="1" smtClean="0"/>
              <a:t>Sendi</a:t>
            </a:r>
            <a:r>
              <a:rPr lang="en-US" dirty="0" smtClean="0"/>
              <a:t> </a:t>
            </a:r>
            <a:r>
              <a:rPr lang="en-US" dirty="0" err="1" smtClean="0"/>
              <a:t>Engsel</a:t>
            </a:r>
            <a:endParaRPr lang="en-US" dirty="0" smtClean="0"/>
          </a:p>
          <a:p>
            <a:pPr algn="just"/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err="1" smtClean="0"/>
              <a:t>Sendi</a:t>
            </a:r>
            <a:r>
              <a:rPr lang="en-US" dirty="0" smtClean="0"/>
              <a:t> </a:t>
            </a:r>
            <a:r>
              <a:rPr lang="en-US" dirty="0" err="1"/>
              <a:t>engsel</a:t>
            </a:r>
            <a:r>
              <a:rPr lang="en-US" dirty="0"/>
              <a:t>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gerak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,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 smtClean="0"/>
              <a:t>sendi</a:t>
            </a:r>
            <a:r>
              <a:rPr lang="en-US" dirty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</a:p>
          <a:p>
            <a:pPr algn="just"/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err="1" smtClean="0"/>
              <a:t>siku</a:t>
            </a:r>
            <a:r>
              <a:rPr lang="en-US" dirty="0" smtClean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lutut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30435" y="1620838"/>
            <a:ext cx="7920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2.  </a:t>
            </a:r>
            <a:r>
              <a:rPr lang="en-US" dirty="0" err="1" smtClean="0"/>
              <a:t>Sendi</a:t>
            </a:r>
            <a:r>
              <a:rPr lang="en-US" dirty="0" smtClean="0"/>
              <a:t> </a:t>
            </a:r>
            <a:r>
              <a:rPr lang="en-US" dirty="0" err="1" smtClean="0"/>
              <a:t>Pelana</a:t>
            </a:r>
            <a:endParaRPr lang="en-US" dirty="0" smtClean="0"/>
          </a:p>
          <a:p>
            <a:pPr algn="just"/>
            <a:r>
              <a:rPr lang="en-US" dirty="0"/>
              <a:t>     </a:t>
            </a:r>
            <a:r>
              <a:rPr lang="en-US" dirty="0" err="1" smtClean="0"/>
              <a:t>Sendi</a:t>
            </a:r>
            <a:r>
              <a:rPr lang="en-US" dirty="0" smtClean="0"/>
              <a:t> </a:t>
            </a:r>
            <a:r>
              <a:rPr lang="en-US" dirty="0" err="1" smtClean="0"/>
              <a:t>pelana</a:t>
            </a:r>
            <a:r>
              <a:rPr lang="en-US" dirty="0" smtClean="0"/>
              <a:t>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gerak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,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sendi</a:t>
            </a:r>
            <a:r>
              <a:rPr lang="en-US" dirty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</a:p>
          <a:p>
            <a:pPr algn="just"/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err="1" smtClean="0"/>
              <a:t>tulang</a:t>
            </a:r>
            <a:r>
              <a:rPr lang="en-US" dirty="0" smtClean="0"/>
              <a:t> </a:t>
            </a:r>
            <a:r>
              <a:rPr lang="en-US" dirty="0" err="1"/>
              <a:t>telapak</a:t>
            </a:r>
            <a:r>
              <a:rPr lang="en-US" dirty="0"/>
              <a:t> </a:t>
            </a:r>
            <a:r>
              <a:rPr lang="en-US" dirty="0" err="1"/>
              <a:t>tangan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ibu</a:t>
            </a:r>
            <a:r>
              <a:rPr lang="en-US" dirty="0"/>
              <a:t> </a:t>
            </a:r>
            <a:r>
              <a:rPr lang="en-US" dirty="0" err="1"/>
              <a:t>jari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6255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Kerangka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5888" y="786471"/>
            <a:ext cx="73305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 smtClean="0"/>
              <a:t>Kerangka</a:t>
            </a:r>
            <a:r>
              <a:rPr lang="en-US" dirty="0" smtClean="0"/>
              <a:t> </a:t>
            </a:r>
            <a:r>
              <a:rPr lang="en-US" dirty="0" err="1" smtClean="0"/>
              <a:t>merupakan</a:t>
            </a:r>
            <a:r>
              <a:rPr lang="en-US" dirty="0" smtClean="0"/>
              <a:t> </a:t>
            </a:r>
            <a:r>
              <a:rPr lang="en-US" dirty="0" err="1" smtClean="0"/>
              <a:t>rangkaian</a:t>
            </a:r>
            <a:r>
              <a:rPr lang="en-US" dirty="0" smtClean="0"/>
              <a:t> </a:t>
            </a:r>
            <a:r>
              <a:rPr lang="en-US" dirty="0" err="1" smtClean="0"/>
              <a:t>tulang</a:t>
            </a:r>
            <a:r>
              <a:rPr lang="en-US" dirty="0" smtClean="0"/>
              <a:t> yang </a:t>
            </a:r>
            <a:r>
              <a:rPr lang="en-US" dirty="0" err="1" smtClean="0"/>
              <a:t>mendukung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melindungi</a:t>
            </a:r>
            <a:r>
              <a:rPr lang="en-US" dirty="0" smtClean="0"/>
              <a:t> </a:t>
            </a:r>
            <a:r>
              <a:rPr lang="en-US" dirty="0" err="1" smtClean="0"/>
              <a:t>beberapa</a:t>
            </a:r>
            <a:r>
              <a:rPr lang="en-US" dirty="0" smtClean="0"/>
              <a:t> organ </a:t>
            </a:r>
            <a:r>
              <a:rPr lang="en-US" dirty="0" err="1" smtClean="0"/>
              <a:t>lunak</a:t>
            </a:r>
            <a:r>
              <a:rPr lang="en-US" dirty="0" smtClean="0"/>
              <a:t> </a:t>
            </a:r>
            <a:r>
              <a:rPr lang="en-US" dirty="0" err="1" smtClean="0"/>
              <a:t>terutama</a:t>
            </a:r>
            <a:r>
              <a:rPr lang="en-US" dirty="0" smtClean="0"/>
              <a:t> organ </a:t>
            </a:r>
            <a:r>
              <a:rPr lang="en-US" dirty="0" err="1" smtClean="0"/>
              <a:t>didalam</a:t>
            </a:r>
            <a:r>
              <a:rPr lang="en-US" dirty="0" smtClean="0"/>
              <a:t> </a:t>
            </a:r>
            <a:r>
              <a:rPr lang="en-US" dirty="0" err="1" smtClean="0"/>
              <a:t>tengkorak</a:t>
            </a:r>
            <a:r>
              <a:rPr lang="en-US" dirty="0" smtClean="0"/>
              <a:t>, dada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panggul</a:t>
            </a:r>
            <a:r>
              <a:rPr lang="en-US" dirty="0" smtClean="0"/>
              <a:t>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err="1" smtClean="0"/>
              <a:t>Tulang-tulang</a:t>
            </a:r>
            <a:r>
              <a:rPr lang="en-US" dirty="0" smtClean="0"/>
              <a:t> </a:t>
            </a:r>
            <a:r>
              <a:rPr lang="en-US" dirty="0" err="1" smtClean="0"/>
              <a:t>tersebut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dikelompokkan</a:t>
            </a:r>
            <a:r>
              <a:rPr lang="en-US" dirty="0" smtClean="0"/>
              <a:t> 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tiga</a:t>
            </a:r>
            <a:r>
              <a:rPr lang="en-US" dirty="0" smtClean="0"/>
              <a:t>, </a:t>
            </a:r>
            <a:r>
              <a:rPr lang="en-US" dirty="0" err="1" smtClean="0"/>
              <a:t>yaitu</a:t>
            </a:r>
            <a:r>
              <a:rPr lang="en-US" dirty="0" smtClean="0"/>
              <a:t> </a:t>
            </a:r>
            <a:r>
              <a:rPr lang="en-US" dirty="0" err="1" smtClean="0"/>
              <a:t>rangka</a:t>
            </a:r>
            <a:r>
              <a:rPr lang="en-US" dirty="0" smtClean="0"/>
              <a:t> </a:t>
            </a:r>
            <a:r>
              <a:rPr lang="en-US" dirty="0" err="1" smtClean="0"/>
              <a:t>kepala</a:t>
            </a:r>
            <a:r>
              <a:rPr lang="en-US" dirty="0" smtClean="0"/>
              <a:t>, </a:t>
            </a:r>
            <a:r>
              <a:rPr lang="en-US" dirty="0" err="1" smtClean="0"/>
              <a:t>rangka</a:t>
            </a:r>
            <a:r>
              <a:rPr lang="en-US" dirty="0" smtClean="0"/>
              <a:t> </a:t>
            </a:r>
            <a:r>
              <a:rPr lang="en-US" dirty="0" err="1" smtClean="0"/>
              <a:t>badan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rangka</a:t>
            </a:r>
            <a:r>
              <a:rPr lang="en-US" dirty="0" smtClean="0"/>
              <a:t> </a:t>
            </a:r>
            <a:r>
              <a:rPr lang="en-US" dirty="0" err="1" smtClean="0"/>
              <a:t>anggota</a:t>
            </a:r>
            <a:r>
              <a:rPr lang="en-US" dirty="0" smtClean="0"/>
              <a:t> </a:t>
            </a:r>
            <a:r>
              <a:rPr lang="en-US" dirty="0" err="1" smtClean="0"/>
              <a:t>gerak</a:t>
            </a:r>
            <a:endParaRPr lang="en-US" dirty="0" smtClean="0"/>
          </a:p>
        </p:txBody>
      </p:sp>
      <p:pic>
        <p:nvPicPr>
          <p:cNvPr id="7" name="Picture 2" descr="C:\Users\User\Downloads\WhatsApp Image 2023-07-18 at 04.16.23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639493"/>
            <a:ext cx="2304256" cy="400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641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77701" y="332656"/>
            <a:ext cx="3429000" cy="40005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cs typeface="Calibri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cs typeface="Calibri" pitchFamily="34" charset="0"/>
              </a:rPr>
              <a:t>Rangka</a:t>
            </a:r>
            <a:r>
              <a:rPr lang="en-US" sz="2000" b="1" dirty="0" smtClean="0">
                <a:solidFill>
                  <a:schemeClr val="tx1"/>
                </a:solidFill>
                <a:cs typeface="Calibri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cs typeface="Calibri" pitchFamily="34" charset="0"/>
              </a:rPr>
              <a:t>Kepala</a:t>
            </a:r>
            <a:endParaRPr lang="en-US" sz="2000" b="1" dirty="0">
              <a:solidFill>
                <a:schemeClr val="tx1"/>
              </a:solidFill>
              <a:cs typeface="Calibri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05717" y="789856"/>
            <a:ext cx="7662563" cy="544745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111136" tIns="55568" rIns="111136" bIns="55568" rtlCol="0">
            <a:noAutofit/>
          </a:bodyPr>
          <a:lstStyle>
            <a:lvl1pPr marL="416761" indent="-416761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02981" indent="-347301" algn="l" defTabSz="111136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89202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944883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500564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056245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611926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167607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723287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indent="-174625" algn="just" defTabSz="914400">
              <a:defRPr/>
            </a:pPr>
            <a:r>
              <a:rPr lang="en-US" sz="1800" dirty="0" err="1" smtClean="0">
                <a:sym typeface="Wingdings" pitchFamily="2" charset="2"/>
              </a:rPr>
              <a:t>Rangka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kepala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dibentuk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oleh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tempurung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kepala</a:t>
            </a:r>
            <a:r>
              <a:rPr lang="en-US" sz="1800" dirty="0" smtClean="0">
                <a:sym typeface="Wingdings" pitchFamily="2" charset="2"/>
              </a:rPr>
              <a:t> (</a:t>
            </a:r>
            <a:r>
              <a:rPr lang="en-US" sz="1800" dirty="0" err="1" smtClean="0">
                <a:sym typeface="Wingdings" pitchFamily="2" charset="2"/>
              </a:rPr>
              <a:t>kranium</a:t>
            </a:r>
            <a:r>
              <a:rPr lang="en-US" sz="1800" dirty="0" smtClean="0">
                <a:sym typeface="Wingdings" pitchFamily="2" charset="2"/>
              </a:rPr>
              <a:t>) </a:t>
            </a:r>
            <a:r>
              <a:rPr lang="en-US" sz="1800" dirty="0" err="1" smtClean="0">
                <a:sym typeface="Wingdings" pitchFamily="2" charset="2"/>
              </a:rPr>
              <a:t>dan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muka</a:t>
            </a:r>
            <a:r>
              <a:rPr lang="en-US" sz="1800" dirty="0" smtClean="0">
                <a:sym typeface="Wingdings" pitchFamily="2" charset="2"/>
              </a:rPr>
              <a:t>.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yang </a:t>
            </a:r>
            <a:r>
              <a:rPr lang="en-US" sz="1800" dirty="0" err="1" smtClean="0">
                <a:sym typeface="Wingdings" pitchFamily="2" charset="2"/>
              </a:rPr>
              <a:t>membentuk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kranium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merupakan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pipih</a:t>
            </a:r>
            <a:r>
              <a:rPr lang="en-US" sz="1800" dirty="0" smtClean="0">
                <a:sym typeface="Wingdings" pitchFamily="2" charset="2"/>
              </a:rPr>
              <a:t>, </a:t>
            </a:r>
            <a:r>
              <a:rPr lang="en-US" sz="1800" dirty="0" err="1" smtClean="0">
                <a:sym typeface="Wingdings" pitchFamily="2" charset="2"/>
              </a:rPr>
              <a:t>yaitu</a:t>
            </a:r>
            <a:r>
              <a:rPr lang="en-US" sz="1800" dirty="0" smtClean="0">
                <a:sym typeface="Wingdings" pitchFamily="2" charset="2"/>
              </a:rPr>
              <a:t>:</a:t>
            </a:r>
          </a:p>
          <a:p>
            <a:pPr marL="0" lv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smtClean="0">
                <a:sym typeface="Wingdings" pitchFamily="2" charset="2"/>
              </a:rPr>
              <a:t> a. 1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dahi</a:t>
            </a:r>
            <a:endParaRPr lang="en-US" sz="1800" dirty="0" smtClean="0">
              <a:sym typeface="Wingdings" pitchFamily="2" charset="2"/>
            </a:endParaRPr>
          </a:p>
          <a:p>
            <a:pPr marL="0" lvl="0" indent="0" algn="just" defTabSz="914400">
              <a:buNone/>
              <a:defRPr/>
            </a:pPr>
            <a:r>
              <a:rPr lang="en-US" sz="1800" dirty="0" smtClean="0">
                <a:sym typeface="Wingdings" pitchFamily="2" charset="2"/>
              </a:rPr>
              <a:t>  b. 2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ubun-ubun</a:t>
            </a:r>
            <a:endParaRPr lang="en-US" sz="1800" dirty="0" smtClean="0">
              <a:sym typeface="Wingdings" pitchFamily="2" charset="2"/>
            </a:endParaRPr>
          </a:p>
          <a:p>
            <a:pPr marL="0" lvl="0" indent="0" algn="just" defTabSz="914400">
              <a:buNone/>
              <a:defRPr/>
            </a:pPr>
            <a:r>
              <a:rPr lang="en-US" sz="1800" dirty="0" smtClean="0">
                <a:sym typeface="Wingdings" pitchFamily="2" charset="2"/>
              </a:rPr>
              <a:t>  c. 1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kepala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belakang</a:t>
            </a:r>
            <a:endParaRPr lang="en-US" sz="1800" dirty="0" smtClean="0">
              <a:sym typeface="Wingdings" pitchFamily="2" charset="2"/>
            </a:endParaRPr>
          </a:p>
          <a:p>
            <a:pPr marL="0" lvl="0" indent="0" algn="just" defTabSz="914400">
              <a:buNone/>
              <a:defRPr/>
            </a:pPr>
            <a:r>
              <a:rPr lang="en-US" sz="1800" dirty="0" smtClean="0">
                <a:sym typeface="Wingdings" pitchFamily="2" charset="2"/>
              </a:rPr>
              <a:t>  d. 2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baji</a:t>
            </a:r>
            <a:endParaRPr lang="en-US" sz="1800" dirty="0" smtClean="0">
              <a:sym typeface="Wingdings" pitchFamily="2" charset="2"/>
            </a:endParaRPr>
          </a:p>
          <a:p>
            <a:pPr marL="0" lvl="0" indent="0" algn="just" defTabSz="914400">
              <a:buNone/>
              <a:defRPr/>
            </a:pPr>
            <a:r>
              <a:rPr lang="en-US" sz="1800" dirty="0" smtClean="0">
                <a:sym typeface="Wingdings" pitchFamily="2" charset="2"/>
              </a:rPr>
              <a:t>  e. 2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pelipis</a:t>
            </a:r>
            <a:endParaRPr lang="en-US" sz="1800" dirty="0" smtClean="0">
              <a:sym typeface="Wingdings" pitchFamily="2" charset="2"/>
            </a:endParaRPr>
          </a:p>
          <a:p>
            <a:pPr marL="0" lvl="0" indent="0" algn="just" defTabSz="914400">
              <a:buNone/>
              <a:defRPr/>
            </a:pPr>
            <a:r>
              <a:rPr lang="en-US" sz="1800" dirty="0" smtClean="0">
                <a:sym typeface="Wingdings" pitchFamily="2" charset="2"/>
              </a:rPr>
              <a:t>  f. 2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tapis</a:t>
            </a:r>
            <a:endParaRPr lang="en-US" sz="1800" dirty="0" smtClean="0">
              <a:sym typeface="Wingdings" pitchFamily="2" charset="2"/>
            </a:endParaRPr>
          </a:p>
          <a:p>
            <a:pPr marL="0" lvl="0" indent="0" algn="just" defTabSz="914400">
              <a:buNone/>
              <a:defRPr/>
            </a:pPr>
            <a:endParaRPr lang="en-US" sz="1800" dirty="0">
              <a:sym typeface="Wingdings" pitchFamily="2" charset="2"/>
            </a:endParaRPr>
          </a:p>
          <a:p>
            <a:pPr marL="0" lvl="0" indent="0" algn="just" defTabSz="914400">
              <a:buNone/>
              <a:defRPr/>
            </a:pPr>
            <a:r>
              <a:rPr lang="en-US" sz="1800" dirty="0" err="1" smtClean="0">
                <a:sym typeface="Wingdings" pitchFamily="2" charset="2"/>
              </a:rPr>
              <a:t>Sementara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itu</a:t>
            </a:r>
            <a:r>
              <a:rPr lang="en-US" sz="1800" dirty="0" smtClean="0">
                <a:sym typeface="Wingdings" pitchFamily="2" charset="2"/>
              </a:rPr>
              <a:t>,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pembentuk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wajah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terdiri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dari</a:t>
            </a:r>
            <a:r>
              <a:rPr lang="en-US" sz="1800" dirty="0" smtClean="0">
                <a:sym typeface="Wingdings" pitchFamily="2" charset="2"/>
              </a:rPr>
              <a:t>:</a:t>
            </a:r>
          </a:p>
          <a:p>
            <a:pPr marL="0" lv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smtClean="0">
                <a:sym typeface="Wingdings" pitchFamily="2" charset="2"/>
              </a:rPr>
              <a:t> a. 2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rahang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atas</a:t>
            </a:r>
            <a:r>
              <a:rPr lang="en-US" sz="1800" dirty="0" smtClean="0">
                <a:sym typeface="Wingdings" pitchFamily="2" charset="2"/>
              </a:rPr>
              <a:t>		b. 2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rahang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bawah</a:t>
            </a:r>
            <a:endParaRPr lang="en-US" sz="1800" dirty="0" smtClean="0">
              <a:sym typeface="Wingdings" pitchFamily="2" charset="2"/>
            </a:endParaRPr>
          </a:p>
          <a:p>
            <a:pPr marL="0" lv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smtClean="0">
                <a:sym typeface="Wingdings" pitchFamily="2" charset="2"/>
              </a:rPr>
              <a:t> c. 2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pipi</a:t>
            </a:r>
            <a:r>
              <a:rPr lang="en-US" sz="1800" dirty="0" smtClean="0">
                <a:sym typeface="Wingdings" pitchFamily="2" charset="2"/>
              </a:rPr>
              <a:t>			d. 2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lengkung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pipi</a:t>
            </a:r>
            <a:endParaRPr lang="en-US" sz="1800" dirty="0" smtClean="0">
              <a:sym typeface="Wingdings" pitchFamily="2" charset="2"/>
            </a:endParaRPr>
          </a:p>
          <a:p>
            <a:pPr marL="0" lv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smtClean="0">
                <a:sym typeface="Wingdings" pitchFamily="2" charset="2"/>
              </a:rPr>
              <a:t> e. 2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langit-langit</a:t>
            </a:r>
            <a:r>
              <a:rPr lang="en-US" sz="1800" dirty="0" smtClean="0">
                <a:sym typeface="Wingdings" pitchFamily="2" charset="2"/>
              </a:rPr>
              <a:t>	f. 2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hidung</a:t>
            </a:r>
            <a:endParaRPr lang="en-US" sz="1800" dirty="0" smtClean="0">
              <a:sym typeface="Wingdings" pitchFamily="2" charset="2"/>
            </a:endParaRPr>
          </a:p>
          <a:p>
            <a:pPr marL="0" lv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smtClean="0">
                <a:sym typeface="Wingdings" pitchFamily="2" charset="2"/>
              </a:rPr>
              <a:t> g. 2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mata</a:t>
            </a:r>
            <a:r>
              <a:rPr lang="en-US" sz="1800" dirty="0" smtClean="0">
                <a:sym typeface="Wingdings" pitchFamily="2" charset="2"/>
              </a:rPr>
              <a:t>		h. 4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kerang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dalam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hidung</a:t>
            </a:r>
            <a:endParaRPr lang="en-US" sz="1800" dirty="0" smtClean="0">
              <a:sym typeface="Wingdings" pitchFamily="2" charset="2"/>
            </a:endParaRPr>
          </a:p>
          <a:p>
            <a:pPr marL="0" lv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smtClean="0">
                <a:sym typeface="Wingdings" pitchFamily="2" charset="2"/>
              </a:rPr>
              <a:t> i. 1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lidah</a:t>
            </a:r>
            <a:r>
              <a:rPr lang="en-US" sz="1800" dirty="0" smtClean="0">
                <a:sym typeface="Wingdings" pitchFamily="2" charset="2"/>
              </a:rPr>
              <a:t>		j. 2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air </a:t>
            </a:r>
            <a:r>
              <a:rPr lang="en-US" sz="1800" dirty="0" err="1" smtClean="0">
                <a:sym typeface="Wingdings" pitchFamily="2" charset="2"/>
              </a:rPr>
              <a:t>mata</a:t>
            </a:r>
            <a:endParaRPr lang="en-US" sz="1800" dirty="0" smtClean="0">
              <a:sym typeface="Wingdings" pitchFamily="2" charset="2"/>
            </a:endParaRPr>
          </a:p>
          <a:p>
            <a:pPr marL="0" lv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smtClean="0">
                <a:sym typeface="Wingdings" pitchFamily="2" charset="2"/>
              </a:rPr>
              <a:t> k. 2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rongga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mata</a:t>
            </a:r>
            <a:endParaRPr lang="id-ID" sz="18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0156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77700" y="404664"/>
            <a:ext cx="3810000" cy="40005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cs typeface="Calibri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cs typeface="Calibri" pitchFamily="34" charset="0"/>
              </a:rPr>
              <a:t>Rangka</a:t>
            </a:r>
            <a:r>
              <a:rPr lang="en-US" sz="2000" b="1" dirty="0" smtClean="0">
                <a:solidFill>
                  <a:schemeClr val="tx1"/>
                </a:solidFill>
                <a:cs typeface="Calibri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cs typeface="Calibri" pitchFamily="34" charset="0"/>
              </a:rPr>
              <a:t>Badan</a:t>
            </a:r>
            <a:endParaRPr lang="en-US" sz="2000" b="1" dirty="0">
              <a:solidFill>
                <a:schemeClr val="tx1"/>
              </a:solidFill>
              <a:cs typeface="Calibri" pitchFamily="34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77701" y="789856"/>
            <a:ext cx="8298756" cy="537544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111136" tIns="55568" rIns="111136" bIns="55568" rtlCol="0">
            <a:noAutofit/>
          </a:bodyPr>
          <a:lstStyle>
            <a:lvl1pPr marL="416761" indent="-416761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02981" indent="-347301" algn="l" defTabSz="111136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89202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944883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500564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056245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611926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167607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723287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indent="-174625" algn="just" defTabSz="914400">
              <a:defRPr/>
            </a:pPr>
            <a:r>
              <a:rPr lang="en-US" sz="1800" dirty="0" err="1" smtClean="0">
                <a:sym typeface="Wingdings" pitchFamily="2" charset="2"/>
              </a:rPr>
              <a:t>Rangka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badan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terdiri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atas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punggung</a:t>
            </a:r>
            <a:r>
              <a:rPr lang="en-US" sz="1800" dirty="0" smtClean="0">
                <a:sym typeface="Wingdings" pitchFamily="2" charset="2"/>
              </a:rPr>
              <a:t>,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dada,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rusuk</a:t>
            </a:r>
            <a:r>
              <a:rPr lang="en-US" sz="1800" dirty="0" smtClean="0">
                <a:sym typeface="Wingdings" pitchFamily="2" charset="2"/>
              </a:rPr>
              <a:t>,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gelang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bahu</a:t>
            </a:r>
            <a:r>
              <a:rPr lang="en-US" sz="1800" dirty="0" smtClean="0">
                <a:sym typeface="Wingdings" pitchFamily="2" charset="2"/>
              </a:rPr>
              <a:t>, </a:t>
            </a:r>
            <a:r>
              <a:rPr lang="en-US" sz="1800" dirty="0" err="1" smtClean="0">
                <a:sym typeface="Wingdings" pitchFamily="2" charset="2"/>
              </a:rPr>
              <a:t>dan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gelang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panggul</a:t>
            </a:r>
            <a:r>
              <a:rPr lang="en-US" sz="1800" dirty="0" smtClean="0">
                <a:sym typeface="Wingdings" pitchFamily="2" charset="2"/>
              </a:rPr>
              <a:t>.</a:t>
            </a:r>
          </a:p>
          <a:p>
            <a:pPr marL="0" lv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smtClean="0">
                <a:sym typeface="Wingdings" pitchFamily="2" charset="2"/>
              </a:rPr>
              <a:t> a.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punggung</a:t>
            </a:r>
            <a:endParaRPr lang="en-US" sz="1800" dirty="0" smtClean="0">
              <a:sym typeface="Wingdings" pitchFamily="2" charset="2"/>
            </a:endParaRPr>
          </a:p>
          <a:p>
            <a:pPr marL="0" lv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smtClean="0">
                <a:sym typeface="Wingdings" pitchFamily="2" charset="2"/>
              </a:rPr>
              <a:t>    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punggung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disebut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juga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belakang</a:t>
            </a:r>
            <a:r>
              <a:rPr lang="en-US" sz="1800" dirty="0" smtClean="0">
                <a:sym typeface="Wingdings" pitchFamily="2" charset="2"/>
              </a:rPr>
              <a:t>. </a:t>
            </a:r>
            <a:r>
              <a:rPr lang="en-US" sz="1800" dirty="0" err="1" smtClean="0">
                <a:sym typeface="Wingdings" pitchFamily="2" charset="2"/>
              </a:rPr>
              <a:t>Ruas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</a:t>
            </a:r>
          </a:p>
          <a:p>
            <a:pPr marL="0" lv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smtClean="0">
                <a:sym typeface="Wingdings" pitchFamily="2" charset="2"/>
              </a:rPr>
              <a:t>     </a:t>
            </a:r>
            <a:r>
              <a:rPr lang="en-US" sz="1800" dirty="0" err="1" smtClean="0">
                <a:sym typeface="Wingdings" pitchFamily="2" charset="2"/>
              </a:rPr>
              <a:t>punggung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terdiri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dari</a:t>
            </a:r>
            <a:r>
              <a:rPr lang="en-US" sz="1800" dirty="0" smtClean="0">
                <a:sym typeface="Wingdings" pitchFamily="2" charset="2"/>
              </a:rPr>
              <a:t>:</a:t>
            </a:r>
          </a:p>
          <a:p>
            <a:pPr marL="0" lv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smtClean="0">
                <a:sym typeface="Wingdings" pitchFamily="2" charset="2"/>
              </a:rPr>
              <a:t>     </a:t>
            </a:r>
          </a:p>
          <a:p>
            <a:pPr marL="0" lv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smtClean="0">
                <a:sym typeface="Wingdings" pitchFamily="2" charset="2"/>
              </a:rPr>
              <a:t> b.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dada</a:t>
            </a:r>
          </a:p>
          <a:p>
            <a:pPr marL="0" lv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smtClean="0">
                <a:sym typeface="Wingdings" pitchFamily="2" charset="2"/>
              </a:rPr>
              <a:t>     </a:t>
            </a:r>
            <a:r>
              <a:rPr lang="en-US" sz="1800" dirty="0" err="1" smtClean="0">
                <a:sym typeface="Wingdings" pitchFamily="2" charset="2"/>
              </a:rPr>
              <a:t>Tulang</a:t>
            </a:r>
            <a:r>
              <a:rPr lang="en-US" sz="1800" dirty="0" smtClean="0">
                <a:sym typeface="Wingdings" pitchFamily="2" charset="2"/>
              </a:rPr>
              <a:t> dada yang </a:t>
            </a:r>
            <a:r>
              <a:rPr lang="en-US" sz="1800" dirty="0" err="1" smtClean="0">
                <a:sym typeface="Wingdings" pitchFamily="2" charset="2"/>
              </a:rPr>
              <a:t>terdapat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tepat</a:t>
            </a:r>
            <a:r>
              <a:rPr lang="en-US" sz="1800" dirty="0" smtClean="0">
                <a:sym typeface="Wingdings" pitchFamily="2" charset="2"/>
              </a:rPr>
              <a:t> di </a:t>
            </a:r>
            <a:r>
              <a:rPr lang="en-US" sz="1800" dirty="0" err="1" smtClean="0">
                <a:sym typeface="Wingdings" pitchFamily="2" charset="2"/>
              </a:rPr>
              <a:t>tengah-tengah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kita</a:t>
            </a:r>
            <a:r>
              <a:rPr lang="en-US" sz="1800" dirty="0" smtClean="0">
                <a:sym typeface="Wingdings" pitchFamily="2" charset="2"/>
              </a:rPr>
              <a:t>. </a:t>
            </a:r>
            <a:endParaRPr lang="en-US" sz="1800" dirty="0" smtClean="0">
              <a:sym typeface="Wingdings" pitchFamily="2" charset="2"/>
            </a:endParaRPr>
          </a:p>
          <a:p>
            <a:pPr marL="0" lvl="0" indent="0" algn="just" defTabSz="914400">
              <a:buNone/>
              <a:defRPr/>
            </a:pPr>
            <a:endParaRPr lang="en-US" sz="1800" dirty="0">
              <a:sym typeface="Wingdings" pitchFamily="2" charset="2"/>
            </a:endParaRPr>
          </a:p>
          <a:p>
            <a:pPr mar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c. </a:t>
            </a:r>
            <a:r>
              <a:rPr lang="en-US" sz="1800" dirty="0" err="1">
                <a:sym typeface="Wingdings" pitchFamily="2" charset="2"/>
              </a:rPr>
              <a:t>tulang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rusuk</a:t>
            </a:r>
            <a:endParaRPr lang="en-US" sz="1800" dirty="0">
              <a:sym typeface="Wingdings" pitchFamily="2" charset="2"/>
            </a:endParaRPr>
          </a:p>
          <a:p>
            <a:pPr marL="0" lv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    </a:t>
            </a:r>
            <a:r>
              <a:rPr lang="en-US" sz="1800" dirty="0" err="1">
                <a:sym typeface="Wingdings" pitchFamily="2" charset="2"/>
              </a:rPr>
              <a:t>Tulang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rusuk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disebut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juga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tulang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iga</a:t>
            </a:r>
            <a:r>
              <a:rPr lang="en-US" sz="1800" dirty="0">
                <a:sym typeface="Wingdings" pitchFamily="2" charset="2"/>
              </a:rPr>
              <a:t>. </a:t>
            </a:r>
            <a:r>
              <a:rPr lang="en-US" sz="1800" dirty="0" err="1">
                <a:sym typeface="Wingdings" pitchFamily="2" charset="2"/>
              </a:rPr>
              <a:t>Tulang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rusuk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berjumlah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smtClean="0">
                <a:sym typeface="Wingdings" pitchFamily="2" charset="2"/>
              </a:rPr>
              <a:t>12</a:t>
            </a:r>
          </a:p>
          <a:p>
            <a:pPr marL="0" lv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smtClean="0">
                <a:sym typeface="Wingdings" pitchFamily="2" charset="2"/>
              </a:rPr>
              <a:t>    </a:t>
            </a:r>
            <a:r>
              <a:rPr lang="en-US" sz="1800" dirty="0" err="1" smtClean="0">
                <a:sym typeface="Wingdings" pitchFamily="2" charset="2"/>
              </a:rPr>
              <a:t>pasang</a:t>
            </a:r>
            <a:endParaRPr lang="en-US" sz="1800" dirty="0">
              <a:sym typeface="Wingdings" pitchFamily="2" charset="2"/>
            </a:endParaRPr>
          </a:p>
          <a:p>
            <a:pPr marL="0" lvl="0" indent="0" algn="just" defTabSz="914400">
              <a:buNone/>
              <a:defRPr/>
            </a:pPr>
            <a:endParaRPr lang="en-US" sz="1800" dirty="0">
              <a:sym typeface="Wingdings" pitchFamily="2" charset="2"/>
            </a:endParaRPr>
          </a:p>
          <a:p>
            <a:pPr marL="0" lv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 d. </a:t>
            </a:r>
            <a:r>
              <a:rPr lang="en-US" sz="1800" dirty="0" err="1">
                <a:sym typeface="Wingdings" pitchFamily="2" charset="2"/>
              </a:rPr>
              <a:t>tulang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gelang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bahu</a:t>
            </a:r>
            <a:endParaRPr lang="en-US" sz="1800" dirty="0">
              <a:sym typeface="Wingdings" pitchFamily="2" charset="2"/>
            </a:endParaRPr>
          </a:p>
          <a:p>
            <a:pPr marL="0" lv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     </a:t>
            </a:r>
            <a:r>
              <a:rPr lang="en-US" sz="1800" dirty="0" err="1">
                <a:sym typeface="Wingdings" pitchFamily="2" charset="2"/>
              </a:rPr>
              <a:t>Tulang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gelang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bahu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merupakan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penghubung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antara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badan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dengan</a:t>
            </a:r>
            <a:r>
              <a:rPr lang="en-US" sz="1800" dirty="0">
                <a:sym typeface="Wingdings" pitchFamily="2" charset="2"/>
              </a:rPr>
              <a:t> </a:t>
            </a:r>
          </a:p>
          <a:p>
            <a:pPr marL="0" lv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     </a:t>
            </a:r>
            <a:r>
              <a:rPr lang="en-US" sz="1800" dirty="0" err="1">
                <a:sym typeface="Wingdings" pitchFamily="2" charset="2"/>
              </a:rPr>
              <a:t>anggota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gerak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atas</a:t>
            </a:r>
            <a:r>
              <a:rPr lang="en-US" sz="1800" dirty="0">
                <a:sym typeface="Wingdings" pitchFamily="2" charset="2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01851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323529" y="141784"/>
            <a:ext cx="8496944" cy="127099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111136" tIns="55568" rIns="111136" bIns="55568" rtlCol="0">
            <a:noAutofit/>
          </a:bodyPr>
          <a:lstStyle>
            <a:lvl1pPr marL="416761" indent="-416761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02981" indent="-347301" algn="l" defTabSz="111136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89202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944883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500564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056245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611926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167607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723287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914400">
              <a:buNone/>
              <a:defRPr/>
            </a:pP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smtClean="0">
                <a:sym typeface="Wingdings" pitchFamily="2" charset="2"/>
              </a:rPr>
              <a:t>e</a:t>
            </a:r>
            <a:r>
              <a:rPr lang="en-US" sz="1800" dirty="0" smtClean="0">
                <a:sym typeface="Wingdings" pitchFamily="2" charset="2"/>
              </a:rPr>
              <a:t>. </a:t>
            </a:r>
            <a:r>
              <a:rPr lang="en-US" sz="1800" dirty="0" err="1">
                <a:sym typeface="Wingdings" pitchFamily="2" charset="2"/>
              </a:rPr>
              <a:t>tulang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gelang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panggul</a:t>
            </a:r>
            <a:endParaRPr lang="en-US" sz="1800" dirty="0">
              <a:sym typeface="Wingdings" pitchFamily="2" charset="2"/>
            </a:endParaRPr>
          </a:p>
          <a:p>
            <a:pPr marL="0" lv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     </a:t>
            </a:r>
            <a:r>
              <a:rPr lang="en-US" sz="1800" dirty="0" err="1">
                <a:sym typeface="Wingdings" pitchFamily="2" charset="2"/>
              </a:rPr>
              <a:t>Tulang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gelang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panggul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merupakan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penghubung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antara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badan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dengan</a:t>
            </a:r>
            <a:r>
              <a:rPr lang="en-US" sz="1800" dirty="0" smtClean="0">
                <a:sym typeface="Wingdings" pitchFamily="2" charset="2"/>
              </a:rPr>
              <a:t> </a:t>
            </a:r>
          </a:p>
          <a:p>
            <a:pPr marL="0" lvl="0" indent="0" algn="just" defTabSz="914400">
              <a:buNone/>
              <a:defRPr/>
            </a:pP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smtClean="0">
                <a:sym typeface="Wingdings" pitchFamily="2" charset="2"/>
              </a:rPr>
              <a:t>     </a:t>
            </a:r>
            <a:r>
              <a:rPr lang="en-US" sz="1800" dirty="0" err="1" smtClean="0">
                <a:sym typeface="Wingdings" pitchFamily="2" charset="2"/>
              </a:rPr>
              <a:t>anggota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>
                <a:sym typeface="Wingdings" pitchFamily="2" charset="2"/>
              </a:rPr>
              <a:t>gerak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bawah</a:t>
            </a:r>
            <a:r>
              <a:rPr lang="en-US" sz="1800" dirty="0" smtClean="0">
                <a:sym typeface="Wingdings" pitchFamily="2" charset="2"/>
              </a:rPr>
              <a:t>.</a:t>
            </a:r>
            <a:endParaRPr lang="en-US" sz="1800" dirty="0" smtClean="0">
              <a:sym typeface="Wingdings" pitchFamily="2" charset="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2699" y="1340768"/>
            <a:ext cx="3810000" cy="40005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cs typeface="Calibri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cs typeface="Calibri" pitchFamily="34" charset="0"/>
              </a:rPr>
              <a:t>Rangka</a:t>
            </a:r>
            <a:r>
              <a:rPr lang="en-US" sz="2000" b="1" dirty="0" smtClean="0">
                <a:solidFill>
                  <a:schemeClr val="tx1"/>
                </a:solidFill>
                <a:cs typeface="Calibri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cs typeface="Calibri" pitchFamily="34" charset="0"/>
              </a:rPr>
              <a:t>Anggota</a:t>
            </a:r>
            <a:r>
              <a:rPr lang="en-US" sz="2000" b="1" dirty="0" smtClean="0">
                <a:solidFill>
                  <a:schemeClr val="tx1"/>
                </a:solidFill>
                <a:cs typeface="Calibri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cs typeface="Calibri" pitchFamily="34" charset="0"/>
              </a:rPr>
              <a:t>Gerak</a:t>
            </a:r>
            <a:endParaRPr lang="en-US" sz="2000" b="1" dirty="0">
              <a:solidFill>
                <a:schemeClr val="tx1"/>
              </a:solidFill>
              <a:cs typeface="Calibri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80716" y="1725960"/>
            <a:ext cx="7662563" cy="379127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111136" tIns="55568" rIns="111136" bIns="55568" rtlCol="0">
            <a:noAutofit/>
          </a:bodyPr>
          <a:lstStyle>
            <a:lvl1pPr marL="416761" indent="-416761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02981" indent="-347301" algn="l" defTabSz="111136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89202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944883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500564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056245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611926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167607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723287" indent="-277840" algn="l" defTabSz="1111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indent="-174625" algn="just" defTabSz="914400">
              <a:defRPr/>
            </a:pPr>
            <a:r>
              <a:rPr lang="en-US" sz="1800" dirty="0" err="1" smtClean="0">
                <a:sym typeface="Wingdings" pitchFamily="2" charset="2"/>
              </a:rPr>
              <a:t>Rangka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anggota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gerak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manusia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terdiri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atas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anggota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gerak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atas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yaitu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tangan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atau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lengan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dan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anggota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gerak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bawah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yaitu</a:t>
            </a:r>
            <a:r>
              <a:rPr lang="en-US" sz="1800" dirty="0" smtClean="0">
                <a:sym typeface="Wingdings" pitchFamily="2" charset="2"/>
              </a:rPr>
              <a:t> kaki </a:t>
            </a:r>
            <a:r>
              <a:rPr lang="en-US" sz="1800" dirty="0" err="1" smtClean="0">
                <a:sym typeface="Wingdings" pitchFamily="2" charset="2"/>
              </a:rPr>
              <a:t>atau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tungkai</a:t>
            </a:r>
            <a:r>
              <a:rPr lang="en-US" sz="1800" dirty="0" smtClean="0">
                <a:sym typeface="Wingdings" pitchFamily="2" charset="2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56962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-243408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Otot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5888" y="642455"/>
            <a:ext cx="73305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 smtClean="0"/>
              <a:t>Otot</a:t>
            </a:r>
            <a:r>
              <a:rPr lang="en-US" dirty="0" smtClean="0"/>
              <a:t> </a:t>
            </a:r>
            <a:r>
              <a:rPr lang="en-US" dirty="0" err="1" smtClean="0"/>
              <a:t>merupakan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jaringan</a:t>
            </a:r>
            <a:r>
              <a:rPr lang="en-US" dirty="0" smtClean="0"/>
              <a:t> yang </a:t>
            </a:r>
            <a:r>
              <a:rPr lang="en-US" dirty="0" err="1" smtClean="0"/>
              <a:t>mempunyai</a:t>
            </a:r>
            <a:r>
              <a:rPr lang="en-US" dirty="0" smtClean="0"/>
              <a:t> </a:t>
            </a:r>
            <a:r>
              <a:rPr lang="en-US" dirty="0" err="1" smtClean="0"/>
              <a:t>kemampuan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berkontraksi</a:t>
            </a:r>
            <a:r>
              <a:rPr lang="en-US" dirty="0" smtClean="0"/>
              <a:t> </a:t>
            </a:r>
            <a:r>
              <a:rPr lang="en-US" dirty="0" err="1" smtClean="0"/>
              <a:t>sehingga</a:t>
            </a:r>
            <a:r>
              <a:rPr lang="en-US" dirty="0" smtClean="0"/>
              <a:t> </a:t>
            </a:r>
            <a:r>
              <a:rPr lang="en-US" dirty="0" err="1" smtClean="0"/>
              <a:t>berperan</a:t>
            </a:r>
            <a:r>
              <a:rPr lang="en-US" dirty="0" smtClean="0"/>
              <a:t> </a:t>
            </a:r>
            <a:r>
              <a:rPr lang="en-US" dirty="0" err="1" smtClean="0"/>
              <a:t>sebagai</a:t>
            </a:r>
            <a:r>
              <a:rPr lang="en-US" dirty="0" smtClean="0"/>
              <a:t> </a:t>
            </a:r>
            <a:r>
              <a:rPr lang="en-US" dirty="0" err="1" smtClean="0"/>
              <a:t>alat</a:t>
            </a:r>
            <a:r>
              <a:rPr lang="en-US" dirty="0" smtClean="0"/>
              <a:t> </a:t>
            </a:r>
            <a:r>
              <a:rPr lang="en-US" dirty="0" err="1" smtClean="0"/>
              <a:t>gerak</a:t>
            </a:r>
            <a:r>
              <a:rPr lang="en-US" dirty="0" smtClean="0"/>
              <a:t> </a:t>
            </a:r>
            <a:r>
              <a:rPr lang="en-US" dirty="0" err="1" smtClean="0"/>
              <a:t>aktif</a:t>
            </a:r>
            <a:r>
              <a:rPr lang="en-US" dirty="0" smtClean="0"/>
              <a:t>. </a:t>
            </a:r>
            <a:r>
              <a:rPr lang="en-US" dirty="0" err="1" smtClean="0"/>
              <a:t>Otot</a:t>
            </a:r>
            <a:r>
              <a:rPr lang="en-US" dirty="0" smtClean="0"/>
              <a:t> </a:t>
            </a:r>
            <a:r>
              <a:rPr lang="en-US" dirty="0" err="1" smtClean="0"/>
              <a:t>terbagi</a:t>
            </a:r>
            <a:r>
              <a:rPr lang="en-US" dirty="0" smtClean="0"/>
              <a:t> 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tiga</a:t>
            </a:r>
            <a:r>
              <a:rPr lang="en-US" dirty="0" smtClean="0"/>
              <a:t> </a:t>
            </a:r>
            <a:r>
              <a:rPr lang="en-US" dirty="0" err="1" smtClean="0"/>
              <a:t>yaitu</a:t>
            </a:r>
            <a:r>
              <a:rPr lang="en-US" dirty="0" smtClean="0"/>
              <a:t> </a:t>
            </a:r>
            <a:r>
              <a:rPr lang="en-US" dirty="0" err="1" smtClean="0"/>
              <a:t>otot</a:t>
            </a:r>
            <a:r>
              <a:rPr lang="en-US" dirty="0" smtClean="0"/>
              <a:t> </a:t>
            </a:r>
            <a:r>
              <a:rPr lang="en-US" dirty="0" err="1" smtClean="0"/>
              <a:t>polos</a:t>
            </a:r>
            <a:r>
              <a:rPr lang="en-US" dirty="0" smtClean="0"/>
              <a:t>, </a:t>
            </a:r>
            <a:r>
              <a:rPr lang="en-US" dirty="0" err="1" smtClean="0"/>
              <a:t>otot</a:t>
            </a:r>
            <a:r>
              <a:rPr lang="en-US" dirty="0" smtClean="0"/>
              <a:t> </a:t>
            </a:r>
            <a:r>
              <a:rPr lang="en-US" dirty="0" err="1" smtClean="0"/>
              <a:t>lurik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otot</a:t>
            </a:r>
            <a:r>
              <a:rPr lang="en-US" dirty="0" smtClean="0"/>
              <a:t> </a:t>
            </a:r>
            <a:r>
              <a:rPr lang="en-US" dirty="0" err="1" smtClean="0"/>
              <a:t>jantung</a:t>
            </a:r>
            <a:r>
              <a:rPr lang="en-US" dirty="0" smtClean="0"/>
              <a:t>.</a:t>
            </a:r>
          </a:p>
          <a:p>
            <a:pPr algn="just"/>
            <a:r>
              <a:rPr lang="en-US" dirty="0" err="1" smtClean="0"/>
              <a:t>Perbedaan</a:t>
            </a:r>
            <a:r>
              <a:rPr lang="en-US" dirty="0" smtClean="0"/>
              <a:t> </a:t>
            </a:r>
            <a:r>
              <a:rPr lang="en-US" dirty="0" err="1" smtClean="0"/>
              <a:t>otot</a:t>
            </a:r>
            <a:r>
              <a:rPr lang="en-US" dirty="0" smtClean="0"/>
              <a:t> </a:t>
            </a:r>
            <a:r>
              <a:rPr lang="en-US" dirty="0" err="1" smtClean="0"/>
              <a:t>polos</a:t>
            </a:r>
            <a:r>
              <a:rPr lang="en-US" dirty="0" smtClean="0"/>
              <a:t>, </a:t>
            </a:r>
            <a:r>
              <a:rPr lang="en-US" dirty="0" err="1" smtClean="0"/>
              <a:t>otot</a:t>
            </a:r>
            <a:r>
              <a:rPr lang="en-US" dirty="0" smtClean="0"/>
              <a:t> </a:t>
            </a:r>
            <a:r>
              <a:rPr lang="en-US" dirty="0" err="1" smtClean="0"/>
              <a:t>lurik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otot</a:t>
            </a:r>
            <a:r>
              <a:rPr lang="en-US" dirty="0" smtClean="0"/>
              <a:t> </a:t>
            </a:r>
            <a:r>
              <a:rPr lang="en-US" dirty="0" err="1" smtClean="0"/>
              <a:t>jantung</a:t>
            </a:r>
            <a:endParaRPr lang="en-US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388094"/>
              </p:ext>
            </p:extLst>
          </p:nvPr>
        </p:nvGraphicFramePr>
        <p:xfrm>
          <a:off x="467544" y="2190874"/>
          <a:ext cx="8352930" cy="4301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/>
                <a:gridCol w="2376264"/>
                <a:gridCol w="2304257"/>
                <a:gridCol w="1872209"/>
              </a:tblGrid>
              <a:tr h="459051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Ciri-ciri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Otot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Polos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Otot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Lurik</a:t>
                      </a: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Otot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Jantung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59051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Bentuk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Gelendong</a:t>
                      </a:r>
                      <a:r>
                        <a:rPr lang="en-US" dirty="0" smtClean="0"/>
                        <a:t>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ujung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runcing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Memanjang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silindris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Bercabang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silindris</a:t>
                      </a:r>
                      <a:r>
                        <a:rPr lang="en-US" dirty="0" smtClean="0"/>
                        <a:t>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memanjang</a:t>
                      </a:r>
                      <a:endParaRPr lang="en-US" dirty="0"/>
                    </a:p>
                  </a:txBody>
                  <a:tcPr/>
                </a:tc>
              </a:tr>
              <a:tr h="459051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Jumlah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inti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(di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tengah</a:t>
                      </a:r>
                      <a:r>
                        <a:rPr lang="en-US" baseline="0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Banyak</a:t>
                      </a:r>
                      <a:r>
                        <a:rPr lang="en-US" baseline="0" dirty="0" smtClean="0"/>
                        <a:t> (di </a:t>
                      </a:r>
                      <a:r>
                        <a:rPr lang="en-US" baseline="0" dirty="0" err="1" smtClean="0"/>
                        <a:t>tepi</a:t>
                      </a:r>
                      <a:r>
                        <a:rPr lang="en-US" baseline="0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Banyak</a:t>
                      </a:r>
                      <a:r>
                        <a:rPr lang="en-US" dirty="0" smtClean="0"/>
                        <a:t> (di </a:t>
                      </a:r>
                      <a:r>
                        <a:rPr lang="en-US" dirty="0" err="1" smtClean="0"/>
                        <a:t>tengah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459051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Sistem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kerja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Tidak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sadar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Sadar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Tidak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sadar</a:t>
                      </a:r>
                      <a:endParaRPr lang="en-US" dirty="0"/>
                    </a:p>
                  </a:txBody>
                  <a:tcPr/>
                </a:tc>
              </a:tr>
              <a:tr h="459051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Kemampuan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berkontraksi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Lambat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tidak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mudah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lelah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Cepat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tetapi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mudah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lelah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Lambat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tidak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mudah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lelah</a:t>
                      </a:r>
                      <a:endParaRPr lang="en-US" dirty="0"/>
                    </a:p>
                  </a:txBody>
                  <a:tcPr/>
                </a:tc>
              </a:tr>
              <a:tr h="459051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Lokasi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Dinding</a:t>
                      </a:r>
                      <a:r>
                        <a:rPr lang="en-US" dirty="0" smtClean="0"/>
                        <a:t> organ </a:t>
                      </a:r>
                      <a:r>
                        <a:rPr lang="en-US" dirty="0" err="1" smtClean="0"/>
                        <a:t>dalam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seperti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usus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pembuluh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darah</a:t>
                      </a:r>
                      <a:r>
                        <a:rPr lang="en-US" baseline="0" dirty="0" smtClean="0"/>
                        <a:t>, </a:t>
                      </a:r>
                      <a:r>
                        <a:rPr lang="en-US" baseline="0" dirty="0" err="1" smtClean="0"/>
                        <a:t>saluran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pencernaan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Otor</a:t>
                      </a:r>
                      <a:r>
                        <a:rPr lang="en-US" baseline="0" dirty="0" smtClean="0"/>
                        <a:t> yang </a:t>
                      </a:r>
                      <a:r>
                        <a:rPr lang="en-US" baseline="0" dirty="0" err="1" smtClean="0"/>
                        <a:t>melekat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pada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rangka</a:t>
                      </a:r>
                      <a:r>
                        <a:rPr lang="en-US" baseline="0" dirty="0" smtClean="0"/>
                        <a:t>, </a:t>
                      </a:r>
                      <a:r>
                        <a:rPr lang="en-US" baseline="0" dirty="0" err="1" smtClean="0"/>
                        <a:t>otot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ynag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melingkari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mata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dan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mulut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Dinding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jantung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654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engertian Otot (Jenis, Gerakan Dan Kelainan Pada Otot) - Aktif Belaj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56792"/>
            <a:ext cx="8255195" cy="288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4643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5763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360</TotalTime>
  <Words>790</Words>
  <Application>Microsoft Office PowerPoint</Application>
  <PresentationFormat>On-screen Show (4:3)</PresentationFormat>
  <Paragraphs>112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Concourse</vt:lpstr>
      <vt:lpstr>Sistem Gerak Pada Manusia</vt:lpstr>
      <vt:lpstr>A. Tulang</vt:lpstr>
      <vt:lpstr>PowerPoint Presentation</vt:lpstr>
      <vt:lpstr>B. Sendi</vt:lpstr>
      <vt:lpstr>PowerPoint Presentation</vt:lpstr>
      <vt:lpstr>PowerPoint Presentation</vt:lpstr>
      <vt:lpstr>C. Kerangka</vt:lpstr>
      <vt:lpstr>PowerPoint Presentation</vt:lpstr>
      <vt:lpstr>PowerPoint Presentation</vt:lpstr>
      <vt:lpstr>PowerPoint Presentation</vt:lpstr>
      <vt:lpstr>D. Otot</vt:lpstr>
      <vt:lpstr>PowerPoint Presentation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Gerak Pada Manusia</dc:title>
  <dc:creator>User</dc:creator>
  <cp:lastModifiedBy>User</cp:lastModifiedBy>
  <cp:revision>33</cp:revision>
  <dcterms:created xsi:type="dcterms:W3CDTF">2023-07-16T21:27:36Z</dcterms:created>
  <dcterms:modified xsi:type="dcterms:W3CDTF">2024-07-26T01:13:05Z</dcterms:modified>
</cp:coreProperties>
</file>