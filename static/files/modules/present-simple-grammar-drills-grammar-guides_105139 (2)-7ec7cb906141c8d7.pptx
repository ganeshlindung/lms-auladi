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7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76EB9D5-7E1A-4433-8B21-2237CC26FA2C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EF837-FEDB-44F2-8FB5-4F56FC548A33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EC2AB55-62C0-407E-B706-C907B44B0BFC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B33F-FEF5-4E73-A5F9-307689FE77C6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5FA4-F0B8-4D71-BC92-932E3A1502F8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9F80-C2CE-4D6A-80E4-D3515AD92BC6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0E-EF40-477E-B84C-637FC7CE78DB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8D63-E026-4E54-B301-C824E1BD14F3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C423185-9573-406A-8068-0AB4F2335019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98A19-B9D6-4696-A74D-9FEF900C8B6A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5100-39B0-4914-BBD6-34F267582565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5516DA-9D86-4E1E-A623-C11F9F74EB59}" type="datetimeFigureOut">
              <a:rPr lang="en-US" dirty="0"/>
              <a:t>3/2/2018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fontmeme.com/temporary/2eedc23ca7523a42fa565aa2e636035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610" y="2874402"/>
            <a:ext cx="5848350" cy="102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7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993288" y="1964259"/>
            <a:ext cx="93555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For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repeated or regular actions in the present time period</a:t>
            </a:r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I 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take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the train to the office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. For facts.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A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dog 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has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four legs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. For habits.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I </a:t>
            </a: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get up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 early every day.</a:t>
            </a: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. For things that are always / generally true.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It 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rains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a lot in winter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https://fontmeme.com/temporary/16e580e8caf098b63450deef0212eb9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080" y="868356"/>
            <a:ext cx="598170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cloc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562" y="2555866"/>
            <a:ext cx="3940437" cy="394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91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fontmeme.com/temporary/2ac6b3e9b04f6b121c2beb9b78d53a2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729" y="475853"/>
            <a:ext cx="2517017" cy="51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fontmeme.com/temporary/431784b8cabe4556d16e77b63ff168b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824" y="475853"/>
            <a:ext cx="2405042" cy="53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cto 2"/>
          <p:cNvCxnSpPr/>
          <p:nvPr/>
        </p:nvCxnSpPr>
        <p:spPr>
          <a:xfrm>
            <a:off x="5681012" y="0"/>
            <a:ext cx="53788" cy="685800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68" y="1085619"/>
            <a:ext cx="350298" cy="39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258" y="1035870"/>
            <a:ext cx="385788" cy="43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s://fontmeme.com/temporary/df5e820188482710150cb355e8e24fb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92" y="2925927"/>
            <a:ext cx="400050" cy="5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ttps://fontmeme.com/temporary/df5e820188482710150cb355e8e24fb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85" y="2914597"/>
            <a:ext cx="400050" cy="5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https://fontmeme.com/temporary/ab275cf095b26b08c206619dff68c45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57" y="4625389"/>
            <a:ext cx="274954" cy="67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https://fontmeme.com/temporary/ab275cf095b26b08c206619dff68c45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258" y="4586618"/>
            <a:ext cx="306765" cy="74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 16"/>
          <p:cNvSpPr/>
          <p:nvPr/>
        </p:nvSpPr>
        <p:spPr>
          <a:xfrm>
            <a:off x="796267" y="1009019"/>
            <a:ext cx="45899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Subject + verb to be + complement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I </a:t>
            </a:r>
            <a:r>
              <a:rPr lang="en-US" b="1" dirty="0" smtClean="0">
                <a:latin typeface="Arial" panose="020B0604020202020204" pitchFamily="34" charset="0"/>
              </a:rPr>
              <a:t>am</a:t>
            </a:r>
            <a:r>
              <a:rPr lang="en-US" dirty="0" smtClean="0">
                <a:latin typeface="Arial" panose="020B0604020202020204" pitchFamily="34" charset="0"/>
              </a:rPr>
              <a:t> a teacher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You </a:t>
            </a:r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a student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He/she/it </a:t>
            </a:r>
            <a:r>
              <a:rPr lang="en-US" b="1" dirty="0" smtClean="0">
                <a:latin typeface="Arial" panose="020B0604020202020204" pitchFamily="34" charset="0"/>
              </a:rPr>
              <a:t>is</a:t>
            </a:r>
            <a:r>
              <a:rPr lang="en-US" dirty="0" smtClean="0">
                <a:latin typeface="Arial" panose="020B0604020202020204" pitchFamily="34" charset="0"/>
              </a:rPr>
              <a:t> happy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We </a:t>
            </a:r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friends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They </a:t>
            </a:r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brothers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818987" y="2793523"/>
            <a:ext cx="4589931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52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Subject + verb to be +not + complement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I </a:t>
            </a:r>
            <a:r>
              <a:rPr lang="en-US" b="1" dirty="0" smtClean="0">
                <a:latin typeface="Arial" panose="020B0604020202020204" pitchFamily="34" charset="0"/>
              </a:rPr>
              <a:t>am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en-US" dirty="0" smtClean="0">
                <a:latin typeface="Arial" panose="020B0604020202020204" pitchFamily="34" charset="0"/>
              </a:rPr>
              <a:t> a teacher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You </a:t>
            </a:r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en-US" dirty="0" smtClean="0">
                <a:latin typeface="Arial" panose="020B0604020202020204" pitchFamily="34" charset="0"/>
              </a:rPr>
              <a:t> a student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He/she/it </a:t>
            </a:r>
            <a:r>
              <a:rPr lang="en-US" b="1" dirty="0" smtClean="0">
                <a:latin typeface="Arial" panose="020B0604020202020204" pitchFamily="34" charset="0"/>
              </a:rPr>
              <a:t>is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en-US" dirty="0" smtClean="0">
                <a:latin typeface="Arial" panose="020B0604020202020204" pitchFamily="34" charset="0"/>
              </a:rPr>
              <a:t> happy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We </a:t>
            </a:r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en-US" dirty="0" smtClean="0">
                <a:latin typeface="Arial" panose="020B0604020202020204" pitchFamily="34" charset="0"/>
              </a:rPr>
              <a:t> friends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They </a:t>
            </a:r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not</a:t>
            </a:r>
            <a:r>
              <a:rPr lang="en-US" dirty="0" smtClean="0">
                <a:latin typeface="Arial" panose="020B0604020202020204" pitchFamily="34" charset="0"/>
              </a:rPr>
              <a:t> brothers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695470" y="4578027"/>
            <a:ext cx="507086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Verb to be + subject + complement?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Am</a:t>
            </a:r>
            <a:r>
              <a:rPr lang="en-US" dirty="0" smtClean="0">
                <a:latin typeface="Arial" panose="020B0604020202020204" pitchFamily="34" charset="0"/>
              </a:rPr>
              <a:t> I a teacher? (Yes, I am // No, I’m not)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you a student? </a:t>
            </a:r>
            <a:r>
              <a:rPr lang="en-US" dirty="0">
                <a:latin typeface="Arial" panose="020B0604020202020204" pitchFamily="34" charset="0"/>
              </a:rPr>
              <a:t>(Yes, I am // No, I’m not</a:t>
            </a:r>
            <a:r>
              <a:rPr lang="en-US" dirty="0" smtClean="0">
                <a:latin typeface="Arial" panose="020B0604020202020204" pitchFamily="34" charset="0"/>
              </a:rPr>
              <a:t>)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Is</a:t>
            </a:r>
            <a:r>
              <a:rPr lang="en-US" dirty="0" smtClean="0">
                <a:latin typeface="Arial" panose="020B0604020202020204" pitchFamily="34" charset="0"/>
              </a:rPr>
              <a:t> he/she/it happy? </a:t>
            </a:r>
            <a:r>
              <a:rPr lang="en-US" dirty="0">
                <a:latin typeface="Arial" panose="020B0604020202020204" pitchFamily="34" charset="0"/>
              </a:rPr>
              <a:t>(Yes, </a:t>
            </a:r>
            <a:r>
              <a:rPr lang="en-US" dirty="0" smtClean="0">
                <a:latin typeface="Arial" panose="020B0604020202020204" pitchFamily="34" charset="0"/>
              </a:rPr>
              <a:t>he is// </a:t>
            </a:r>
            <a:r>
              <a:rPr lang="en-US" dirty="0">
                <a:latin typeface="Arial" panose="020B0604020202020204" pitchFamily="34" charset="0"/>
              </a:rPr>
              <a:t>No, </a:t>
            </a:r>
            <a:r>
              <a:rPr lang="en-US" dirty="0" smtClean="0">
                <a:latin typeface="Arial" panose="020B0604020202020204" pitchFamily="34" charset="0"/>
              </a:rPr>
              <a:t>he isn’t)</a:t>
            </a:r>
            <a:endParaRPr lang="en-US" dirty="0">
              <a:latin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we friends?</a:t>
            </a:r>
            <a:r>
              <a:rPr lang="en-US" dirty="0">
                <a:latin typeface="Arial" panose="020B0604020202020204" pitchFamily="34" charset="0"/>
              </a:rPr>
              <a:t> (Yes, </a:t>
            </a:r>
            <a:r>
              <a:rPr lang="en-US" dirty="0" smtClean="0">
                <a:latin typeface="Arial" panose="020B0604020202020204" pitchFamily="34" charset="0"/>
              </a:rPr>
              <a:t>we are// </a:t>
            </a:r>
            <a:r>
              <a:rPr lang="en-US" dirty="0">
                <a:latin typeface="Arial" panose="020B0604020202020204" pitchFamily="34" charset="0"/>
              </a:rPr>
              <a:t>No, </a:t>
            </a:r>
            <a:r>
              <a:rPr lang="en-US" dirty="0" smtClean="0">
                <a:latin typeface="Arial" panose="020B0604020202020204" pitchFamily="34" charset="0"/>
              </a:rPr>
              <a:t>we aren’t)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Are</a:t>
            </a:r>
            <a:r>
              <a:rPr lang="en-US" dirty="0" smtClean="0">
                <a:latin typeface="Arial" panose="020B0604020202020204" pitchFamily="34" charset="0"/>
              </a:rPr>
              <a:t> they brothers? </a:t>
            </a:r>
            <a:r>
              <a:rPr lang="en-US" dirty="0">
                <a:latin typeface="Arial" panose="020B0604020202020204" pitchFamily="34" charset="0"/>
              </a:rPr>
              <a:t>(Yes, </a:t>
            </a:r>
            <a:r>
              <a:rPr lang="en-US" dirty="0" smtClean="0">
                <a:latin typeface="Arial" panose="020B0604020202020204" pitchFamily="34" charset="0"/>
              </a:rPr>
              <a:t>they are </a:t>
            </a:r>
            <a:r>
              <a:rPr lang="en-US" dirty="0">
                <a:latin typeface="Arial" panose="020B0604020202020204" pitchFamily="34" charset="0"/>
              </a:rPr>
              <a:t>// </a:t>
            </a:r>
            <a:r>
              <a:rPr lang="en-US" dirty="0" smtClean="0">
                <a:latin typeface="Arial" panose="020B0604020202020204" pitchFamily="34" charset="0"/>
              </a:rPr>
              <a:t>They, aren’t)</a:t>
            </a:r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6181973" y="996207"/>
            <a:ext cx="45899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Subject + verb + complement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I </a:t>
            </a:r>
            <a:r>
              <a:rPr lang="en-US" b="1" dirty="0" smtClean="0">
                <a:latin typeface="Arial" panose="020B0604020202020204" pitchFamily="34" charset="0"/>
              </a:rPr>
              <a:t>eat </a:t>
            </a:r>
            <a:r>
              <a:rPr lang="en-US" dirty="0" smtClean="0">
                <a:latin typeface="Arial" panose="020B0604020202020204" pitchFamily="34" charset="0"/>
              </a:rPr>
              <a:t>pizza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You </a:t>
            </a:r>
            <a:r>
              <a:rPr lang="en-US" b="1" dirty="0" smtClean="0">
                <a:latin typeface="Arial" panose="020B0604020202020204" pitchFamily="34" charset="0"/>
              </a:rPr>
              <a:t>eat</a:t>
            </a:r>
            <a:r>
              <a:rPr lang="en-US" dirty="0" smtClean="0">
                <a:latin typeface="Arial" panose="020B0604020202020204" pitchFamily="34" charset="0"/>
              </a:rPr>
              <a:t> pizza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He/she/it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eats</a:t>
            </a:r>
            <a:r>
              <a:rPr lang="en-US" b="1" dirty="0" smtClean="0">
                <a:latin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</a:rPr>
              <a:t>pizza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We </a:t>
            </a:r>
            <a:r>
              <a:rPr lang="en-US" b="1" dirty="0" smtClean="0">
                <a:latin typeface="Arial" panose="020B0604020202020204" pitchFamily="34" charset="0"/>
              </a:rPr>
              <a:t>eat </a:t>
            </a:r>
            <a:r>
              <a:rPr lang="en-US" dirty="0" smtClean="0">
                <a:latin typeface="Arial" panose="020B0604020202020204" pitchFamily="34" charset="0"/>
              </a:rPr>
              <a:t>pizza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They </a:t>
            </a:r>
            <a:r>
              <a:rPr lang="en-US" b="1" dirty="0" smtClean="0">
                <a:latin typeface="Arial" panose="020B0604020202020204" pitchFamily="34" charset="0"/>
              </a:rPr>
              <a:t>eat </a:t>
            </a:r>
            <a:r>
              <a:rPr lang="en-US" dirty="0" smtClean="0">
                <a:latin typeface="Arial" panose="020B0604020202020204" pitchFamily="34" charset="0"/>
              </a:rPr>
              <a:t>pizza</a:t>
            </a:r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2068" name="Picture 20" descr="Resultado de imagen para pizza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0796" y="1173083"/>
            <a:ext cx="2046074" cy="148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/>
          <p:cNvSpPr/>
          <p:nvPr/>
        </p:nvSpPr>
        <p:spPr>
          <a:xfrm>
            <a:off x="6202891" y="2744419"/>
            <a:ext cx="5464552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52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Subject + don’t/doesn’t + verb + complement</a:t>
            </a:r>
          </a:p>
          <a:p>
            <a:r>
              <a:rPr lang="en-US" dirty="0">
                <a:latin typeface="Arial" panose="020B0604020202020204" pitchFamily="34" charset="0"/>
              </a:rPr>
              <a:t>I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don’t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</a:rPr>
              <a:t>eat </a:t>
            </a:r>
            <a:r>
              <a:rPr lang="en-US" dirty="0">
                <a:latin typeface="Arial" panose="020B0604020202020204" pitchFamily="34" charset="0"/>
              </a:rPr>
              <a:t>pizza</a:t>
            </a:r>
          </a:p>
          <a:p>
            <a:r>
              <a:rPr lang="en-US" dirty="0">
                <a:latin typeface="Arial" panose="020B0604020202020204" pitchFamily="34" charset="0"/>
              </a:rPr>
              <a:t>You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don’t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</a:rPr>
              <a:t>eat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pizza</a:t>
            </a:r>
          </a:p>
          <a:p>
            <a:r>
              <a:rPr lang="en-US" dirty="0">
                <a:latin typeface="Arial" panose="020B0604020202020204" pitchFamily="34" charset="0"/>
              </a:rPr>
              <a:t>He/she/it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doesn’t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</a:rPr>
              <a:t>eat </a:t>
            </a:r>
            <a:r>
              <a:rPr lang="en-US" dirty="0">
                <a:latin typeface="Arial" panose="020B0604020202020204" pitchFamily="34" charset="0"/>
              </a:rPr>
              <a:t>pizza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We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don’t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eat </a:t>
            </a:r>
            <a:r>
              <a:rPr lang="en-US" dirty="0">
                <a:latin typeface="Arial" panose="020B0604020202020204" pitchFamily="34" charset="0"/>
              </a:rPr>
              <a:t>pizza</a:t>
            </a:r>
          </a:p>
          <a:p>
            <a:r>
              <a:rPr lang="en-US" dirty="0">
                <a:latin typeface="Arial" panose="020B0604020202020204" pitchFamily="34" charset="0"/>
              </a:rPr>
              <a:t>They 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don’t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</a:rPr>
              <a:t>eat </a:t>
            </a:r>
            <a:r>
              <a:rPr lang="en-US" dirty="0" smtClean="0">
                <a:latin typeface="Arial" panose="020B0604020202020204" pitchFamily="34" charset="0"/>
              </a:rPr>
              <a:t>pizza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6114940" y="4547849"/>
            <a:ext cx="607705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Do/Does + subject + verb + complement?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Do </a:t>
            </a:r>
            <a:r>
              <a:rPr lang="en-US" dirty="0" smtClean="0">
                <a:latin typeface="Arial" panose="020B0604020202020204" pitchFamily="34" charset="0"/>
              </a:rPr>
              <a:t>I eat pizza? -&gt; (Yes, I do. // No, I don’t)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Do</a:t>
            </a:r>
            <a:r>
              <a:rPr lang="en-US" dirty="0" smtClean="0">
                <a:latin typeface="Arial" panose="020B0604020202020204" pitchFamily="34" charset="0"/>
              </a:rPr>
              <a:t> you eat pizza? </a:t>
            </a:r>
            <a:r>
              <a:rPr lang="en-US" dirty="0">
                <a:latin typeface="Arial" panose="020B0604020202020204" pitchFamily="34" charset="0"/>
              </a:rPr>
              <a:t>(Yes, I do. // No, I don’t</a:t>
            </a:r>
            <a:r>
              <a:rPr lang="en-US" dirty="0" smtClean="0">
                <a:latin typeface="Arial" panose="020B0604020202020204" pitchFamily="34" charset="0"/>
              </a:rPr>
              <a:t>)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Does</a:t>
            </a:r>
            <a:r>
              <a:rPr lang="en-US" dirty="0" smtClean="0">
                <a:latin typeface="Arial" panose="020B0604020202020204" pitchFamily="34" charset="0"/>
              </a:rPr>
              <a:t> he/she/it eat pizza? </a:t>
            </a:r>
            <a:r>
              <a:rPr lang="en-US" dirty="0">
                <a:latin typeface="Arial" panose="020B0604020202020204" pitchFamily="34" charset="0"/>
              </a:rPr>
              <a:t>(Yes, </a:t>
            </a:r>
            <a:r>
              <a:rPr lang="en-US" dirty="0" smtClean="0">
                <a:latin typeface="Arial" panose="020B0604020202020204" pitchFamily="34" charset="0"/>
              </a:rPr>
              <a:t>he does. </a:t>
            </a:r>
            <a:r>
              <a:rPr lang="en-US" dirty="0">
                <a:latin typeface="Arial" panose="020B0604020202020204" pitchFamily="34" charset="0"/>
              </a:rPr>
              <a:t>// No, </a:t>
            </a:r>
            <a:r>
              <a:rPr lang="en-US" dirty="0" smtClean="0">
                <a:latin typeface="Arial" panose="020B0604020202020204" pitchFamily="34" charset="0"/>
              </a:rPr>
              <a:t>he doesn’t)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Do</a:t>
            </a:r>
            <a:r>
              <a:rPr lang="en-US" dirty="0" smtClean="0">
                <a:latin typeface="Arial" panose="020B0604020202020204" pitchFamily="34" charset="0"/>
              </a:rPr>
              <a:t> we eat pizza? </a:t>
            </a:r>
            <a:r>
              <a:rPr lang="en-US" dirty="0">
                <a:latin typeface="Arial" panose="020B0604020202020204" pitchFamily="34" charset="0"/>
              </a:rPr>
              <a:t>(Yes, </a:t>
            </a:r>
            <a:r>
              <a:rPr lang="en-US" dirty="0" smtClean="0">
                <a:latin typeface="Arial" panose="020B0604020202020204" pitchFamily="34" charset="0"/>
              </a:rPr>
              <a:t>we do// </a:t>
            </a:r>
            <a:r>
              <a:rPr lang="en-US" dirty="0">
                <a:latin typeface="Arial" panose="020B0604020202020204" pitchFamily="34" charset="0"/>
              </a:rPr>
              <a:t>No, </a:t>
            </a:r>
            <a:r>
              <a:rPr lang="en-US" dirty="0" smtClean="0">
                <a:latin typeface="Arial" panose="020B0604020202020204" pitchFamily="34" charset="0"/>
              </a:rPr>
              <a:t>we don’t)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Do</a:t>
            </a:r>
            <a:r>
              <a:rPr lang="en-US" dirty="0" smtClean="0">
                <a:latin typeface="Arial" panose="020B0604020202020204" pitchFamily="34" charset="0"/>
              </a:rPr>
              <a:t> they eat pizza? </a:t>
            </a:r>
            <a:r>
              <a:rPr lang="en-US" dirty="0">
                <a:latin typeface="Arial" panose="020B0604020202020204" pitchFamily="34" charset="0"/>
              </a:rPr>
              <a:t>(Yes, </a:t>
            </a:r>
            <a:r>
              <a:rPr lang="en-US" dirty="0" smtClean="0">
                <a:latin typeface="Arial" panose="020B0604020202020204" pitchFamily="34" charset="0"/>
              </a:rPr>
              <a:t>they </a:t>
            </a:r>
            <a:r>
              <a:rPr lang="en-US" dirty="0">
                <a:latin typeface="Arial" panose="020B0604020202020204" pitchFamily="34" charset="0"/>
              </a:rPr>
              <a:t>do// No, </a:t>
            </a:r>
            <a:r>
              <a:rPr lang="en-US" dirty="0" smtClean="0">
                <a:latin typeface="Arial" panose="020B0604020202020204" pitchFamily="34" charset="0"/>
              </a:rPr>
              <a:t>they don’t</a:t>
            </a:r>
            <a:r>
              <a:rPr lang="en-US" dirty="0">
                <a:latin typeface="Arial" panose="020B0604020202020204" pitchFamily="34" charset="0"/>
              </a:rPr>
              <a:t>)</a:t>
            </a:r>
          </a:p>
          <a:p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60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Resultado de imagen para confu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187" y="3901888"/>
            <a:ext cx="2956112" cy="295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691774" y="1696667"/>
            <a:ext cx="1017942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200" dirty="0" smtClean="0">
                <a:solidFill>
                  <a:srgbClr val="000000"/>
                </a:solidFill>
                <a:latin typeface="Arial" panose="020B0604020202020204" pitchFamily="34" charset="0"/>
              </a:rPr>
              <a:t>For 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verbs that end in </a:t>
            </a: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</a:rPr>
              <a:t>-O, -CH, -SH, -SS, -X,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 or </a:t>
            </a: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</a:rPr>
              <a:t>-Z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 we add </a:t>
            </a: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</a:rPr>
              <a:t>-ES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 in the third person</a:t>
            </a:r>
            <a:r>
              <a:rPr lang="en-US" sz="22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go – go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catch – catch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wash – wash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kiss – kiss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fix – fix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buzz – </a:t>
            </a:r>
            <a:r>
              <a:rPr lang="en-US" sz="2200" dirty="0" smtClean="0">
                <a:solidFill>
                  <a:srgbClr val="000000"/>
                </a:solidFill>
                <a:latin typeface="Arial" panose="020B0604020202020204" pitchFamily="34" charset="0"/>
              </a:rPr>
              <a:t>buzz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</a:rPr>
              <a:t>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2. For verbs that end in a </a:t>
            </a: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</a:rPr>
              <a:t>consonant + Y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, we remove the </a:t>
            </a: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</a:rPr>
              <a:t>Y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 and add </a:t>
            </a: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</a:rPr>
              <a:t>-IES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marry – marr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study – stud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carry – carr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</a:rPr>
              <a:t>worry – </a:t>
            </a:r>
            <a:r>
              <a:rPr lang="en-US" sz="2200" dirty="0" smtClean="0">
                <a:solidFill>
                  <a:srgbClr val="000000"/>
                </a:solidFill>
                <a:latin typeface="Arial" panose="020B0604020202020204" pitchFamily="34" charset="0"/>
              </a:rPr>
              <a:t>worr</a:t>
            </a:r>
            <a:r>
              <a:rPr lang="en-US" sz="2200" dirty="0" smtClean="0">
                <a:solidFill>
                  <a:srgbClr val="FF0000"/>
                </a:solidFill>
                <a:latin typeface="Arial" panose="020B0604020202020204" pitchFamily="34" charset="0"/>
              </a:rPr>
              <a:t>ies</a:t>
            </a:r>
            <a:endParaRPr lang="en-US" sz="22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https://fontmeme.com/temporary/1f97ef224306f82a8bc1bb986706cd2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788" y="561693"/>
            <a:ext cx="6471399" cy="772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42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fontmeme.com/temporary/6bf1c83e5cefe1ff7f588f5dcc25e99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27" y="1537447"/>
            <a:ext cx="10023849" cy="145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1249920" y="3754989"/>
            <a:ext cx="4589931" cy="1938992"/>
          </a:xfrm>
          <a:prstGeom prst="rect">
            <a:avLst/>
          </a:prstGeom>
          <a:solidFill>
            <a:schemeClr val="accent6">
              <a:lumMod val="20000"/>
              <a:lumOff val="80000"/>
              <a:alpha val="52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I am eat pizza</a:t>
            </a:r>
            <a:endParaRPr lang="en-US" sz="6000" dirty="0">
              <a:latin typeface="Arial" panose="020B0604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1296342" y="3754989"/>
            <a:ext cx="4589931" cy="193899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V="1">
            <a:off x="1249920" y="3770762"/>
            <a:ext cx="4589931" cy="193899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Resultado de imagen para promis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669" y="409023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lamada ovalada 8"/>
          <p:cNvSpPr/>
          <p:nvPr/>
        </p:nvSpPr>
        <p:spPr>
          <a:xfrm>
            <a:off x="8592671" y="3899647"/>
            <a:ext cx="2635623" cy="2003612"/>
          </a:xfrm>
          <a:prstGeom prst="wedgeEllipseCallout">
            <a:avLst>
              <a:gd name="adj1" fmla="val 58759"/>
              <a:gd name="adj2" fmla="val 2156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dirty="0" err="1" smtClean="0">
                <a:solidFill>
                  <a:schemeClr val="bg1"/>
                </a:solidFill>
              </a:rPr>
              <a:t>Pinky</a:t>
            </a:r>
            <a:r>
              <a:rPr lang="es-CO" sz="3600" dirty="0" smtClean="0">
                <a:solidFill>
                  <a:schemeClr val="bg1"/>
                </a:solidFill>
              </a:rPr>
              <a:t> </a:t>
            </a:r>
            <a:r>
              <a:rPr lang="es-CO" sz="3600" dirty="0" err="1" smtClean="0">
                <a:solidFill>
                  <a:schemeClr val="bg1"/>
                </a:solidFill>
              </a:rPr>
              <a:t>promise</a:t>
            </a:r>
            <a:r>
              <a:rPr lang="es-CO" sz="3600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680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https://fontmeme.com/temporary/a7a3de700c699aa0ebc8341fd8d32cb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187" y="2430201"/>
            <a:ext cx="554355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fontmeme.com/temporary/1e3cc1364c888a447a835c2973933e6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928" y="3525577"/>
            <a:ext cx="5320067" cy="93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98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I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run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/>
              <a:t>i</a:t>
            </a:r>
            <a:r>
              <a:rPr lang="es-CO" sz="5400" dirty="0" smtClean="0"/>
              <a:t>n </a:t>
            </a:r>
            <a:r>
              <a:rPr lang="es-CO" sz="5400" dirty="0" err="1" smtClean="0"/>
              <a:t>the</a:t>
            </a:r>
            <a:r>
              <a:rPr lang="es-CO" sz="5400" dirty="0" smtClean="0"/>
              <a:t> </a:t>
            </a:r>
            <a:r>
              <a:rPr lang="es-CO" sz="5400" dirty="0" err="1" smtClean="0"/>
              <a:t>park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1160927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I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984809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run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6808691" y="3384177"/>
            <a:ext cx="413721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/>
              <a:t>i</a:t>
            </a:r>
            <a:r>
              <a:rPr lang="es-CO" sz="5400" dirty="0" smtClean="0"/>
              <a:t>n </a:t>
            </a:r>
            <a:r>
              <a:rPr lang="es-CO" sz="5400" dirty="0" err="1" smtClean="0"/>
              <a:t>the</a:t>
            </a:r>
            <a:r>
              <a:rPr lang="es-CO" sz="5400" dirty="0" smtClean="0"/>
              <a:t> </a:t>
            </a:r>
            <a:r>
              <a:rPr lang="es-CO" sz="5400" dirty="0" err="1" smtClean="0"/>
              <a:t>park</a:t>
            </a:r>
            <a:endParaRPr lang="es-CO" sz="5400" dirty="0"/>
          </a:p>
        </p:txBody>
      </p:sp>
      <p:pic>
        <p:nvPicPr>
          <p:cNvPr id="8" name="Picture 6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925" y="684256"/>
            <a:ext cx="350298" cy="39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running in the par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188" y="4620206"/>
            <a:ext cx="3367554" cy="2237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44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sing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opera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1160927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984809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sings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6808691" y="3384177"/>
            <a:ext cx="413721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opera</a:t>
            </a:r>
            <a:endParaRPr lang="es-CO" sz="5400" dirty="0"/>
          </a:p>
        </p:txBody>
      </p:sp>
      <p:pic>
        <p:nvPicPr>
          <p:cNvPr id="8" name="Picture 6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925" y="684256"/>
            <a:ext cx="350298" cy="39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Resultado de imagen para opera music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469" y="4273922"/>
            <a:ext cx="2584077" cy="258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70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You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eat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hamburgers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811304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Do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635186" y="3381936"/>
            <a:ext cx="373380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/>
              <a:t>y</a:t>
            </a:r>
            <a:r>
              <a:rPr lang="es-CO" sz="5400" dirty="0" err="1" smtClean="0"/>
              <a:t>ou</a:t>
            </a:r>
            <a:r>
              <a:rPr lang="es-CO" sz="5400" dirty="0" smtClean="0"/>
              <a:t> </a:t>
            </a:r>
            <a:r>
              <a:rPr lang="es-CO" sz="5400" dirty="0" err="1" smtClean="0"/>
              <a:t>eat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7368989" y="3381936"/>
            <a:ext cx="3983280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/>
              <a:t>h</a:t>
            </a:r>
            <a:r>
              <a:rPr lang="es-CO" sz="5400" dirty="0" err="1" smtClean="0"/>
              <a:t>amburgers</a:t>
            </a:r>
            <a:r>
              <a:rPr lang="es-CO" sz="5400" dirty="0" smtClean="0"/>
              <a:t>?</a:t>
            </a:r>
            <a:endParaRPr lang="es-CO" sz="5400" dirty="0"/>
          </a:p>
        </p:txBody>
      </p:sp>
      <p:pic>
        <p:nvPicPr>
          <p:cNvPr id="9218" name="Picture 2" descr="Resultado de imagen para hamburger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311" y="4324349"/>
            <a:ext cx="27813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 descr="https://fontmeme.com/temporary/ab275cf095b26b08c206619dff68c45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2269" y="604718"/>
            <a:ext cx="274954" cy="67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75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He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eat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hamburgers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1160927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He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984808" y="3381936"/>
            <a:ext cx="373380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doesn’t</a:t>
            </a:r>
            <a:r>
              <a:rPr lang="es-CO" sz="5400" dirty="0" smtClean="0"/>
              <a:t> </a:t>
            </a:r>
            <a:r>
              <a:rPr lang="es-CO" sz="5400" dirty="0" err="1" smtClean="0"/>
              <a:t>eat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7718611" y="3384177"/>
            <a:ext cx="360649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hamburgers</a:t>
            </a:r>
            <a:endParaRPr lang="es-CO" sz="5400" dirty="0"/>
          </a:p>
        </p:txBody>
      </p:sp>
      <p:pic>
        <p:nvPicPr>
          <p:cNvPr id="10" name="Picture 12" descr="https://fontmeme.com/temporary/df5e820188482710150cb355e8e24fb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104" y="666821"/>
            <a:ext cx="400050" cy="5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Resultado de imagen para hamburger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311" y="4324349"/>
            <a:ext cx="27813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ector recto 10"/>
          <p:cNvCxnSpPr/>
          <p:nvPr/>
        </p:nvCxnSpPr>
        <p:spPr>
          <a:xfrm>
            <a:off x="4031230" y="4534918"/>
            <a:ext cx="4589931" cy="193899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3984808" y="4550691"/>
            <a:ext cx="4589931" cy="193899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17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They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dance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salsa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1160927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They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984809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dance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6808691" y="3384177"/>
            <a:ext cx="413721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salsa</a:t>
            </a:r>
            <a:endParaRPr lang="es-CO" sz="5400" dirty="0"/>
          </a:p>
        </p:txBody>
      </p:sp>
      <p:pic>
        <p:nvPicPr>
          <p:cNvPr id="8" name="Picture 6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925" y="684256"/>
            <a:ext cx="350298" cy="39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268" y="4267822"/>
            <a:ext cx="3313767" cy="220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12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speak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Italian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811304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Does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635186" y="3381936"/>
            <a:ext cx="373380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r>
              <a:rPr lang="es-CO" sz="5400" dirty="0" smtClean="0"/>
              <a:t> </a:t>
            </a:r>
            <a:r>
              <a:rPr lang="es-CO" sz="5400" dirty="0" err="1" smtClean="0"/>
              <a:t>speak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7368989" y="3381936"/>
            <a:ext cx="3983280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Italian</a:t>
            </a:r>
            <a:r>
              <a:rPr lang="es-CO" sz="5400" dirty="0" smtClean="0"/>
              <a:t>?</a:t>
            </a:r>
            <a:endParaRPr lang="es-CO" sz="5400" dirty="0"/>
          </a:p>
        </p:txBody>
      </p:sp>
      <p:pic>
        <p:nvPicPr>
          <p:cNvPr id="13" name="Picture 16" descr="https://fontmeme.com/temporary/ab275cf095b26b08c206619dff68c45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2269" y="604718"/>
            <a:ext cx="274954" cy="67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Resultado de imagen para italian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4" y="4168585"/>
            <a:ext cx="2689414" cy="268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50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3764612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5692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cry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068668" y="1922930"/>
            <a:ext cx="4558555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with</a:t>
            </a:r>
            <a:r>
              <a:rPr lang="es-CO" sz="5400" dirty="0" smtClean="0"/>
              <a:t> </a:t>
            </a:r>
            <a:r>
              <a:rPr lang="es-CO" sz="5400" dirty="0" err="1" smtClean="0"/>
              <a:t>sad</a:t>
            </a:r>
            <a:r>
              <a:rPr lang="es-CO" sz="5400" dirty="0" smtClean="0"/>
              <a:t> </a:t>
            </a:r>
            <a:r>
              <a:rPr lang="es-CO" sz="5400" dirty="0" err="1" smtClean="0"/>
              <a:t>movies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1160927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984809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cries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6808691" y="3384177"/>
            <a:ext cx="5118850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/>
              <a:t>w</a:t>
            </a:r>
            <a:r>
              <a:rPr lang="es-CO" sz="5400" dirty="0" err="1" smtClean="0"/>
              <a:t>ith</a:t>
            </a:r>
            <a:r>
              <a:rPr lang="es-CO" sz="5400" dirty="0" smtClean="0"/>
              <a:t> </a:t>
            </a:r>
            <a:r>
              <a:rPr lang="es-CO" sz="5400" dirty="0" err="1" smtClean="0"/>
              <a:t>sad</a:t>
            </a:r>
            <a:r>
              <a:rPr lang="es-CO" sz="5400" dirty="0" smtClean="0"/>
              <a:t> </a:t>
            </a:r>
            <a:r>
              <a:rPr lang="es-CO" sz="5400" dirty="0" err="1" smtClean="0"/>
              <a:t>movies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pic>
        <p:nvPicPr>
          <p:cNvPr id="8" name="Picture 6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925" y="684256"/>
            <a:ext cx="350298" cy="39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Resultado de imagen para titan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628" y="4119485"/>
            <a:ext cx="1847851" cy="273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esultado de imagen para cryin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406" y="4424083"/>
            <a:ext cx="1846832" cy="184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62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3764612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5692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cry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068668" y="1922930"/>
            <a:ext cx="4558555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with</a:t>
            </a:r>
            <a:r>
              <a:rPr lang="es-CO" sz="5400" dirty="0" smtClean="0"/>
              <a:t> </a:t>
            </a:r>
            <a:r>
              <a:rPr lang="es-CO" sz="5400" dirty="0" err="1" smtClean="0"/>
              <a:t>sad</a:t>
            </a:r>
            <a:r>
              <a:rPr lang="es-CO" sz="5400" dirty="0" smtClean="0"/>
              <a:t> </a:t>
            </a:r>
            <a:r>
              <a:rPr lang="es-CO" sz="5400" dirty="0" err="1" smtClean="0"/>
              <a:t>movies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690280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Does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514162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/>
              <a:t>s</a:t>
            </a:r>
            <a:r>
              <a:rPr lang="es-CO" sz="5400" dirty="0" err="1" smtClean="0"/>
              <a:t>he</a:t>
            </a:r>
            <a:r>
              <a:rPr lang="es-CO" sz="5400" dirty="0" smtClean="0"/>
              <a:t> </a:t>
            </a:r>
            <a:r>
              <a:rPr lang="es-CO" sz="5400" dirty="0" err="1" smtClean="0"/>
              <a:t>cry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6338044" y="3381936"/>
            <a:ext cx="5118850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/>
              <a:t>w</a:t>
            </a:r>
            <a:r>
              <a:rPr lang="es-CO" sz="5400" dirty="0" err="1" smtClean="0"/>
              <a:t>ith</a:t>
            </a:r>
            <a:r>
              <a:rPr lang="es-CO" sz="5400" dirty="0" smtClean="0"/>
              <a:t> </a:t>
            </a:r>
            <a:r>
              <a:rPr lang="es-CO" sz="5400" dirty="0" err="1" smtClean="0"/>
              <a:t>sad</a:t>
            </a:r>
            <a:r>
              <a:rPr lang="es-CO" sz="5400" dirty="0" smtClean="0"/>
              <a:t> </a:t>
            </a:r>
            <a:r>
              <a:rPr lang="es-CO" sz="5400" dirty="0" err="1" smtClean="0"/>
              <a:t>movies</a:t>
            </a:r>
            <a:r>
              <a:rPr lang="es-CO" sz="5400" dirty="0" smtClean="0"/>
              <a:t>? </a:t>
            </a:r>
            <a:endParaRPr lang="es-CO" sz="5400" dirty="0"/>
          </a:p>
        </p:txBody>
      </p:sp>
      <p:pic>
        <p:nvPicPr>
          <p:cNvPr id="13314" name="Picture 2" descr="Resultado de imagen para titan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628" y="4119485"/>
            <a:ext cx="1847851" cy="273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esultado de imagen para cryi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406" y="4424083"/>
            <a:ext cx="1846832" cy="184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https://fontmeme.com/temporary/ab275cf095b26b08c206619dff68c45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2269" y="604718"/>
            <a:ext cx="274954" cy="67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92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he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cook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pasta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1160927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He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984809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cooks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6808691" y="3384177"/>
            <a:ext cx="413721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pasta</a:t>
            </a:r>
            <a:endParaRPr lang="es-CO" sz="5400" dirty="0"/>
          </a:p>
        </p:txBody>
      </p:sp>
      <p:pic>
        <p:nvPicPr>
          <p:cNvPr id="8" name="Picture 6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925" y="684256"/>
            <a:ext cx="350298" cy="39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Resultado de imagen para cooki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700" y="4006025"/>
            <a:ext cx="2614310" cy="285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93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teach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English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1160927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984809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teaches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6808691" y="3384177"/>
            <a:ext cx="413721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English</a:t>
            </a:r>
            <a:endParaRPr lang="es-CO" sz="5400" dirty="0"/>
          </a:p>
        </p:txBody>
      </p:sp>
      <p:pic>
        <p:nvPicPr>
          <p:cNvPr id="8" name="Picture 6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925" y="684256"/>
            <a:ext cx="350298" cy="39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 descr="Resultado de imagen para english teach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874" y="4152899"/>
            <a:ext cx="2476500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89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ondear rectángulo de esquina diagonal 1"/>
          <p:cNvSpPr/>
          <p:nvPr/>
        </p:nvSpPr>
        <p:spPr>
          <a:xfrm>
            <a:off x="4150657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endParaRPr lang="es-CO" sz="5400" dirty="0"/>
          </a:p>
        </p:txBody>
      </p:sp>
      <p:sp>
        <p:nvSpPr>
          <p:cNvPr id="3" name="Redondear rectángulo de esquina diagonal 2"/>
          <p:cNvSpPr/>
          <p:nvPr/>
        </p:nvSpPr>
        <p:spPr>
          <a:xfrm>
            <a:off x="811304" y="1929653"/>
            <a:ext cx="2823882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watch</a:t>
            </a:r>
            <a:endParaRPr lang="es-CO" sz="5400" dirty="0"/>
          </a:p>
        </p:txBody>
      </p:sp>
      <p:sp>
        <p:nvSpPr>
          <p:cNvPr id="4" name="Redondear rectángulo de esquina diagonal 3"/>
          <p:cNvSpPr/>
          <p:nvPr/>
        </p:nvSpPr>
        <p:spPr>
          <a:xfrm>
            <a:off x="7490010" y="1929653"/>
            <a:ext cx="4137213" cy="605118"/>
          </a:xfrm>
          <a:prstGeom prst="round2Diag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TV</a:t>
            </a:r>
            <a:endParaRPr lang="es-CO" sz="5400" dirty="0"/>
          </a:p>
        </p:txBody>
      </p:sp>
      <p:sp>
        <p:nvSpPr>
          <p:cNvPr id="5" name="Redondear rectángulo de esquina diagonal 4"/>
          <p:cNvSpPr/>
          <p:nvPr/>
        </p:nvSpPr>
        <p:spPr>
          <a:xfrm>
            <a:off x="1160927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She</a:t>
            </a:r>
            <a:r>
              <a:rPr lang="es-CO" sz="5400" dirty="0" smtClean="0"/>
              <a:t> </a:t>
            </a:r>
            <a:endParaRPr lang="es-CO" sz="5400" dirty="0"/>
          </a:p>
        </p:txBody>
      </p:sp>
      <p:sp>
        <p:nvSpPr>
          <p:cNvPr id="6" name="Redondear rectángulo de esquina diagonal 5"/>
          <p:cNvSpPr/>
          <p:nvPr/>
        </p:nvSpPr>
        <p:spPr>
          <a:xfrm>
            <a:off x="3984809" y="3381936"/>
            <a:ext cx="2823882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err="1" smtClean="0"/>
              <a:t>watches</a:t>
            </a:r>
            <a:endParaRPr lang="es-CO" sz="5400" dirty="0"/>
          </a:p>
        </p:txBody>
      </p:sp>
      <p:sp>
        <p:nvSpPr>
          <p:cNvPr id="7" name="Redondear rectángulo de esquina diagonal 6"/>
          <p:cNvSpPr/>
          <p:nvPr/>
        </p:nvSpPr>
        <p:spPr>
          <a:xfrm>
            <a:off x="6808691" y="3384177"/>
            <a:ext cx="4137213" cy="605118"/>
          </a:xfrm>
          <a:prstGeom prst="round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5400" dirty="0" smtClean="0"/>
              <a:t>TV</a:t>
            </a:r>
            <a:endParaRPr lang="es-CO" sz="5400" dirty="0"/>
          </a:p>
        </p:txBody>
      </p:sp>
      <p:pic>
        <p:nvPicPr>
          <p:cNvPr id="8" name="Picture 6" descr="https://fontmeme.com/temporary/cd07fb68f3f3af72c6f09ec6d106e5e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925" y="684256"/>
            <a:ext cx="350298" cy="39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Resultado de imagen para watching tv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273" y="4195481"/>
            <a:ext cx="2910737" cy="264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07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fontmeme.com/temporary/0003b2c30272b188787f3bf54a9ce5d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241" y="3039222"/>
            <a:ext cx="295275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fontmeme.com/temporary/08e54957890d1e88de669ab390fca9a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412" y="3886947"/>
            <a:ext cx="6584408" cy="55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798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eat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390" y="1075765"/>
            <a:ext cx="3560781" cy="549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cto de flecha 2"/>
          <p:cNvCxnSpPr/>
          <p:nvPr/>
        </p:nvCxnSpPr>
        <p:spPr>
          <a:xfrm flipV="1">
            <a:off x="6357769" y="3668358"/>
            <a:ext cx="2162287" cy="1549101"/>
          </a:xfrm>
          <a:prstGeom prst="straightConnector1">
            <a:avLst/>
          </a:prstGeom>
          <a:ln w="76200">
            <a:solidFill>
              <a:srgbClr val="E575B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https://fontmeme.com/temporary/07ed6644f93e687c47386a6dd69b32e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901" y="3411457"/>
            <a:ext cx="2563298" cy="51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983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tan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325" y="182880"/>
            <a:ext cx="4170759" cy="657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752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girl kissing d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43" y="444388"/>
            <a:ext cx="11430000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710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Resultado de imagen para cook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463" y="665369"/>
            <a:ext cx="9344025" cy="593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511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TM03457510[[fn=Estampado]]</Template>
  <TotalTime>90</TotalTime>
  <Words>387</Words>
  <Application>Microsoft Office PowerPoint</Application>
  <PresentationFormat>Panorámica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Garamond</vt:lpstr>
      <vt:lpstr>Savon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simple</dc:title>
  <dc:creator>Tutor Centro de Lenguas</dc:creator>
  <cp:lastModifiedBy>Tutor Centro de Lenguas</cp:lastModifiedBy>
  <cp:revision>23</cp:revision>
  <dcterms:created xsi:type="dcterms:W3CDTF">2018-03-02T16:38:09Z</dcterms:created>
  <dcterms:modified xsi:type="dcterms:W3CDTF">2018-03-02T21:12:00Z</dcterms:modified>
</cp:coreProperties>
</file>