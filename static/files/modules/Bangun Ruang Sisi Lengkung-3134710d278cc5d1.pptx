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Sifonn" charset="1" panose="00000000000000000000"/>
      <p:regular r:id="rId29"/>
    </p:embeddedFont>
    <p:embeddedFont>
      <p:font typeface="Bayan" charset="1" panose="00000500000000000000"/>
      <p:regular r:id="rId30"/>
    </p:embeddedFont>
    <p:embeddedFont>
      <p:font typeface="Bayan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7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0473" y="4301539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692" y="1555573"/>
            <a:ext cx="2636759" cy="3616502"/>
          </a:xfrm>
          <a:custGeom>
            <a:avLst/>
            <a:gdLst/>
            <a:ahLst/>
            <a:cxnLst/>
            <a:rect r="r" b="b" t="t" l="l"/>
            <a:pathLst>
              <a:path h="3616502" w="2636759">
                <a:moveTo>
                  <a:pt x="0" y="0"/>
                </a:moveTo>
                <a:lnTo>
                  <a:pt x="2636759" y="0"/>
                </a:lnTo>
                <a:lnTo>
                  <a:pt x="2636759" y="3616502"/>
                </a:lnTo>
                <a:lnTo>
                  <a:pt x="0" y="3616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8282511" y="2967404"/>
            <a:ext cx="9046500" cy="26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Bangun Ruang</a:t>
            </a:r>
          </a:p>
          <a:p>
            <a:pPr algn="ctr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Sisi Lengkung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52222" y="5588049"/>
            <a:ext cx="8907078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BF1EF"/>
                </a:solidFill>
                <a:latin typeface="Bayan"/>
                <a:ea typeface="Bayan"/>
                <a:cs typeface="Bayan"/>
                <a:sym typeface="Bayan"/>
              </a:rPr>
              <a:t>Luas Permukaan dan Volume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180652" y="4509309"/>
            <a:ext cx="3565502" cy="3565502"/>
          </a:xfrm>
          <a:custGeom>
            <a:avLst/>
            <a:gdLst/>
            <a:ahLst/>
            <a:cxnLst/>
            <a:rect r="r" b="b" t="t" l="l"/>
            <a:pathLst>
              <a:path h="3565502" w="3565502">
                <a:moveTo>
                  <a:pt x="0" y="0"/>
                </a:moveTo>
                <a:lnTo>
                  <a:pt x="3565501" y="0"/>
                </a:lnTo>
                <a:lnTo>
                  <a:pt x="3565501" y="3565501"/>
                </a:lnTo>
                <a:lnTo>
                  <a:pt x="0" y="3565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99845"/>
            <a:ext cx="10357010" cy="3195124"/>
            <a:chOff x="0" y="0"/>
            <a:chExt cx="2727772" cy="841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7772" cy="841514"/>
            </a:xfrm>
            <a:custGeom>
              <a:avLst/>
              <a:gdLst/>
              <a:ahLst/>
              <a:cxnLst/>
              <a:rect r="r" b="b" t="t" l="l"/>
              <a:pathLst>
                <a:path h="841514" w="2727772">
                  <a:moveTo>
                    <a:pt x="38123" y="0"/>
                  </a:moveTo>
                  <a:lnTo>
                    <a:pt x="2689649" y="0"/>
                  </a:lnTo>
                  <a:cubicBezTo>
                    <a:pt x="2699760" y="0"/>
                    <a:pt x="2709457" y="4016"/>
                    <a:pt x="2716606" y="11166"/>
                  </a:cubicBezTo>
                  <a:cubicBezTo>
                    <a:pt x="2723756" y="18315"/>
                    <a:pt x="2727772" y="28012"/>
                    <a:pt x="2727772" y="38123"/>
                  </a:cubicBezTo>
                  <a:lnTo>
                    <a:pt x="2727772" y="803391"/>
                  </a:lnTo>
                  <a:cubicBezTo>
                    <a:pt x="2727772" y="824446"/>
                    <a:pt x="2710704" y="841514"/>
                    <a:pt x="2689649" y="841514"/>
                  </a:cubicBezTo>
                  <a:lnTo>
                    <a:pt x="38123" y="841514"/>
                  </a:lnTo>
                  <a:cubicBezTo>
                    <a:pt x="28012" y="841514"/>
                    <a:pt x="18315" y="837498"/>
                    <a:pt x="11166" y="830348"/>
                  </a:cubicBezTo>
                  <a:cubicBezTo>
                    <a:pt x="4016" y="823199"/>
                    <a:pt x="0" y="813502"/>
                    <a:pt x="0" y="803391"/>
                  </a:cubicBezTo>
                  <a:lnTo>
                    <a:pt x="0" y="38123"/>
                  </a:lnTo>
                  <a:cubicBezTo>
                    <a:pt x="0" y="28012"/>
                    <a:pt x="4016" y="18315"/>
                    <a:pt x="11166" y="11166"/>
                  </a:cubicBezTo>
                  <a:cubicBezTo>
                    <a:pt x="18315" y="4016"/>
                    <a:pt x="28012" y="0"/>
                    <a:pt x="38123" y="0"/>
                  </a:cubicBezTo>
                  <a:close/>
                </a:path>
              </a:pathLst>
            </a:custGeom>
            <a:solidFill>
              <a:srgbClr val="887BB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27772" cy="87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94855"/>
            <a:ext cx="8907078" cy="86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Yang akan kita pelajari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81423"/>
            <a:ext cx="11363110" cy="225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6125"/>
              </a:lnSpc>
              <a:buAutoNum type="arabicPeriod" startAt="1"/>
            </a:pPr>
            <a:r>
              <a:rPr lang="en-US" sz="3500">
                <a:solidFill>
                  <a:srgbClr val="FBF1EF"/>
                </a:solidFill>
                <a:latin typeface="Bayan"/>
                <a:ea typeface="Bayan"/>
                <a:cs typeface="Bayan"/>
                <a:sym typeface="Bayan"/>
              </a:rPr>
              <a:t> Macam-macam bangun ruang sisi lengkung</a:t>
            </a:r>
          </a:p>
          <a:p>
            <a:pPr algn="l" marL="755654" indent="-377827" lvl="1">
              <a:lnSpc>
                <a:spcPts val="6125"/>
              </a:lnSpc>
              <a:buAutoNum type="arabicPeriod" startAt="1"/>
            </a:pPr>
            <a:r>
              <a:rPr lang="en-US" sz="3500">
                <a:solidFill>
                  <a:srgbClr val="FBF1EF"/>
                </a:solidFill>
                <a:latin typeface="Bayan"/>
                <a:ea typeface="Bayan"/>
                <a:cs typeface="Bayan"/>
                <a:sym typeface="Bayan"/>
              </a:rPr>
              <a:t> Menghitung luas permukaan bangun ruang</a:t>
            </a:r>
          </a:p>
          <a:p>
            <a:pPr algn="l" marL="755654" indent="-377827" lvl="1">
              <a:lnSpc>
                <a:spcPts val="6125"/>
              </a:lnSpc>
              <a:buAutoNum type="arabicPeriod" startAt="1"/>
            </a:pPr>
            <a:r>
              <a:rPr lang="en-US" sz="3500">
                <a:solidFill>
                  <a:srgbClr val="FBF1EF"/>
                </a:solidFill>
                <a:latin typeface="Bayan"/>
                <a:ea typeface="Bayan"/>
                <a:cs typeface="Bayan"/>
                <a:sym typeface="Bayan"/>
              </a:rPr>
              <a:t> Menghitung volume bangun ruang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713083" y="4730711"/>
            <a:ext cx="1546217" cy="2436731"/>
          </a:xfrm>
          <a:custGeom>
            <a:avLst/>
            <a:gdLst/>
            <a:ahLst/>
            <a:cxnLst/>
            <a:rect r="r" b="b" t="t" l="l"/>
            <a:pathLst>
              <a:path h="2436731" w="1546217">
                <a:moveTo>
                  <a:pt x="0" y="0"/>
                </a:moveTo>
                <a:lnTo>
                  <a:pt x="1546217" y="0"/>
                </a:lnTo>
                <a:lnTo>
                  <a:pt x="1546217" y="2436731"/>
                </a:lnTo>
                <a:lnTo>
                  <a:pt x="0" y="243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136391" y="5605988"/>
            <a:ext cx="1561454" cy="1561454"/>
          </a:xfrm>
          <a:custGeom>
            <a:avLst/>
            <a:gdLst/>
            <a:ahLst/>
            <a:cxnLst/>
            <a:rect r="r" b="b" t="t" l="l"/>
            <a:pathLst>
              <a:path h="1561454" w="1561454">
                <a:moveTo>
                  <a:pt x="0" y="0"/>
                </a:moveTo>
                <a:lnTo>
                  <a:pt x="1561455" y="0"/>
                </a:lnTo>
                <a:lnTo>
                  <a:pt x="1561455" y="1561454"/>
                </a:lnTo>
                <a:lnTo>
                  <a:pt x="0" y="1561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697846" y="3119558"/>
            <a:ext cx="1561454" cy="2141646"/>
          </a:xfrm>
          <a:custGeom>
            <a:avLst/>
            <a:gdLst/>
            <a:ahLst/>
            <a:cxnLst/>
            <a:rect r="r" b="b" t="t" l="l"/>
            <a:pathLst>
              <a:path h="2141646" w="1561454">
                <a:moveTo>
                  <a:pt x="0" y="0"/>
                </a:moveTo>
                <a:lnTo>
                  <a:pt x="1561454" y="0"/>
                </a:lnTo>
                <a:lnTo>
                  <a:pt x="1561454" y="2141645"/>
                </a:lnTo>
                <a:lnTo>
                  <a:pt x="0" y="2141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7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4902" y="3137893"/>
            <a:ext cx="10625574" cy="39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Macam-macam Bangun Ruang</a:t>
            </a:r>
          </a:p>
          <a:p>
            <a:pPr algn="l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Sisi Lengkung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71930" y="4730711"/>
            <a:ext cx="1546217" cy="2436731"/>
          </a:xfrm>
          <a:custGeom>
            <a:avLst/>
            <a:gdLst/>
            <a:ahLst/>
            <a:cxnLst/>
            <a:rect r="r" b="b" t="t" l="l"/>
            <a:pathLst>
              <a:path h="2436731" w="1546217">
                <a:moveTo>
                  <a:pt x="0" y="0"/>
                </a:moveTo>
                <a:lnTo>
                  <a:pt x="1546217" y="0"/>
                </a:lnTo>
                <a:lnTo>
                  <a:pt x="1546217" y="2436731"/>
                </a:lnTo>
                <a:lnTo>
                  <a:pt x="0" y="243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5238" y="5605988"/>
            <a:ext cx="1561454" cy="1561454"/>
          </a:xfrm>
          <a:custGeom>
            <a:avLst/>
            <a:gdLst/>
            <a:ahLst/>
            <a:cxnLst/>
            <a:rect r="r" b="b" t="t" l="l"/>
            <a:pathLst>
              <a:path h="1561454" w="1561454">
                <a:moveTo>
                  <a:pt x="0" y="0"/>
                </a:moveTo>
                <a:lnTo>
                  <a:pt x="1561455" y="0"/>
                </a:lnTo>
                <a:lnTo>
                  <a:pt x="1561455" y="1561454"/>
                </a:lnTo>
                <a:lnTo>
                  <a:pt x="0" y="1561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6693" y="3119558"/>
            <a:ext cx="1561454" cy="2141646"/>
          </a:xfrm>
          <a:custGeom>
            <a:avLst/>
            <a:gdLst/>
            <a:ahLst/>
            <a:cxnLst/>
            <a:rect r="r" b="b" t="t" l="l"/>
            <a:pathLst>
              <a:path h="2141646" w="1561454">
                <a:moveTo>
                  <a:pt x="0" y="0"/>
                </a:moveTo>
                <a:lnTo>
                  <a:pt x="1561454" y="0"/>
                </a:lnTo>
                <a:lnTo>
                  <a:pt x="1561454" y="2141645"/>
                </a:lnTo>
                <a:lnTo>
                  <a:pt x="0" y="2141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7444" y="4876560"/>
            <a:ext cx="2844365" cy="3901249"/>
          </a:xfrm>
          <a:custGeom>
            <a:avLst/>
            <a:gdLst/>
            <a:ahLst/>
            <a:cxnLst/>
            <a:rect r="r" b="b" t="t" l="l"/>
            <a:pathLst>
              <a:path h="3901249" w="2844365">
                <a:moveTo>
                  <a:pt x="0" y="0"/>
                </a:moveTo>
                <a:lnTo>
                  <a:pt x="2844365" y="0"/>
                </a:lnTo>
                <a:lnTo>
                  <a:pt x="2844365" y="3901249"/>
                </a:lnTo>
                <a:lnTo>
                  <a:pt x="0" y="3901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7444" y="2843579"/>
            <a:ext cx="5691885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1. Kerucut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94855"/>
            <a:ext cx="14972197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Macam-macam Bangun Ruang Sisi Lengkung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36184" y="4876560"/>
            <a:ext cx="2961506" cy="3942104"/>
          </a:xfrm>
          <a:custGeom>
            <a:avLst/>
            <a:gdLst/>
            <a:ahLst/>
            <a:cxnLst/>
            <a:rect r="r" b="b" t="t" l="l"/>
            <a:pathLst>
              <a:path h="3942104" w="2961506">
                <a:moveTo>
                  <a:pt x="0" y="0"/>
                </a:moveTo>
                <a:lnTo>
                  <a:pt x="2961506" y="0"/>
                </a:lnTo>
                <a:lnTo>
                  <a:pt x="2961506" y="3942104"/>
                </a:lnTo>
                <a:lnTo>
                  <a:pt x="0" y="3942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623437" y="6779560"/>
            <a:ext cx="2169232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10366320" y="5696920"/>
            <a:ext cx="3407909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Selimut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0128454" y="6041987"/>
            <a:ext cx="1025839" cy="11050"/>
          </a:xfrm>
          <a:prstGeom prst="line">
            <a:avLst/>
          </a:prstGeom>
          <a:ln cap="flat" w="95250">
            <a:solidFill>
              <a:srgbClr val="887BB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11393986" y="7864327"/>
            <a:ext cx="197466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Alas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688194" y="8161771"/>
            <a:ext cx="1458135" cy="5525"/>
          </a:xfrm>
          <a:prstGeom prst="line">
            <a:avLst/>
          </a:prstGeom>
          <a:ln cap="flat" w="95250">
            <a:solidFill>
              <a:srgbClr val="887BB0"/>
            </a:solidFill>
            <a:prstDash val="sysDot"/>
            <a:headEnd type="none" len="sm" w="sm"/>
            <a:tailEnd type="arrow" len="sm" w="med"/>
          </a:ln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081" y="4636266"/>
            <a:ext cx="2372416" cy="3738764"/>
          </a:xfrm>
          <a:custGeom>
            <a:avLst/>
            <a:gdLst/>
            <a:ahLst/>
            <a:cxnLst/>
            <a:rect r="r" b="b" t="t" l="l"/>
            <a:pathLst>
              <a:path h="3738764" w="2372416">
                <a:moveTo>
                  <a:pt x="0" y="0"/>
                </a:moveTo>
                <a:lnTo>
                  <a:pt x="2372416" y="0"/>
                </a:lnTo>
                <a:lnTo>
                  <a:pt x="2372416" y="3738764"/>
                </a:lnTo>
                <a:lnTo>
                  <a:pt x="0" y="373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8081" y="2843579"/>
            <a:ext cx="5691885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2. Tabung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94855"/>
            <a:ext cx="14972197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Macam-macam Bangun Ruang Sisi Lengkung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839505" y="4303759"/>
            <a:ext cx="4365403" cy="4884367"/>
          </a:xfrm>
          <a:custGeom>
            <a:avLst/>
            <a:gdLst/>
            <a:ahLst/>
            <a:cxnLst/>
            <a:rect r="r" b="b" t="t" l="l"/>
            <a:pathLst>
              <a:path h="4884367" w="4365403">
                <a:moveTo>
                  <a:pt x="0" y="0"/>
                </a:moveTo>
                <a:lnTo>
                  <a:pt x="4365402" y="0"/>
                </a:lnTo>
                <a:lnTo>
                  <a:pt x="4365402" y="4884367"/>
                </a:lnTo>
                <a:lnTo>
                  <a:pt x="0" y="4884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194023" y="6505648"/>
            <a:ext cx="2169232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" id="7"/>
          <p:cNvSpPr txBox="true"/>
          <p:nvPr/>
        </p:nvSpPr>
        <p:spPr>
          <a:xfrm rot="0">
            <a:off x="11516235" y="4750806"/>
            <a:ext cx="2238489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Tutup</a:t>
            </a:r>
          </a:p>
        </p:txBody>
      </p:sp>
      <p:sp>
        <p:nvSpPr>
          <p:cNvPr name="AutoShape 8" id="8"/>
          <p:cNvSpPr/>
          <p:nvPr/>
        </p:nvSpPr>
        <p:spPr>
          <a:xfrm>
            <a:off x="9955892" y="5048250"/>
            <a:ext cx="1977686" cy="0"/>
          </a:xfrm>
          <a:prstGeom prst="line">
            <a:avLst/>
          </a:prstGeom>
          <a:ln cap="flat" w="95250">
            <a:solidFill>
              <a:srgbClr val="887BB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11506710" y="8148286"/>
            <a:ext cx="2238489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Alas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46367" y="8445730"/>
            <a:ext cx="1977686" cy="0"/>
          </a:xfrm>
          <a:prstGeom prst="line">
            <a:avLst/>
          </a:prstGeom>
          <a:ln cap="flat" w="95250">
            <a:solidFill>
              <a:srgbClr val="887BB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11640060" y="6448498"/>
            <a:ext cx="2238489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Selimut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338257" y="6745942"/>
            <a:ext cx="603606" cy="0"/>
          </a:xfrm>
          <a:prstGeom prst="line">
            <a:avLst/>
          </a:prstGeom>
          <a:ln cap="flat" w="95250">
            <a:solidFill>
              <a:srgbClr val="887BB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8925" y="4693361"/>
            <a:ext cx="3002522" cy="3002522"/>
          </a:xfrm>
          <a:custGeom>
            <a:avLst/>
            <a:gdLst/>
            <a:ahLst/>
            <a:cxnLst/>
            <a:rect r="r" b="b" t="t" l="l"/>
            <a:pathLst>
              <a:path h="3002522" w="3002522">
                <a:moveTo>
                  <a:pt x="0" y="0"/>
                </a:moveTo>
                <a:lnTo>
                  <a:pt x="3002522" y="0"/>
                </a:lnTo>
                <a:lnTo>
                  <a:pt x="3002522" y="3002522"/>
                </a:lnTo>
                <a:lnTo>
                  <a:pt x="0" y="3002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951142" y="5883365"/>
            <a:ext cx="2870313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" id="4"/>
          <p:cNvSpPr txBox="true"/>
          <p:nvPr/>
        </p:nvSpPr>
        <p:spPr>
          <a:xfrm rot="0">
            <a:off x="1348081" y="2842201"/>
            <a:ext cx="5691885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3. Bola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50080" y="4721073"/>
            <a:ext cx="4096183" cy="2324584"/>
          </a:xfrm>
          <a:custGeom>
            <a:avLst/>
            <a:gdLst/>
            <a:ahLst/>
            <a:cxnLst/>
            <a:rect r="r" b="b" t="t" l="l"/>
            <a:pathLst>
              <a:path h="2324584" w="4096183">
                <a:moveTo>
                  <a:pt x="0" y="0"/>
                </a:moveTo>
                <a:lnTo>
                  <a:pt x="4096183" y="0"/>
                </a:lnTo>
                <a:lnTo>
                  <a:pt x="4096183" y="2324584"/>
                </a:lnTo>
                <a:lnTo>
                  <a:pt x="0" y="232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494855"/>
            <a:ext cx="14972197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Macam-macam Bangun Ruang Sisi Lengkung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7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4902" y="4019630"/>
            <a:ext cx="10184982" cy="26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Menghitung</a:t>
            </a:r>
          </a:p>
          <a:p>
            <a:pPr algn="l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Luas Permukaan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71930" y="4730711"/>
            <a:ext cx="1546217" cy="2436731"/>
          </a:xfrm>
          <a:custGeom>
            <a:avLst/>
            <a:gdLst/>
            <a:ahLst/>
            <a:cxnLst/>
            <a:rect r="r" b="b" t="t" l="l"/>
            <a:pathLst>
              <a:path h="2436731" w="1546217">
                <a:moveTo>
                  <a:pt x="0" y="0"/>
                </a:moveTo>
                <a:lnTo>
                  <a:pt x="1546217" y="0"/>
                </a:lnTo>
                <a:lnTo>
                  <a:pt x="1546217" y="2436731"/>
                </a:lnTo>
                <a:lnTo>
                  <a:pt x="0" y="243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5238" y="5605988"/>
            <a:ext cx="1561454" cy="1561454"/>
          </a:xfrm>
          <a:custGeom>
            <a:avLst/>
            <a:gdLst/>
            <a:ahLst/>
            <a:cxnLst/>
            <a:rect r="r" b="b" t="t" l="l"/>
            <a:pathLst>
              <a:path h="1561454" w="1561454">
                <a:moveTo>
                  <a:pt x="0" y="0"/>
                </a:moveTo>
                <a:lnTo>
                  <a:pt x="1561455" y="0"/>
                </a:lnTo>
                <a:lnTo>
                  <a:pt x="1561455" y="1561454"/>
                </a:lnTo>
                <a:lnTo>
                  <a:pt x="0" y="1561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6693" y="3119558"/>
            <a:ext cx="1561454" cy="2141646"/>
          </a:xfrm>
          <a:custGeom>
            <a:avLst/>
            <a:gdLst/>
            <a:ahLst/>
            <a:cxnLst/>
            <a:rect r="r" b="b" t="t" l="l"/>
            <a:pathLst>
              <a:path h="2141646" w="1561454">
                <a:moveTo>
                  <a:pt x="0" y="0"/>
                </a:moveTo>
                <a:lnTo>
                  <a:pt x="1561454" y="0"/>
                </a:lnTo>
                <a:lnTo>
                  <a:pt x="1561454" y="2141645"/>
                </a:lnTo>
                <a:lnTo>
                  <a:pt x="0" y="2141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7310" y="6061561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Alas =    x 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990691" y="6245250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6636" y="6230641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9757226" y="6378055"/>
            <a:ext cx="900059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0923985" y="3613839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Selimut =     x r x 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666862" y="3798849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757226" y="3958908"/>
            <a:ext cx="900059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1550400" y="7416960"/>
            <a:ext cx="10200409" cy="2170432"/>
            <a:chOff x="0" y="0"/>
            <a:chExt cx="2686527" cy="5716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86527" cy="571636"/>
            </a:xfrm>
            <a:custGeom>
              <a:avLst/>
              <a:gdLst/>
              <a:ahLst/>
              <a:cxnLst/>
              <a:rect r="r" b="b" t="t" l="l"/>
              <a:pathLst>
                <a:path h="571636" w="2686527">
                  <a:moveTo>
                    <a:pt x="38708" y="0"/>
                  </a:moveTo>
                  <a:lnTo>
                    <a:pt x="2647819" y="0"/>
                  </a:lnTo>
                  <a:cubicBezTo>
                    <a:pt x="2658085" y="0"/>
                    <a:pt x="2667931" y="4078"/>
                    <a:pt x="2675190" y="11337"/>
                  </a:cubicBezTo>
                  <a:cubicBezTo>
                    <a:pt x="2682449" y="18596"/>
                    <a:pt x="2686527" y="28442"/>
                    <a:pt x="2686527" y="38708"/>
                  </a:cubicBezTo>
                  <a:lnTo>
                    <a:pt x="2686527" y="532928"/>
                  </a:lnTo>
                  <a:cubicBezTo>
                    <a:pt x="2686527" y="554306"/>
                    <a:pt x="2669197" y="571636"/>
                    <a:pt x="2647819" y="571636"/>
                  </a:cubicBezTo>
                  <a:lnTo>
                    <a:pt x="38708" y="571636"/>
                  </a:lnTo>
                  <a:cubicBezTo>
                    <a:pt x="17330" y="571636"/>
                    <a:pt x="0" y="554306"/>
                    <a:pt x="0" y="532928"/>
                  </a:cubicBezTo>
                  <a:lnTo>
                    <a:pt x="0" y="38708"/>
                  </a:lnTo>
                  <a:cubicBezTo>
                    <a:pt x="0" y="17330"/>
                    <a:pt x="17330" y="0"/>
                    <a:pt x="387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887BB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86527" cy="609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8450" y="2867202"/>
            <a:ext cx="3208806" cy="4271289"/>
          </a:xfrm>
          <a:custGeom>
            <a:avLst/>
            <a:gdLst/>
            <a:ahLst/>
            <a:cxnLst/>
            <a:rect r="r" b="b" t="t" l="l"/>
            <a:pathLst>
              <a:path h="4271289" w="3208806">
                <a:moveTo>
                  <a:pt x="0" y="0"/>
                </a:moveTo>
                <a:lnTo>
                  <a:pt x="3208806" y="0"/>
                </a:lnTo>
                <a:lnTo>
                  <a:pt x="3208806" y="4271289"/>
                </a:lnTo>
                <a:lnTo>
                  <a:pt x="0" y="4271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32345" y="8263459"/>
            <a:ext cx="37278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   x r x s +     x 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40517" y="8454551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17617" y="8454551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21059" y="8454551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632345" y="8747394"/>
            <a:ext cx="46204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   x r x (s + r)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21059" y="8927867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H="true">
            <a:off x="4779710" y="4956185"/>
            <a:ext cx="1660513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328597" y="2894921"/>
            <a:ext cx="3389850" cy="3535697"/>
          </a:xfrm>
          <a:custGeom>
            <a:avLst/>
            <a:gdLst/>
            <a:ahLst/>
            <a:cxnLst/>
            <a:rect r="r" b="b" t="t" l="l"/>
            <a:pathLst>
              <a:path h="3535697" w="3389850">
                <a:moveTo>
                  <a:pt x="0" y="0"/>
                </a:moveTo>
                <a:lnTo>
                  <a:pt x="3389850" y="0"/>
                </a:lnTo>
                <a:lnTo>
                  <a:pt x="3389850" y="3535697"/>
                </a:lnTo>
                <a:lnTo>
                  <a:pt x="0" y="3535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11715" y="5406972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61410" y="4375749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1240" y="4347174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0265" y="6600753"/>
            <a:ext cx="327818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 = r  + t  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347647" y="675341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994947" y="675341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71801" y="675341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1506906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Kerucut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01804" y="7757616"/>
            <a:ext cx="96976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Permukaan Kerucut = Luas selimut + luas alas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4103" y="4099515"/>
            <a:ext cx="871741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Kerucut di samping memiliki jari-jari 21 cm dan tinggi 20 cm. Hitung luas permukaannya!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06906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Kerucut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34103" y="2872154"/>
            <a:ext cx="597894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Contoh Soal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8597" y="2894921"/>
            <a:ext cx="3389850" cy="3535697"/>
          </a:xfrm>
          <a:custGeom>
            <a:avLst/>
            <a:gdLst/>
            <a:ahLst/>
            <a:cxnLst/>
            <a:rect r="r" b="b" t="t" l="l"/>
            <a:pathLst>
              <a:path h="3535697" w="3389850">
                <a:moveTo>
                  <a:pt x="0" y="0"/>
                </a:moveTo>
                <a:lnTo>
                  <a:pt x="3389850" y="0"/>
                </a:lnTo>
                <a:lnTo>
                  <a:pt x="3389850" y="3535697"/>
                </a:lnTo>
                <a:lnTo>
                  <a:pt x="0" y="3535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1715" y="5406972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1410" y="4375749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1240" y="4347174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4103" y="5883159"/>
            <a:ext cx="30357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 = r  + 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854843" y="6018119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30880" y="6018119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64530" y="6018119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37955" y="6342528"/>
            <a:ext cx="30357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 = 21  + 20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854843" y="646796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13617" y="646796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1" y="0"/>
                </a:lnTo>
                <a:lnTo>
                  <a:pt x="9485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42866" y="646796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34103" y="6782847"/>
            <a:ext cx="30357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 = 441 + 400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854843" y="6927890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34103" y="7242774"/>
            <a:ext cx="30357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 = 441 + 400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54843" y="739234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37955" y="7723362"/>
            <a:ext cx="30357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=    841</a:t>
            </a:r>
          </a:p>
        </p:txBody>
      </p:sp>
      <p:sp>
        <p:nvSpPr>
          <p:cNvPr name="AutoShape 15" id="15"/>
          <p:cNvSpPr/>
          <p:nvPr/>
        </p:nvSpPr>
        <p:spPr>
          <a:xfrm flipH="true">
            <a:off x="6674402" y="7794534"/>
            <a:ext cx="692643" cy="0"/>
          </a:xfrm>
          <a:prstGeom prst="line">
            <a:avLst/>
          </a:prstGeom>
          <a:ln cap="flat" w="19050">
            <a:solidFill>
              <a:srgbClr val="3E1E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198785" y="7780981"/>
            <a:ext cx="815489" cy="480119"/>
          </a:xfrm>
          <a:custGeom>
            <a:avLst/>
            <a:gdLst/>
            <a:ahLst/>
            <a:cxnLst/>
            <a:rect r="r" b="b" t="t" l="l"/>
            <a:pathLst>
              <a:path h="480119" w="815489">
                <a:moveTo>
                  <a:pt x="0" y="0"/>
                </a:moveTo>
                <a:lnTo>
                  <a:pt x="815489" y="0"/>
                </a:lnTo>
                <a:lnTo>
                  <a:pt x="815489" y="480119"/>
                </a:lnTo>
                <a:lnTo>
                  <a:pt x="0" y="480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34103" y="8203950"/>
            <a:ext cx="30357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 = 29 cm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503680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Kerucut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34103" y="2872154"/>
            <a:ext cx="597894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Jawaban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03821" y="4109040"/>
            <a:ext cx="10319244" cy="9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Untuk mencari luas permukaan, diperlukan mencari nilai s dari r dan t yang sudah diketahui.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02835" y="8203950"/>
            <a:ext cx="442715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 = 3300 cm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206888" y="8338910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73765" y="6360097"/>
            <a:ext cx="530030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 =    x r (s + r)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588743" y="6544246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1"/>
                </a:lnTo>
                <a:lnTo>
                  <a:pt x="0" y="295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349961" y="5883159"/>
            <a:ext cx="6137965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Permukaan Kerucut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11831" y="7257383"/>
            <a:ext cx="442715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 x 3 (50)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11831" y="6840685"/>
            <a:ext cx="530030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22/7 x 21 (29 + 21)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11831" y="7737971"/>
            <a:ext cx="442715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66 x 50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28597" y="2894921"/>
            <a:ext cx="3389850" cy="3535697"/>
          </a:xfrm>
          <a:custGeom>
            <a:avLst/>
            <a:gdLst/>
            <a:ahLst/>
            <a:cxnLst/>
            <a:rect r="r" b="b" t="t" l="l"/>
            <a:pathLst>
              <a:path h="3535697" w="3389850">
                <a:moveTo>
                  <a:pt x="0" y="0"/>
                </a:moveTo>
                <a:lnTo>
                  <a:pt x="3389850" y="0"/>
                </a:lnTo>
                <a:lnTo>
                  <a:pt x="3389850" y="3535697"/>
                </a:lnTo>
                <a:lnTo>
                  <a:pt x="0" y="35356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11715" y="5406972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61410" y="4375749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1240" y="4347174"/>
            <a:ext cx="1288922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8850" y="2826658"/>
            <a:ext cx="3759525" cy="4206461"/>
          </a:xfrm>
          <a:custGeom>
            <a:avLst/>
            <a:gdLst/>
            <a:ahLst/>
            <a:cxnLst/>
            <a:rect r="r" b="b" t="t" l="l"/>
            <a:pathLst>
              <a:path h="4206461" w="3759525">
                <a:moveTo>
                  <a:pt x="0" y="0"/>
                </a:moveTo>
                <a:lnTo>
                  <a:pt x="3759525" y="0"/>
                </a:lnTo>
                <a:lnTo>
                  <a:pt x="3759525" y="4206462"/>
                </a:lnTo>
                <a:lnTo>
                  <a:pt x="0" y="420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08906" y="6076807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Alas 2 =    x 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170785" y="6264476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82601" y="6249867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8681977" y="6374251"/>
            <a:ext cx="1827361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" id="7"/>
          <p:cNvSpPr txBox="true"/>
          <p:nvPr/>
        </p:nvSpPr>
        <p:spPr>
          <a:xfrm rot="0">
            <a:off x="7496686" y="6288526"/>
            <a:ext cx="118529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7868613" y="6336151"/>
            <a:ext cx="0" cy="644084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Tabung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079765" y="4977514"/>
            <a:ext cx="2169232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1655175" y="7423645"/>
            <a:ext cx="10200409" cy="2170432"/>
            <a:chOff x="0" y="0"/>
            <a:chExt cx="2686527" cy="5716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86527" cy="571636"/>
            </a:xfrm>
            <a:custGeom>
              <a:avLst/>
              <a:gdLst/>
              <a:ahLst/>
              <a:cxnLst/>
              <a:rect r="r" b="b" t="t" l="l"/>
              <a:pathLst>
                <a:path h="571636" w="2686527">
                  <a:moveTo>
                    <a:pt x="38708" y="0"/>
                  </a:moveTo>
                  <a:lnTo>
                    <a:pt x="2647819" y="0"/>
                  </a:lnTo>
                  <a:cubicBezTo>
                    <a:pt x="2658085" y="0"/>
                    <a:pt x="2667931" y="4078"/>
                    <a:pt x="2675190" y="11337"/>
                  </a:cubicBezTo>
                  <a:cubicBezTo>
                    <a:pt x="2682449" y="18596"/>
                    <a:pt x="2686527" y="28442"/>
                    <a:pt x="2686527" y="38708"/>
                  </a:cubicBezTo>
                  <a:lnTo>
                    <a:pt x="2686527" y="532928"/>
                  </a:lnTo>
                  <a:cubicBezTo>
                    <a:pt x="2686527" y="554306"/>
                    <a:pt x="2669197" y="571636"/>
                    <a:pt x="2647819" y="571636"/>
                  </a:cubicBezTo>
                  <a:lnTo>
                    <a:pt x="38708" y="571636"/>
                  </a:lnTo>
                  <a:cubicBezTo>
                    <a:pt x="17330" y="571636"/>
                    <a:pt x="0" y="554306"/>
                    <a:pt x="0" y="532928"/>
                  </a:cubicBezTo>
                  <a:lnTo>
                    <a:pt x="0" y="38708"/>
                  </a:lnTo>
                  <a:cubicBezTo>
                    <a:pt x="0" y="17330"/>
                    <a:pt x="17330" y="0"/>
                    <a:pt x="387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887BB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86527" cy="609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55355" y="8216426"/>
            <a:ext cx="50759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 = (    x r  ) + (    x r  ) + (p x l)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163128" y="8420939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97148" y="8415855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77117" y="8430464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12291" y="8415855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679180" y="8771008"/>
            <a:ext cx="45024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2(    x r  ) + (p x l)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406167" y="8957143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52962" y="8950761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079541" y="4680070"/>
            <a:ext cx="118529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9942" y="3561520"/>
            <a:ext cx="118529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08906" y="4641860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Selimut = p x l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9896483" y="5025139"/>
            <a:ext cx="612855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6" id="26"/>
          <p:cNvSpPr txBox="true"/>
          <p:nvPr/>
        </p:nvSpPr>
        <p:spPr>
          <a:xfrm rot="0">
            <a:off x="10708906" y="3021087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Alas 1 =    x 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170785" y="3199231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982601" y="3156047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9" id="29"/>
          <p:cNvSpPr/>
          <p:nvPr/>
        </p:nvSpPr>
        <p:spPr>
          <a:xfrm flipV="true">
            <a:off x="8681977" y="3366156"/>
            <a:ext cx="1827361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 flipV="true">
            <a:off x="7868613" y="2826658"/>
            <a:ext cx="0" cy="644084"/>
          </a:xfrm>
          <a:prstGeom prst="line">
            <a:avLst/>
          </a:prstGeom>
          <a:ln cap="flat" w="38100">
            <a:solidFill>
              <a:srgbClr val="887BB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7496686" y="2892262"/>
            <a:ext cx="118529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14756" y="3928496"/>
            <a:ext cx="1392351" cy="2194249"/>
          </a:xfrm>
          <a:custGeom>
            <a:avLst/>
            <a:gdLst/>
            <a:ahLst/>
            <a:cxnLst/>
            <a:rect r="r" b="b" t="t" l="l"/>
            <a:pathLst>
              <a:path h="2194249" w="1392351">
                <a:moveTo>
                  <a:pt x="0" y="0"/>
                </a:moveTo>
                <a:lnTo>
                  <a:pt x="1392351" y="0"/>
                </a:lnTo>
                <a:lnTo>
                  <a:pt x="1392351" y="2194249"/>
                </a:lnTo>
                <a:lnTo>
                  <a:pt x="0" y="21942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801804" y="7757616"/>
            <a:ext cx="96976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Permukaan Tabung = Luas selimut + luas alas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Tabung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80116" y="2872154"/>
            <a:ext cx="508026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Contoh Soal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18342" y="4099515"/>
            <a:ext cx="89859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Tabung di samping memiliki jari-jari 7 cm dan tinggi 10 cm. Hitung luas permukaannya!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4756" y="3928496"/>
            <a:ext cx="1392351" cy="2194249"/>
          </a:xfrm>
          <a:custGeom>
            <a:avLst/>
            <a:gdLst/>
            <a:ahLst/>
            <a:cxnLst/>
            <a:rect r="r" b="b" t="t" l="l"/>
            <a:pathLst>
              <a:path h="2194249" w="1392351">
                <a:moveTo>
                  <a:pt x="0" y="0"/>
                </a:moveTo>
                <a:lnTo>
                  <a:pt x="1392351" y="0"/>
                </a:lnTo>
                <a:lnTo>
                  <a:pt x="1392351" y="2194249"/>
                </a:lnTo>
                <a:lnTo>
                  <a:pt x="0" y="21942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Tabung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08105" y="4138846"/>
            <a:ext cx="7833196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Tinggi Tabung = Lebar Selimut = 10 cm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08105" y="5092897"/>
            <a:ext cx="73335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Diameter Lingkaran = Panjang Selimut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08105" y="6023534"/>
            <a:ext cx="73335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Panjang Selimut =    x 2r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96896" y="6201678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97523" y="6449803"/>
            <a:ext cx="3995046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22/7 x 2 x 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97523" y="6866072"/>
            <a:ext cx="3995046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 x 2 = 44 cm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08105" y="7775677"/>
            <a:ext cx="999943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Permukaan Tabung = 2(    x r  ) + (p x l)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84489" y="7966177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34770" y="7910637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41284" y="8256265"/>
            <a:ext cx="697898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2( 22/7 x 7  ) + (44 x 10)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92357" y="8391225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41284" y="8743977"/>
            <a:ext cx="6978981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2( 22 x 7 ) + (440) = 748 cm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253979" y="8878937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508105" y="2872154"/>
            <a:ext cx="2881446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Jawaban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14756" y="3928496"/>
            <a:ext cx="1392351" cy="2194249"/>
          </a:xfrm>
          <a:custGeom>
            <a:avLst/>
            <a:gdLst/>
            <a:ahLst/>
            <a:cxnLst/>
            <a:rect r="r" b="b" t="t" l="l"/>
            <a:pathLst>
              <a:path h="2194249" w="1392351">
                <a:moveTo>
                  <a:pt x="0" y="0"/>
                </a:moveTo>
                <a:lnTo>
                  <a:pt x="1392351" y="0"/>
                </a:lnTo>
                <a:lnTo>
                  <a:pt x="1392351" y="2194249"/>
                </a:lnTo>
                <a:lnTo>
                  <a:pt x="0" y="21942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081" y="4387618"/>
            <a:ext cx="2452379" cy="2452379"/>
          </a:xfrm>
          <a:custGeom>
            <a:avLst/>
            <a:gdLst/>
            <a:ahLst/>
            <a:cxnLst/>
            <a:rect r="r" b="b" t="t" l="l"/>
            <a:pathLst>
              <a:path h="2452379" w="2452379">
                <a:moveTo>
                  <a:pt x="0" y="0"/>
                </a:moveTo>
                <a:lnTo>
                  <a:pt x="2452378" y="0"/>
                </a:lnTo>
                <a:lnTo>
                  <a:pt x="2452378" y="2452379"/>
                </a:lnTo>
                <a:lnTo>
                  <a:pt x="0" y="2452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4736" y="4099515"/>
            <a:ext cx="6799903" cy="211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Meskipun jaring-jaring bola tidak dapat direpresentasikan, namun luas permukaan bola dapat dihitung dengan  rumus: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Bola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778337" y="6682586"/>
            <a:ext cx="6702998" cy="1335230"/>
            <a:chOff x="0" y="0"/>
            <a:chExt cx="1765399" cy="351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5399" cy="351665"/>
            </a:xfrm>
            <a:custGeom>
              <a:avLst/>
              <a:gdLst/>
              <a:ahLst/>
              <a:cxnLst/>
              <a:rect r="r" b="b" t="t" l="l"/>
              <a:pathLst>
                <a:path h="351665" w="1765399">
                  <a:moveTo>
                    <a:pt x="58905" y="0"/>
                  </a:moveTo>
                  <a:lnTo>
                    <a:pt x="1706494" y="0"/>
                  </a:lnTo>
                  <a:cubicBezTo>
                    <a:pt x="1739026" y="0"/>
                    <a:pt x="1765399" y="26373"/>
                    <a:pt x="1765399" y="58905"/>
                  </a:cubicBezTo>
                  <a:lnTo>
                    <a:pt x="1765399" y="292761"/>
                  </a:lnTo>
                  <a:cubicBezTo>
                    <a:pt x="1765399" y="308383"/>
                    <a:pt x="1759193" y="323366"/>
                    <a:pt x="1748146" y="334413"/>
                  </a:cubicBezTo>
                  <a:cubicBezTo>
                    <a:pt x="1737099" y="345459"/>
                    <a:pt x="1722117" y="351665"/>
                    <a:pt x="1706494" y="351665"/>
                  </a:cubicBezTo>
                  <a:lnTo>
                    <a:pt x="58905" y="351665"/>
                  </a:lnTo>
                  <a:cubicBezTo>
                    <a:pt x="26373" y="351665"/>
                    <a:pt x="0" y="325293"/>
                    <a:pt x="0" y="292761"/>
                  </a:cubicBezTo>
                  <a:lnTo>
                    <a:pt x="0" y="58905"/>
                  </a:lnTo>
                  <a:cubicBezTo>
                    <a:pt x="0" y="43282"/>
                    <a:pt x="6206" y="28300"/>
                    <a:pt x="17253" y="17253"/>
                  </a:cubicBezTo>
                  <a:cubicBezTo>
                    <a:pt x="28300" y="6206"/>
                    <a:pt x="43282" y="0"/>
                    <a:pt x="58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887BB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65399" cy="389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44609" y="7064464"/>
            <a:ext cx="9570454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Permukaan Bola = 4 x    x 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187690" y="7252723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07049" y="7238114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1" y="0"/>
                </a:lnTo>
                <a:lnTo>
                  <a:pt x="9485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37069" y="4424917"/>
            <a:ext cx="2415080" cy="2415080"/>
          </a:xfrm>
          <a:custGeom>
            <a:avLst/>
            <a:gdLst/>
            <a:ahLst/>
            <a:cxnLst/>
            <a:rect r="r" b="b" t="t" l="l"/>
            <a:pathLst>
              <a:path h="2415080" w="2415080">
                <a:moveTo>
                  <a:pt x="0" y="0"/>
                </a:moveTo>
                <a:lnTo>
                  <a:pt x="2415080" y="0"/>
                </a:lnTo>
                <a:lnTo>
                  <a:pt x="2415080" y="2415080"/>
                </a:lnTo>
                <a:lnTo>
                  <a:pt x="0" y="2415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69103" y="4681181"/>
            <a:ext cx="562189" cy="44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b="true" sz="2620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4124232" y="5566182"/>
            <a:ext cx="655671" cy="0"/>
          </a:xfrm>
          <a:prstGeom prst="line">
            <a:avLst/>
          </a:prstGeom>
          <a:ln cap="flat" w="95250">
            <a:solidFill>
              <a:srgbClr val="887BB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4947" y="5958097"/>
            <a:ext cx="9570454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Luas Permukaan Bola = 4 x    x 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07667" y="6438685"/>
            <a:ext cx="3098976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4 x 22/7 x 7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18459" y="6573645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7122" y="6146356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96881" y="6131747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07667" y="6884594"/>
            <a:ext cx="3098976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4 x 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7667" y="7312494"/>
            <a:ext cx="3098976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88 cm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52780" y="7447454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478331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Luas Permukaan Bola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25003" y="4148401"/>
            <a:ext cx="743799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Sebuah bola memiliki jari-jari 7 cm. Berapakah luas permukaannya?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5003" y="2872154"/>
            <a:ext cx="597894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Contoh Soal dan Jawaban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8081" y="4387618"/>
            <a:ext cx="2452379" cy="2452379"/>
          </a:xfrm>
          <a:custGeom>
            <a:avLst/>
            <a:gdLst/>
            <a:ahLst/>
            <a:cxnLst/>
            <a:rect r="r" b="b" t="t" l="l"/>
            <a:pathLst>
              <a:path h="2452379" w="2452379">
                <a:moveTo>
                  <a:pt x="0" y="0"/>
                </a:moveTo>
                <a:lnTo>
                  <a:pt x="2452378" y="0"/>
                </a:lnTo>
                <a:lnTo>
                  <a:pt x="2452378" y="2452379"/>
                </a:lnTo>
                <a:lnTo>
                  <a:pt x="0" y="24523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7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4902" y="3838655"/>
            <a:ext cx="10184982" cy="26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Menghitung Volume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71930" y="4730711"/>
            <a:ext cx="1546217" cy="2436731"/>
          </a:xfrm>
          <a:custGeom>
            <a:avLst/>
            <a:gdLst/>
            <a:ahLst/>
            <a:cxnLst/>
            <a:rect r="r" b="b" t="t" l="l"/>
            <a:pathLst>
              <a:path h="2436731" w="1546217">
                <a:moveTo>
                  <a:pt x="0" y="0"/>
                </a:moveTo>
                <a:lnTo>
                  <a:pt x="1546217" y="0"/>
                </a:lnTo>
                <a:lnTo>
                  <a:pt x="1546217" y="2436731"/>
                </a:lnTo>
                <a:lnTo>
                  <a:pt x="0" y="243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5238" y="5605988"/>
            <a:ext cx="1561454" cy="1561454"/>
          </a:xfrm>
          <a:custGeom>
            <a:avLst/>
            <a:gdLst/>
            <a:ahLst/>
            <a:cxnLst/>
            <a:rect r="r" b="b" t="t" l="l"/>
            <a:pathLst>
              <a:path h="1561454" w="1561454">
                <a:moveTo>
                  <a:pt x="0" y="0"/>
                </a:moveTo>
                <a:lnTo>
                  <a:pt x="1561455" y="0"/>
                </a:lnTo>
                <a:lnTo>
                  <a:pt x="1561455" y="1561454"/>
                </a:lnTo>
                <a:lnTo>
                  <a:pt x="0" y="1561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6693" y="3119558"/>
            <a:ext cx="1561454" cy="2141646"/>
          </a:xfrm>
          <a:custGeom>
            <a:avLst/>
            <a:gdLst/>
            <a:ahLst/>
            <a:cxnLst/>
            <a:rect r="r" b="b" t="t" l="l"/>
            <a:pathLst>
              <a:path h="2141646" w="1561454">
                <a:moveTo>
                  <a:pt x="0" y="0"/>
                </a:moveTo>
                <a:lnTo>
                  <a:pt x="1561454" y="0"/>
                </a:lnTo>
                <a:lnTo>
                  <a:pt x="1561454" y="2141645"/>
                </a:lnTo>
                <a:lnTo>
                  <a:pt x="0" y="2141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Volume Kerucut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72539" y="4651431"/>
            <a:ext cx="545642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kerucut dapat dicari dengan rumus berikut: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81179" y="4934236"/>
            <a:ext cx="3338860" cy="3482514"/>
          </a:xfrm>
          <a:custGeom>
            <a:avLst/>
            <a:gdLst/>
            <a:ahLst/>
            <a:cxnLst/>
            <a:rect r="r" b="b" t="t" l="l"/>
            <a:pathLst>
              <a:path h="3482514" w="3338860">
                <a:moveTo>
                  <a:pt x="0" y="0"/>
                </a:moveTo>
                <a:lnTo>
                  <a:pt x="3338860" y="0"/>
                </a:lnTo>
                <a:lnTo>
                  <a:pt x="3338860" y="3482514"/>
                </a:lnTo>
                <a:lnTo>
                  <a:pt x="0" y="3482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87762" y="7490949"/>
            <a:ext cx="1141050" cy="60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7"/>
              </a:lnSpc>
            </a:pPr>
            <a:r>
              <a:rPr lang="en-US" sz="3541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55824" y="6327217"/>
            <a:ext cx="1141050" cy="60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7"/>
              </a:lnSpc>
            </a:pPr>
            <a:r>
              <a:rPr lang="en-US" sz="3541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72539" y="6161170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= 1/3 x    x r  x 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385690" y="6358364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3010" y="6343755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8081" y="2843579"/>
            <a:ext cx="5691885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Rumus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0931" y="4610167"/>
            <a:ext cx="2979229" cy="4086225"/>
          </a:xfrm>
          <a:custGeom>
            <a:avLst/>
            <a:gdLst/>
            <a:ahLst/>
            <a:cxnLst/>
            <a:rect r="r" b="b" t="t" l="l"/>
            <a:pathLst>
              <a:path h="4086225" w="2979229">
                <a:moveTo>
                  <a:pt x="0" y="0"/>
                </a:moveTo>
                <a:lnTo>
                  <a:pt x="2979229" y="0"/>
                </a:lnTo>
                <a:lnTo>
                  <a:pt x="2979229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Volume Kerucut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15531" y="6439268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= 1/3 x    x r  x 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11849" y="6626937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54797" y="6621853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63475" y="7053206"/>
            <a:ext cx="3908485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1/3 x 22/7 x 7  x 9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930950" y="7196081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1" y="0"/>
                </a:lnTo>
                <a:lnTo>
                  <a:pt x="9485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63475" y="7667143"/>
            <a:ext cx="3908485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 x 7 x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63475" y="8281081"/>
            <a:ext cx="3908485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462 cm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858077" y="8408916"/>
            <a:ext cx="94981" cy="169609"/>
          </a:xfrm>
          <a:custGeom>
            <a:avLst/>
            <a:gdLst/>
            <a:ahLst/>
            <a:cxnLst/>
            <a:rect r="r" b="b" t="t" l="l"/>
            <a:pathLst>
              <a:path h="169609" w="94981">
                <a:moveTo>
                  <a:pt x="0" y="0"/>
                </a:moveTo>
                <a:lnTo>
                  <a:pt x="94981" y="0"/>
                </a:lnTo>
                <a:lnTo>
                  <a:pt x="94981" y="169609"/>
                </a:lnTo>
                <a:lnTo>
                  <a:pt x="0" y="169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4614" y="5043483"/>
            <a:ext cx="3338860" cy="3482514"/>
          </a:xfrm>
          <a:custGeom>
            <a:avLst/>
            <a:gdLst/>
            <a:ahLst/>
            <a:cxnLst/>
            <a:rect r="r" b="b" t="t" l="l"/>
            <a:pathLst>
              <a:path h="3482514" w="3338860">
                <a:moveTo>
                  <a:pt x="0" y="0"/>
                </a:moveTo>
                <a:lnTo>
                  <a:pt x="3338861" y="0"/>
                </a:lnTo>
                <a:lnTo>
                  <a:pt x="3338861" y="3482514"/>
                </a:lnTo>
                <a:lnTo>
                  <a:pt x="0" y="3482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81198" y="7600196"/>
            <a:ext cx="1141050" cy="60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7"/>
              </a:lnSpc>
            </a:pPr>
            <a:r>
              <a:rPr lang="en-US" sz="3541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49260" y="6436464"/>
            <a:ext cx="1141050" cy="60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7"/>
              </a:lnSpc>
            </a:pPr>
            <a:r>
              <a:rPr lang="en-US" sz="3541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5531" y="4099515"/>
            <a:ext cx="693873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Jika diketahui r = 7 cm dan t = 9 cm. Berapakah volume kerucut di samping?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8081" y="2843579"/>
            <a:ext cx="6730788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Contoh Soal dan Jawaban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081" y="5403941"/>
            <a:ext cx="1822484" cy="2872110"/>
          </a:xfrm>
          <a:custGeom>
            <a:avLst/>
            <a:gdLst/>
            <a:ahLst/>
            <a:cxnLst/>
            <a:rect r="r" b="b" t="t" l="l"/>
            <a:pathLst>
              <a:path h="2872110" w="1822484">
                <a:moveTo>
                  <a:pt x="0" y="0"/>
                </a:moveTo>
                <a:lnTo>
                  <a:pt x="1822484" y="0"/>
                </a:lnTo>
                <a:lnTo>
                  <a:pt x="1822484" y="2872111"/>
                </a:lnTo>
                <a:lnTo>
                  <a:pt x="0" y="2872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8081" y="2843579"/>
            <a:ext cx="5691885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Rumus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Volume Tabung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43320" y="5019443"/>
            <a:ext cx="545642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tabung dapat dicari dengan rumus berikut: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654343" y="4438971"/>
            <a:ext cx="3759525" cy="4206461"/>
          </a:xfrm>
          <a:custGeom>
            <a:avLst/>
            <a:gdLst/>
            <a:ahLst/>
            <a:cxnLst/>
            <a:rect r="r" b="b" t="t" l="l"/>
            <a:pathLst>
              <a:path h="4206461" w="3759525">
                <a:moveTo>
                  <a:pt x="0" y="0"/>
                </a:moveTo>
                <a:lnTo>
                  <a:pt x="3759525" y="0"/>
                </a:lnTo>
                <a:lnTo>
                  <a:pt x="3759525" y="4206462"/>
                </a:lnTo>
                <a:lnTo>
                  <a:pt x="0" y="420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43320" y="6561911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=     x r  x 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40040" y="6749579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1"/>
                </a:lnTo>
                <a:lnTo>
                  <a:pt x="0" y="295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14578" y="6696870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6534105" y="4438971"/>
            <a:ext cx="0" cy="661036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351818" y="4562270"/>
            <a:ext cx="75637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68377" y="6244758"/>
            <a:ext cx="75637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Volume Tabung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6561911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=     x r  x 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950245" y="6740054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200" y="0"/>
                </a:lnTo>
                <a:lnTo>
                  <a:pt x="273200" y="295751"/>
                </a:lnTo>
                <a:lnTo>
                  <a:pt x="0" y="295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96208" y="6696870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73811" y="7042498"/>
            <a:ext cx="344672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22/7 x 7  x 15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60018" y="7177458"/>
            <a:ext cx="94850" cy="162484"/>
          </a:xfrm>
          <a:custGeom>
            <a:avLst/>
            <a:gdLst/>
            <a:ahLst/>
            <a:cxnLst/>
            <a:rect r="r" b="b" t="t" l="l"/>
            <a:pathLst>
              <a:path h="162484" w="94850">
                <a:moveTo>
                  <a:pt x="0" y="0"/>
                </a:moveTo>
                <a:lnTo>
                  <a:pt x="94850" y="0"/>
                </a:lnTo>
                <a:lnTo>
                  <a:pt x="94850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83336" y="7599286"/>
            <a:ext cx="344672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22 x 7 x 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83336" y="8079874"/>
            <a:ext cx="3446722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2310 cm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473918" y="8213224"/>
            <a:ext cx="94981" cy="169609"/>
          </a:xfrm>
          <a:custGeom>
            <a:avLst/>
            <a:gdLst/>
            <a:ahLst/>
            <a:cxnLst/>
            <a:rect r="r" b="b" t="t" l="l"/>
            <a:pathLst>
              <a:path h="169609" w="94981">
                <a:moveTo>
                  <a:pt x="0" y="0"/>
                </a:moveTo>
                <a:lnTo>
                  <a:pt x="94981" y="0"/>
                </a:lnTo>
                <a:lnTo>
                  <a:pt x="94981" y="169609"/>
                </a:lnTo>
                <a:lnTo>
                  <a:pt x="0" y="169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54343" y="4438971"/>
            <a:ext cx="3759525" cy="4206461"/>
          </a:xfrm>
          <a:custGeom>
            <a:avLst/>
            <a:gdLst/>
            <a:ahLst/>
            <a:cxnLst/>
            <a:rect r="r" b="b" t="t" l="l"/>
            <a:pathLst>
              <a:path h="4206461" w="3759525">
                <a:moveTo>
                  <a:pt x="0" y="0"/>
                </a:moveTo>
                <a:lnTo>
                  <a:pt x="3759525" y="0"/>
                </a:lnTo>
                <a:lnTo>
                  <a:pt x="3759525" y="4206462"/>
                </a:lnTo>
                <a:lnTo>
                  <a:pt x="0" y="4206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6534105" y="4438971"/>
            <a:ext cx="0" cy="661036"/>
          </a:xfrm>
          <a:prstGeom prst="line">
            <a:avLst/>
          </a:prstGeom>
          <a:ln cap="flat" w="38100">
            <a:solidFill>
              <a:srgbClr val="004AA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351818" y="4562270"/>
            <a:ext cx="75637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68377" y="6244758"/>
            <a:ext cx="756377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486380"/>
            <a:ext cx="6245226" cy="158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Tabung di samping memiliki jari-jari 7 cm dan tinggi 15 cm. Hitunglah volumenya!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8081" y="2843579"/>
            <a:ext cx="6730788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Contoh Soal dan Jawaban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953347" y="9000205"/>
            <a:ext cx="1040856" cy="1040856"/>
          </a:xfrm>
          <a:custGeom>
            <a:avLst/>
            <a:gdLst/>
            <a:ahLst/>
            <a:cxnLst/>
            <a:rect r="r" b="b" t="t" l="l"/>
            <a:pathLst>
              <a:path h="1040856" w="1040856">
                <a:moveTo>
                  <a:pt x="0" y="0"/>
                </a:moveTo>
                <a:lnTo>
                  <a:pt x="1040857" y="0"/>
                </a:lnTo>
                <a:lnTo>
                  <a:pt x="1040857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8081" y="5403941"/>
            <a:ext cx="1822484" cy="2872110"/>
          </a:xfrm>
          <a:custGeom>
            <a:avLst/>
            <a:gdLst/>
            <a:ahLst/>
            <a:cxnLst/>
            <a:rect r="r" b="b" t="t" l="l"/>
            <a:pathLst>
              <a:path h="2872110" w="1822484">
                <a:moveTo>
                  <a:pt x="0" y="0"/>
                </a:moveTo>
                <a:lnTo>
                  <a:pt x="1822484" y="0"/>
                </a:lnTo>
                <a:lnTo>
                  <a:pt x="1822484" y="2872111"/>
                </a:lnTo>
                <a:lnTo>
                  <a:pt x="0" y="28721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80402" y="5960272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= 4/3 x     x 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00456" y="6095232"/>
            <a:ext cx="90991" cy="162484"/>
          </a:xfrm>
          <a:custGeom>
            <a:avLst/>
            <a:gdLst/>
            <a:ahLst/>
            <a:cxnLst/>
            <a:rect r="r" b="b" t="t" l="l"/>
            <a:pathLst>
              <a:path h="162484" w="90991">
                <a:moveTo>
                  <a:pt x="0" y="0"/>
                </a:moveTo>
                <a:lnTo>
                  <a:pt x="90991" y="0"/>
                </a:lnTo>
                <a:lnTo>
                  <a:pt x="9099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24787" y="6139052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0"/>
                </a:lnTo>
                <a:lnTo>
                  <a:pt x="0" y="29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37069" y="4424917"/>
            <a:ext cx="2415080" cy="2415080"/>
          </a:xfrm>
          <a:custGeom>
            <a:avLst/>
            <a:gdLst/>
            <a:ahLst/>
            <a:cxnLst/>
            <a:rect r="r" b="b" t="t" l="l"/>
            <a:pathLst>
              <a:path h="2415080" w="2415080">
                <a:moveTo>
                  <a:pt x="0" y="0"/>
                </a:moveTo>
                <a:lnTo>
                  <a:pt x="2415080" y="0"/>
                </a:lnTo>
                <a:lnTo>
                  <a:pt x="2415080" y="2415080"/>
                </a:lnTo>
                <a:lnTo>
                  <a:pt x="0" y="241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69103" y="4681181"/>
            <a:ext cx="562189" cy="44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b="true" sz="2620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081" y="2843579"/>
            <a:ext cx="5691885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Rumus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0402" y="4376057"/>
            <a:ext cx="545642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bola dapat dicari dengan rumus berikut: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8081" y="4387618"/>
            <a:ext cx="2452379" cy="2452379"/>
          </a:xfrm>
          <a:custGeom>
            <a:avLst/>
            <a:gdLst/>
            <a:ahLst/>
            <a:cxnLst/>
            <a:rect r="r" b="b" t="t" l="l"/>
            <a:pathLst>
              <a:path h="2452379" w="2452379">
                <a:moveTo>
                  <a:pt x="0" y="0"/>
                </a:moveTo>
                <a:lnTo>
                  <a:pt x="2452378" y="0"/>
                </a:lnTo>
                <a:lnTo>
                  <a:pt x="2452378" y="2452379"/>
                </a:lnTo>
                <a:lnTo>
                  <a:pt x="0" y="24523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Volume Bola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6782847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Volume = 4/3 x     x 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763870" y="6917806"/>
            <a:ext cx="90991" cy="162484"/>
          </a:xfrm>
          <a:custGeom>
            <a:avLst/>
            <a:gdLst/>
            <a:ahLst/>
            <a:cxnLst/>
            <a:rect r="r" b="b" t="t" l="l"/>
            <a:pathLst>
              <a:path h="162484" w="90991">
                <a:moveTo>
                  <a:pt x="0" y="0"/>
                </a:moveTo>
                <a:lnTo>
                  <a:pt x="90991" y="0"/>
                </a:lnTo>
                <a:lnTo>
                  <a:pt x="9099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88385" y="6961626"/>
            <a:ext cx="273199" cy="295750"/>
          </a:xfrm>
          <a:custGeom>
            <a:avLst/>
            <a:gdLst/>
            <a:ahLst/>
            <a:cxnLst/>
            <a:rect r="r" b="b" t="t" l="l"/>
            <a:pathLst>
              <a:path h="295750" w="273199">
                <a:moveTo>
                  <a:pt x="0" y="0"/>
                </a:moveTo>
                <a:lnTo>
                  <a:pt x="273199" y="0"/>
                </a:lnTo>
                <a:lnTo>
                  <a:pt x="273199" y="295751"/>
                </a:lnTo>
                <a:lnTo>
                  <a:pt x="0" y="295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67248" y="7263651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4/3 x 22/7 x 21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36356" y="7398611"/>
            <a:ext cx="90991" cy="162484"/>
          </a:xfrm>
          <a:custGeom>
            <a:avLst/>
            <a:gdLst/>
            <a:ahLst/>
            <a:cxnLst/>
            <a:rect r="r" b="b" t="t" l="l"/>
            <a:pathLst>
              <a:path h="162484" w="90991">
                <a:moveTo>
                  <a:pt x="0" y="0"/>
                </a:moveTo>
                <a:lnTo>
                  <a:pt x="90991" y="0"/>
                </a:lnTo>
                <a:lnTo>
                  <a:pt x="9099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67248" y="7744239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4 x 22 x 1 x 21 x 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7248" y="8210964"/>
            <a:ext cx="5057108" cy="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= 38.808 cm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892961" y="8345923"/>
            <a:ext cx="90991" cy="162484"/>
          </a:xfrm>
          <a:custGeom>
            <a:avLst/>
            <a:gdLst/>
            <a:ahLst/>
            <a:cxnLst/>
            <a:rect r="r" b="b" t="t" l="l"/>
            <a:pathLst>
              <a:path h="162484" w="90991">
                <a:moveTo>
                  <a:pt x="0" y="0"/>
                </a:moveTo>
                <a:lnTo>
                  <a:pt x="90991" y="0"/>
                </a:lnTo>
                <a:lnTo>
                  <a:pt x="90991" y="162484"/>
                </a:lnTo>
                <a:lnTo>
                  <a:pt x="0" y="16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37069" y="4424917"/>
            <a:ext cx="2415080" cy="2415080"/>
          </a:xfrm>
          <a:custGeom>
            <a:avLst/>
            <a:gdLst/>
            <a:ahLst/>
            <a:cxnLst/>
            <a:rect r="r" b="b" t="t" l="l"/>
            <a:pathLst>
              <a:path h="2415080" w="2415080">
                <a:moveTo>
                  <a:pt x="0" y="0"/>
                </a:moveTo>
                <a:lnTo>
                  <a:pt x="2415080" y="0"/>
                </a:lnTo>
                <a:lnTo>
                  <a:pt x="2415080" y="2415080"/>
                </a:lnTo>
                <a:lnTo>
                  <a:pt x="0" y="241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69103" y="4681181"/>
            <a:ext cx="562189" cy="44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b="true" sz="2620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494855"/>
            <a:ext cx="12254240" cy="8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3E1E73"/>
                </a:solidFill>
                <a:latin typeface="Sifonn"/>
                <a:ea typeface="Sifonn"/>
                <a:cs typeface="Sifonn"/>
                <a:sym typeface="Sifonn"/>
              </a:rPr>
              <a:t>Menghitung Volume Bola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125275"/>
            <a:ext cx="545642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1E73"/>
                </a:solidFill>
                <a:latin typeface="Bayan"/>
                <a:ea typeface="Bayan"/>
                <a:cs typeface="Bayan"/>
                <a:sym typeface="Bayan"/>
              </a:rPr>
              <a:t>Sebuah bola memiliki ukuran jari-jari 21 cm. Berapakah volume bola tersebut?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8081" y="2843579"/>
            <a:ext cx="6730788" cy="6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3E1E73"/>
                </a:solidFill>
                <a:latin typeface="Bayan Bold"/>
                <a:ea typeface="Bayan Bold"/>
                <a:cs typeface="Bayan Bold"/>
                <a:sym typeface="Bayan Bold"/>
              </a:rPr>
              <a:t>Contoh Soal dan Jawaban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051354" y="8416750"/>
            <a:ext cx="1030699" cy="1624311"/>
          </a:xfrm>
          <a:custGeom>
            <a:avLst/>
            <a:gdLst/>
            <a:ahLst/>
            <a:cxnLst/>
            <a:rect r="r" b="b" t="t" l="l"/>
            <a:pathLst>
              <a:path h="1624311" w="1030699">
                <a:moveTo>
                  <a:pt x="0" y="0"/>
                </a:moveTo>
                <a:lnTo>
                  <a:pt x="1030699" y="0"/>
                </a:lnTo>
                <a:lnTo>
                  <a:pt x="1030699" y="1624311"/>
                </a:lnTo>
                <a:lnTo>
                  <a:pt x="0" y="1624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031671" y="7350201"/>
            <a:ext cx="1040856" cy="1427608"/>
          </a:xfrm>
          <a:custGeom>
            <a:avLst/>
            <a:gdLst/>
            <a:ahLst/>
            <a:cxnLst/>
            <a:rect r="r" b="b" t="t" l="l"/>
            <a:pathLst>
              <a:path h="1427608" w="1040856">
                <a:moveTo>
                  <a:pt x="0" y="0"/>
                </a:moveTo>
                <a:lnTo>
                  <a:pt x="1040857" y="0"/>
                </a:lnTo>
                <a:lnTo>
                  <a:pt x="1040857" y="1427608"/>
                </a:lnTo>
                <a:lnTo>
                  <a:pt x="0" y="1427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8081" y="4387618"/>
            <a:ext cx="2452379" cy="2452379"/>
          </a:xfrm>
          <a:custGeom>
            <a:avLst/>
            <a:gdLst/>
            <a:ahLst/>
            <a:cxnLst/>
            <a:rect r="r" b="b" t="t" l="l"/>
            <a:pathLst>
              <a:path h="2452379" w="2452379">
                <a:moveTo>
                  <a:pt x="0" y="0"/>
                </a:moveTo>
                <a:lnTo>
                  <a:pt x="2452378" y="0"/>
                </a:lnTo>
                <a:lnTo>
                  <a:pt x="2452378" y="2452379"/>
                </a:lnTo>
                <a:lnTo>
                  <a:pt x="0" y="24523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7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1888" y="397543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37107" y="1229465"/>
            <a:ext cx="2636759" cy="3616502"/>
          </a:xfrm>
          <a:custGeom>
            <a:avLst/>
            <a:gdLst/>
            <a:ahLst/>
            <a:cxnLst/>
            <a:rect r="r" b="b" t="t" l="l"/>
            <a:pathLst>
              <a:path h="3616502" w="2636759">
                <a:moveTo>
                  <a:pt x="0" y="0"/>
                </a:moveTo>
                <a:lnTo>
                  <a:pt x="2636759" y="0"/>
                </a:lnTo>
                <a:lnTo>
                  <a:pt x="2636759" y="3616502"/>
                </a:lnTo>
                <a:lnTo>
                  <a:pt x="0" y="3616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62067" y="4183200"/>
            <a:ext cx="3565502" cy="3565502"/>
          </a:xfrm>
          <a:custGeom>
            <a:avLst/>
            <a:gdLst/>
            <a:ahLst/>
            <a:cxnLst/>
            <a:rect r="r" b="b" t="t" l="l"/>
            <a:pathLst>
              <a:path h="3565502" w="3565502">
                <a:moveTo>
                  <a:pt x="0" y="0"/>
                </a:moveTo>
                <a:lnTo>
                  <a:pt x="3565501" y="0"/>
                </a:lnTo>
                <a:lnTo>
                  <a:pt x="3565501" y="3565502"/>
                </a:lnTo>
                <a:lnTo>
                  <a:pt x="0" y="35655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8808109" y="3809392"/>
            <a:ext cx="8451191" cy="264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Sekian dan </a:t>
            </a:r>
          </a:p>
          <a:p>
            <a:pPr algn="ctr">
              <a:lnSpc>
                <a:spcPts val="10350"/>
              </a:lnSpc>
            </a:pPr>
            <a:r>
              <a:rPr lang="en-US" sz="9000">
                <a:solidFill>
                  <a:srgbClr val="FBF1EF"/>
                </a:solidFill>
                <a:latin typeface="Sifonn"/>
                <a:ea typeface="Sifonn"/>
                <a:cs typeface="Sifonn"/>
                <a:sym typeface="Sifonn"/>
              </a:rPr>
              <a:t>Terima Kasih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DAG-7_esZCc</dc:identifier>
  <dcterms:modified xsi:type="dcterms:W3CDTF">2011-08-01T06:04:30Z</dcterms:modified>
  <cp:revision>1</cp:revision>
  <dc:title>Bangun Ruang Sisi Lengkung Presentasi Matematika Ungu Muda Sederhana</dc:title>
</cp:coreProperties>
</file>