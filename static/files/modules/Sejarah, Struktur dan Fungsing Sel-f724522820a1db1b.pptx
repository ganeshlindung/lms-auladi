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Marykate" charset="1" panose="00000000000000000000"/>
      <p:regular r:id="rId22"/>
    </p:embeddedFont>
    <p:embeddedFont>
      <p:font typeface="Handy Casual" charset="1" panose="000005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11" Target="../media/image7.png" Type="http://schemas.openxmlformats.org/officeDocument/2006/relationships/image"/><Relationship Id="rId12" Target="../media/image8.svg" Type="http://schemas.openxmlformats.org/officeDocument/2006/relationships/image"/><Relationship Id="rId13" Target="../media/image13.png" Type="http://schemas.openxmlformats.org/officeDocument/2006/relationships/image"/><Relationship Id="rId14" Target="../media/image14.svg" Type="http://schemas.openxmlformats.org/officeDocument/2006/relationships/image"/><Relationship Id="rId15" Target="../media/image17.png" Type="http://schemas.openxmlformats.org/officeDocument/2006/relationships/image"/><Relationship Id="rId16" Target="../media/image18.svg" Type="http://schemas.openxmlformats.org/officeDocument/2006/relationships/image"/><Relationship Id="rId17" Target="https://www.gramedia.com/literasi/penemu-sel/?srsltid=AfmBOooBpcIRX91QdnsX_CooeCTluauet954PBPhheL7k3yVUeQQM3eD" TargetMode="External" Type="http://schemas.openxmlformats.org/officeDocument/2006/relationships/hyperlink"/><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9.png" Type="http://schemas.openxmlformats.org/officeDocument/2006/relationships/image"/><Relationship Id="rId9"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11" Target="../media/image7.png" Type="http://schemas.openxmlformats.org/officeDocument/2006/relationships/image"/><Relationship Id="rId12" Target="../media/image8.svg" Type="http://schemas.openxmlformats.org/officeDocument/2006/relationships/image"/><Relationship Id="rId13" Target="../media/image13.png" Type="http://schemas.openxmlformats.org/officeDocument/2006/relationships/image"/><Relationship Id="rId14" Target="../media/image14.svg" Type="http://schemas.openxmlformats.org/officeDocument/2006/relationships/image"/><Relationship Id="rId15" Target="../media/image17.png" Type="http://schemas.openxmlformats.org/officeDocument/2006/relationships/image"/><Relationship Id="rId16"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20.pn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 Id="rId9"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12" Target="../media/image31.png" Type="http://schemas.openxmlformats.org/officeDocument/2006/relationships/image"/><Relationship Id="rId13" Target="../media/image32.svg" Type="http://schemas.openxmlformats.org/officeDocument/2006/relationships/image"/><Relationship Id="rId14" Target="../media/image33.png" Type="http://schemas.openxmlformats.org/officeDocument/2006/relationships/image"/><Relationship Id="rId15" Target="../media/image3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5.png" Type="http://schemas.openxmlformats.org/officeDocument/2006/relationships/image"/><Relationship Id="rId13" Target="../media/image6.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39.png" Type="http://schemas.openxmlformats.org/officeDocument/2006/relationships/image"/><Relationship Id="rId17" Target="../media/image40.svg" Type="http://schemas.openxmlformats.org/officeDocument/2006/relationships/image"/><Relationship Id="rId18" Target="../media/image41.png" Type="http://schemas.openxmlformats.org/officeDocument/2006/relationships/image"/><Relationship Id="rId19" Target="../media/image42.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 Id="rId6" Target="../media/image37.png" Type="http://schemas.openxmlformats.org/officeDocument/2006/relationships/image"/><Relationship Id="rId7" Target="../media/image38.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11" Target="../media/image48.svg" Type="http://schemas.openxmlformats.org/officeDocument/2006/relationships/image"/><Relationship Id="rId12" Target="../media/image49.png" Type="http://schemas.openxmlformats.org/officeDocument/2006/relationships/image"/><Relationship Id="rId13" Target="../media/image50.svg" Type="http://schemas.openxmlformats.org/officeDocument/2006/relationships/image"/><Relationship Id="rId14" Target="../media/image51.png" Type="http://schemas.openxmlformats.org/officeDocument/2006/relationships/image"/><Relationship Id="rId15" Target="../media/image52.svg" Type="http://schemas.openxmlformats.org/officeDocument/2006/relationships/image"/><Relationship Id="rId16" Target="../media/image7.png" Type="http://schemas.openxmlformats.org/officeDocument/2006/relationships/image"/><Relationship Id="rId17" Target="../media/image8.svg" Type="http://schemas.openxmlformats.org/officeDocument/2006/relationships/image"/><Relationship Id="rId18" Target="../media/image53.png" Type="http://schemas.openxmlformats.org/officeDocument/2006/relationships/image"/><Relationship Id="rId19" Target="../media/image54.svg" Type="http://schemas.openxmlformats.org/officeDocument/2006/relationships/image"/><Relationship Id="rId2" Target="../media/image43.png" Type="http://schemas.openxmlformats.org/officeDocument/2006/relationships/image"/><Relationship Id="rId20" Target="../media/image55.png" Type="http://schemas.openxmlformats.org/officeDocument/2006/relationships/image"/><Relationship Id="rId21" Target="../media/image56.svg" Type="http://schemas.openxmlformats.org/officeDocument/2006/relationships/image"/><Relationship Id="rId3" Target="../media/image4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45.png" Type="http://schemas.openxmlformats.org/officeDocument/2006/relationships/image"/><Relationship Id="rId9" Target="../media/image4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57.png" Type="http://schemas.openxmlformats.org/officeDocument/2006/relationships/image"/><Relationship Id="rId7" Target="../media/image58.svg" Type="http://schemas.openxmlformats.org/officeDocument/2006/relationships/image"/><Relationship Id="rId8" Target="../media/image59.png" Type="http://schemas.openxmlformats.org/officeDocument/2006/relationships/image"/><Relationship Id="rId9" Target="../media/image6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1.png" Type="http://schemas.openxmlformats.org/officeDocument/2006/relationships/image"/><Relationship Id="rId11" Target="../media/image62.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11" Target="../media/image34.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63.png" Type="http://schemas.openxmlformats.org/officeDocument/2006/relationships/image"/><Relationship Id="rId15" Target="../media/image64.svg" Type="http://schemas.openxmlformats.org/officeDocument/2006/relationships/image"/><Relationship Id="rId16" Target="../media/image27.png" Type="http://schemas.openxmlformats.org/officeDocument/2006/relationships/image"/><Relationship Id="rId17" Target="../media/image28.svg" Type="http://schemas.openxmlformats.org/officeDocument/2006/relationships/image"/><Relationship Id="rId18" Target="../media/image31.png" Type="http://schemas.openxmlformats.org/officeDocument/2006/relationships/image"/><Relationship Id="rId19" Target="../media/image32.svg" Type="http://schemas.openxmlformats.org/officeDocument/2006/relationships/image"/><Relationship Id="rId2" Target="../media/image15.png" Type="http://schemas.openxmlformats.org/officeDocument/2006/relationships/image"/><Relationship Id="rId20" Target="../media/image65.png" Type="http://schemas.openxmlformats.org/officeDocument/2006/relationships/image"/><Relationship Id="rId21" Target="../media/image66.svg" Type="http://schemas.openxmlformats.org/officeDocument/2006/relationships/image"/><Relationship Id="rId22" Target="../media/image67.png" Type="http://schemas.openxmlformats.org/officeDocument/2006/relationships/image"/><Relationship Id="rId23" Target="../media/image68.svg" Type="http://schemas.openxmlformats.org/officeDocument/2006/relationships/image"/><Relationship Id="rId3" Target="../media/image16.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53.png" Type="http://schemas.openxmlformats.org/officeDocument/2006/relationships/image"/><Relationship Id="rId7" Target="../media/image54.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12" Target="../media/image41.png" Type="http://schemas.openxmlformats.org/officeDocument/2006/relationships/image"/><Relationship Id="rId13" Target="../media/image42.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31.png" Type="http://schemas.openxmlformats.org/officeDocument/2006/relationships/image"/><Relationship Id="rId15" Target="../media/image32.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2" Target="../media/image23.png" Type="http://schemas.openxmlformats.org/officeDocument/2006/relationships/image"/><Relationship Id="rId3" Target="../media/image2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37.png" Type="http://schemas.openxmlformats.org/officeDocument/2006/relationships/image"/><Relationship Id="rId7" Target="../media/image38.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5.png" Type="http://schemas.openxmlformats.org/officeDocument/2006/relationships/image"/><Relationship Id="rId13" Target="../media/image6.svg" Type="http://schemas.openxmlformats.org/officeDocument/2006/relationships/image"/><Relationship Id="rId14" Target="../media/image29.png" Type="http://schemas.openxmlformats.org/officeDocument/2006/relationships/image"/><Relationship Id="rId15" Target="../media/image30.svg" Type="http://schemas.openxmlformats.org/officeDocument/2006/relationships/image"/><Relationship Id="rId16" Target="../media/image53.png" Type="http://schemas.openxmlformats.org/officeDocument/2006/relationships/image"/><Relationship Id="rId17" Target="../media/image54.svg" Type="http://schemas.openxmlformats.org/officeDocument/2006/relationships/image"/><Relationship Id="rId18" Target="../media/image13.png" Type="http://schemas.openxmlformats.org/officeDocument/2006/relationships/image"/><Relationship Id="rId19" Target="../media/image14.svg" Type="http://schemas.openxmlformats.org/officeDocument/2006/relationships/image"/><Relationship Id="rId2" Target="../media/image9.png" Type="http://schemas.openxmlformats.org/officeDocument/2006/relationships/image"/><Relationship Id="rId20" Target="../media/image69.jpe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5.png" Type="http://schemas.openxmlformats.org/officeDocument/2006/relationships/image"/><Relationship Id="rId13" Target="../media/image6.svg" Type="http://schemas.openxmlformats.org/officeDocument/2006/relationships/image"/><Relationship Id="rId14" Target="../media/image29.png" Type="http://schemas.openxmlformats.org/officeDocument/2006/relationships/image"/><Relationship Id="rId15" Target="../media/image30.svg" Type="http://schemas.openxmlformats.org/officeDocument/2006/relationships/image"/><Relationship Id="rId16" Target="../media/image53.png" Type="http://schemas.openxmlformats.org/officeDocument/2006/relationships/image"/><Relationship Id="rId17" Target="../media/image54.svg" Type="http://schemas.openxmlformats.org/officeDocument/2006/relationships/image"/><Relationship Id="rId18" Target="../media/image13.png" Type="http://schemas.openxmlformats.org/officeDocument/2006/relationships/image"/><Relationship Id="rId19" Target="../media/image14.svg" Type="http://schemas.openxmlformats.org/officeDocument/2006/relationships/image"/><Relationship Id="rId2" Target="../media/image9.png" Type="http://schemas.openxmlformats.org/officeDocument/2006/relationships/image"/><Relationship Id="rId20" Target="../media/image70.jpe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5.png" Type="http://schemas.openxmlformats.org/officeDocument/2006/relationships/image"/><Relationship Id="rId13" Target="../media/image6.svg" Type="http://schemas.openxmlformats.org/officeDocument/2006/relationships/image"/><Relationship Id="rId14" Target="../media/image29.png" Type="http://schemas.openxmlformats.org/officeDocument/2006/relationships/image"/><Relationship Id="rId15" Target="../media/image30.svg" Type="http://schemas.openxmlformats.org/officeDocument/2006/relationships/image"/><Relationship Id="rId16" Target="../media/image53.png" Type="http://schemas.openxmlformats.org/officeDocument/2006/relationships/image"/><Relationship Id="rId17" Target="../media/image54.svg" Type="http://schemas.openxmlformats.org/officeDocument/2006/relationships/image"/><Relationship Id="rId18" Target="../media/image13.png" Type="http://schemas.openxmlformats.org/officeDocument/2006/relationships/image"/><Relationship Id="rId19" Target="../media/image14.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AC0"/>
        </a:solidFill>
      </p:bgPr>
    </p:bg>
    <p:spTree>
      <p:nvGrpSpPr>
        <p:cNvPr id="1" name=""/>
        <p:cNvGrpSpPr/>
        <p:nvPr/>
      </p:nvGrpSpPr>
      <p:grpSpPr>
        <a:xfrm>
          <a:off x="0" y="0"/>
          <a:ext cx="0" cy="0"/>
          <a:chOff x="0" y="0"/>
          <a:chExt cx="0" cy="0"/>
        </a:xfrm>
      </p:grpSpPr>
      <p:sp>
        <p:nvSpPr>
          <p:cNvPr name="Freeform 2" id="2"/>
          <p:cNvSpPr/>
          <p:nvPr/>
        </p:nvSpPr>
        <p:spPr>
          <a:xfrm flipH="false" flipV="false" rot="0">
            <a:off x="13585993" y="4623527"/>
            <a:ext cx="5597528" cy="6678178"/>
          </a:xfrm>
          <a:custGeom>
            <a:avLst/>
            <a:gdLst/>
            <a:ahLst/>
            <a:cxnLst/>
            <a:rect r="r" b="b" t="t" l="l"/>
            <a:pathLst>
              <a:path h="6678178" w="5597528">
                <a:moveTo>
                  <a:pt x="0" y="0"/>
                </a:moveTo>
                <a:lnTo>
                  <a:pt x="5597528" y="0"/>
                </a:lnTo>
                <a:lnTo>
                  <a:pt x="5597528" y="6678178"/>
                </a:lnTo>
                <a:lnTo>
                  <a:pt x="0" y="66781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60551" y="-1383008"/>
            <a:ext cx="3797537" cy="3825357"/>
          </a:xfrm>
          <a:custGeom>
            <a:avLst/>
            <a:gdLst/>
            <a:ahLst/>
            <a:cxnLst/>
            <a:rect r="r" b="b" t="t" l="l"/>
            <a:pathLst>
              <a:path h="3825357" w="3797537">
                <a:moveTo>
                  <a:pt x="0" y="0"/>
                </a:moveTo>
                <a:lnTo>
                  <a:pt x="3797537" y="0"/>
                </a:lnTo>
                <a:lnTo>
                  <a:pt x="3797537" y="3825357"/>
                </a:lnTo>
                <a:lnTo>
                  <a:pt x="0" y="38253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732686" y="-648916"/>
            <a:ext cx="5450834" cy="5272443"/>
          </a:xfrm>
          <a:custGeom>
            <a:avLst/>
            <a:gdLst/>
            <a:ahLst/>
            <a:cxnLst/>
            <a:rect r="r" b="b" t="t" l="l"/>
            <a:pathLst>
              <a:path h="5272443" w="5450834">
                <a:moveTo>
                  <a:pt x="0" y="0"/>
                </a:moveTo>
                <a:lnTo>
                  <a:pt x="5450835" y="0"/>
                </a:lnTo>
                <a:lnTo>
                  <a:pt x="5450835" y="5272443"/>
                </a:lnTo>
                <a:lnTo>
                  <a:pt x="0" y="527244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1788416" y="7836173"/>
            <a:ext cx="1944270" cy="2962184"/>
          </a:xfrm>
          <a:custGeom>
            <a:avLst/>
            <a:gdLst/>
            <a:ahLst/>
            <a:cxnLst/>
            <a:rect r="r" b="b" t="t" l="l"/>
            <a:pathLst>
              <a:path h="2962184" w="1944270">
                <a:moveTo>
                  <a:pt x="0" y="0"/>
                </a:moveTo>
                <a:lnTo>
                  <a:pt x="1944270" y="0"/>
                </a:lnTo>
                <a:lnTo>
                  <a:pt x="1944270" y="2962184"/>
                </a:lnTo>
                <a:lnTo>
                  <a:pt x="0" y="29621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2736708" y="5456220"/>
            <a:ext cx="4336139" cy="4367906"/>
          </a:xfrm>
          <a:custGeom>
            <a:avLst/>
            <a:gdLst/>
            <a:ahLst/>
            <a:cxnLst/>
            <a:rect r="r" b="b" t="t" l="l"/>
            <a:pathLst>
              <a:path h="4367906" w="4336139">
                <a:moveTo>
                  <a:pt x="0" y="0"/>
                </a:moveTo>
                <a:lnTo>
                  <a:pt x="4336139" y="0"/>
                </a:lnTo>
                <a:lnTo>
                  <a:pt x="4336139" y="4367906"/>
                </a:lnTo>
                <a:lnTo>
                  <a:pt x="0" y="43679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2231257" y="938967"/>
            <a:ext cx="10373891" cy="8016189"/>
          </a:xfrm>
          <a:custGeom>
            <a:avLst/>
            <a:gdLst/>
            <a:ahLst/>
            <a:cxnLst/>
            <a:rect r="r" b="b" t="t" l="l"/>
            <a:pathLst>
              <a:path h="8016189" w="10373891">
                <a:moveTo>
                  <a:pt x="10373892" y="0"/>
                </a:moveTo>
                <a:lnTo>
                  <a:pt x="0" y="0"/>
                </a:lnTo>
                <a:lnTo>
                  <a:pt x="0" y="8016189"/>
                </a:lnTo>
                <a:lnTo>
                  <a:pt x="10373892" y="8016189"/>
                </a:lnTo>
                <a:lnTo>
                  <a:pt x="10373892"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2502170" y="1148308"/>
            <a:ext cx="9832067" cy="7597506"/>
          </a:xfrm>
          <a:custGeom>
            <a:avLst/>
            <a:gdLst/>
            <a:ahLst/>
            <a:cxnLst/>
            <a:rect r="r" b="b" t="t" l="l"/>
            <a:pathLst>
              <a:path h="7597506" w="9832067">
                <a:moveTo>
                  <a:pt x="0" y="0"/>
                </a:moveTo>
                <a:lnTo>
                  <a:pt x="9832066" y="0"/>
                </a:lnTo>
                <a:lnTo>
                  <a:pt x="9832066" y="7597507"/>
                </a:lnTo>
                <a:lnTo>
                  <a:pt x="0" y="75975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true" flipV="true" rot="0">
            <a:off x="-1165827" y="-661249"/>
            <a:ext cx="3487699" cy="3379897"/>
          </a:xfrm>
          <a:custGeom>
            <a:avLst/>
            <a:gdLst/>
            <a:ahLst/>
            <a:cxnLst/>
            <a:rect r="r" b="b" t="t" l="l"/>
            <a:pathLst>
              <a:path h="3379897" w="3487699">
                <a:moveTo>
                  <a:pt x="3487699" y="3379898"/>
                </a:moveTo>
                <a:lnTo>
                  <a:pt x="0" y="3379898"/>
                </a:lnTo>
                <a:lnTo>
                  <a:pt x="0" y="0"/>
                </a:lnTo>
                <a:lnTo>
                  <a:pt x="3487699" y="0"/>
                </a:lnTo>
                <a:lnTo>
                  <a:pt x="3487699" y="3379898"/>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0" id="10"/>
          <p:cNvSpPr txBox="true"/>
          <p:nvPr/>
        </p:nvSpPr>
        <p:spPr>
          <a:xfrm rot="0">
            <a:off x="3859969" y="2985297"/>
            <a:ext cx="7116467" cy="3756511"/>
          </a:xfrm>
          <a:prstGeom prst="rect">
            <a:avLst/>
          </a:prstGeom>
        </p:spPr>
        <p:txBody>
          <a:bodyPr anchor="t" rtlCol="false" tIns="0" lIns="0" bIns="0" rIns="0">
            <a:spAutoFit/>
          </a:bodyPr>
          <a:lstStyle/>
          <a:p>
            <a:pPr algn="ctr">
              <a:lnSpc>
                <a:spcPts val="14400"/>
              </a:lnSpc>
            </a:pPr>
            <a:r>
              <a:rPr lang="en-US" sz="14400">
                <a:solidFill>
                  <a:srgbClr val="654C4C"/>
                </a:solidFill>
                <a:latin typeface="Marykate"/>
                <a:ea typeface="Marykate"/>
                <a:cs typeface="Marykate"/>
                <a:sym typeface="Marykate"/>
              </a:rPr>
              <a:t>Menjelajah Sel</a:t>
            </a:r>
          </a:p>
        </p:txBody>
      </p:sp>
      <p:sp>
        <p:nvSpPr>
          <p:cNvPr name="Freeform 11" id="11"/>
          <p:cNvSpPr/>
          <p:nvPr/>
        </p:nvSpPr>
        <p:spPr>
          <a:xfrm flipH="false" flipV="false" rot="0">
            <a:off x="5148821" y="2618764"/>
            <a:ext cx="4538765" cy="404363"/>
          </a:xfrm>
          <a:custGeom>
            <a:avLst/>
            <a:gdLst/>
            <a:ahLst/>
            <a:cxnLst/>
            <a:rect r="r" b="b" t="t" l="l"/>
            <a:pathLst>
              <a:path h="404363" w="4538765">
                <a:moveTo>
                  <a:pt x="0" y="0"/>
                </a:moveTo>
                <a:lnTo>
                  <a:pt x="4538764" y="0"/>
                </a:lnTo>
                <a:lnTo>
                  <a:pt x="4538764" y="404363"/>
                </a:lnTo>
                <a:lnTo>
                  <a:pt x="0" y="40436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true" flipV="false" rot="0">
            <a:off x="-923021" y="8439070"/>
            <a:ext cx="5287710" cy="2903434"/>
          </a:xfrm>
          <a:custGeom>
            <a:avLst/>
            <a:gdLst/>
            <a:ahLst/>
            <a:cxnLst/>
            <a:rect r="r" b="b" t="t" l="l"/>
            <a:pathLst>
              <a:path h="2903434" w="5287710">
                <a:moveTo>
                  <a:pt x="5287711" y="0"/>
                </a:moveTo>
                <a:lnTo>
                  <a:pt x="0" y="0"/>
                </a:lnTo>
                <a:lnTo>
                  <a:pt x="0" y="2903434"/>
                </a:lnTo>
                <a:lnTo>
                  <a:pt x="5287711" y="2903434"/>
                </a:lnTo>
                <a:lnTo>
                  <a:pt x="5287711"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3" id="13"/>
          <p:cNvSpPr txBox="true"/>
          <p:nvPr/>
        </p:nvSpPr>
        <p:spPr>
          <a:xfrm rot="0">
            <a:off x="4237746" y="1788147"/>
            <a:ext cx="6360914" cy="821055"/>
          </a:xfrm>
          <a:prstGeom prst="rect">
            <a:avLst/>
          </a:prstGeom>
        </p:spPr>
        <p:txBody>
          <a:bodyPr anchor="t" rtlCol="false" tIns="0" lIns="0" bIns="0" rIns="0">
            <a:spAutoFit/>
          </a:bodyPr>
          <a:lstStyle/>
          <a:p>
            <a:pPr algn="ctr">
              <a:lnSpc>
                <a:spcPts val="6719"/>
              </a:lnSpc>
            </a:pPr>
            <a:r>
              <a:rPr lang="en-US" sz="4800">
                <a:solidFill>
                  <a:srgbClr val="654C4C"/>
                </a:solidFill>
                <a:latin typeface="Handy Casual"/>
                <a:ea typeface="Handy Casual"/>
                <a:cs typeface="Handy Casual"/>
                <a:sym typeface="Handy Casual"/>
              </a:rPr>
              <a:t>Biologi Kelas VIII</a:t>
            </a:r>
          </a:p>
        </p:txBody>
      </p:sp>
      <p:sp>
        <p:nvSpPr>
          <p:cNvPr name="TextBox 14" id="14"/>
          <p:cNvSpPr txBox="true"/>
          <p:nvPr/>
        </p:nvSpPr>
        <p:spPr>
          <a:xfrm rot="0">
            <a:off x="4237746" y="6958457"/>
            <a:ext cx="6360914" cy="1099688"/>
          </a:xfrm>
          <a:prstGeom prst="rect">
            <a:avLst/>
          </a:prstGeom>
        </p:spPr>
        <p:txBody>
          <a:bodyPr anchor="t" rtlCol="false" tIns="0" lIns="0" bIns="0" rIns="0">
            <a:spAutoFit/>
          </a:bodyPr>
          <a:lstStyle/>
          <a:p>
            <a:pPr algn="ctr">
              <a:lnSpc>
                <a:spcPts val="4480"/>
              </a:lnSpc>
            </a:pPr>
            <a:r>
              <a:rPr lang="en-US" sz="3200">
                <a:solidFill>
                  <a:srgbClr val="654C4C"/>
                </a:solidFill>
                <a:latin typeface="Handy Casual"/>
                <a:ea typeface="Handy Casual"/>
                <a:cs typeface="Handy Casual"/>
                <a:sym typeface="Handy Casual"/>
              </a:rPr>
              <a:t>Mengenal Struktur, Fungsi, dan Komponen Penyusun Sel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AC0"/>
        </a:solidFill>
      </p:bgPr>
    </p:bg>
    <p:spTree>
      <p:nvGrpSpPr>
        <p:cNvPr id="1" name=""/>
        <p:cNvGrpSpPr/>
        <p:nvPr/>
      </p:nvGrpSpPr>
      <p:grpSpPr>
        <a:xfrm>
          <a:off x="0" y="0"/>
          <a:ext cx="0" cy="0"/>
          <a:chOff x="0" y="0"/>
          <a:chExt cx="0" cy="0"/>
        </a:xfrm>
      </p:grpSpPr>
      <p:sp>
        <p:nvSpPr>
          <p:cNvPr name="Freeform 2" id="2"/>
          <p:cNvSpPr/>
          <p:nvPr/>
        </p:nvSpPr>
        <p:spPr>
          <a:xfrm flipH="true" flipV="false" rot="0">
            <a:off x="-283494" y="773263"/>
            <a:ext cx="18854988" cy="14569763"/>
          </a:xfrm>
          <a:custGeom>
            <a:avLst/>
            <a:gdLst/>
            <a:ahLst/>
            <a:cxnLst/>
            <a:rect r="r" b="b" t="t" l="l"/>
            <a:pathLst>
              <a:path h="14569763" w="18854988">
                <a:moveTo>
                  <a:pt x="18854988" y="0"/>
                </a:moveTo>
                <a:lnTo>
                  <a:pt x="0" y="0"/>
                </a:lnTo>
                <a:lnTo>
                  <a:pt x="0" y="14569763"/>
                </a:lnTo>
                <a:lnTo>
                  <a:pt x="18854988" y="14569763"/>
                </a:lnTo>
                <a:lnTo>
                  <a:pt x="1885498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89236" y="6947911"/>
            <a:ext cx="5597528" cy="6678178"/>
          </a:xfrm>
          <a:custGeom>
            <a:avLst/>
            <a:gdLst/>
            <a:ahLst/>
            <a:cxnLst/>
            <a:rect r="r" b="b" t="t" l="l"/>
            <a:pathLst>
              <a:path h="6678178" w="5597528">
                <a:moveTo>
                  <a:pt x="0" y="0"/>
                </a:moveTo>
                <a:lnTo>
                  <a:pt x="5597528" y="0"/>
                </a:lnTo>
                <a:lnTo>
                  <a:pt x="5597528" y="6678178"/>
                </a:lnTo>
                <a:lnTo>
                  <a:pt x="0" y="66781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760551" y="-1383008"/>
            <a:ext cx="3797537" cy="3825357"/>
          </a:xfrm>
          <a:custGeom>
            <a:avLst/>
            <a:gdLst/>
            <a:ahLst/>
            <a:cxnLst/>
            <a:rect r="r" b="b" t="t" l="l"/>
            <a:pathLst>
              <a:path h="3825357" w="3797537">
                <a:moveTo>
                  <a:pt x="0" y="0"/>
                </a:moveTo>
                <a:lnTo>
                  <a:pt x="3797537" y="0"/>
                </a:lnTo>
                <a:lnTo>
                  <a:pt x="3797537" y="3825357"/>
                </a:lnTo>
                <a:lnTo>
                  <a:pt x="0" y="38253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1258045" y="1986673"/>
            <a:ext cx="4949283" cy="4961238"/>
          </a:xfrm>
          <a:custGeom>
            <a:avLst/>
            <a:gdLst/>
            <a:ahLst/>
            <a:cxnLst/>
            <a:rect r="r" b="b" t="t" l="l"/>
            <a:pathLst>
              <a:path h="4961238" w="4949283">
                <a:moveTo>
                  <a:pt x="0" y="0"/>
                </a:moveTo>
                <a:lnTo>
                  <a:pt x="4949283" y="0"/>
                </a:lnTo>
                <a:lnTo>
                  <a:pt x="4949283" y="4961238"/>
                </a:lnTo>
                <a:lnTo>
                  <a:pt x="0" y="4961238"/>
                </a:lnTo>
                <a:lnTo>
                  <a:pt x="0" y="0"/>
                </a:lnTo>
                <a:close/>
              </a:path>
            </a:pathLst>
          </a:custGeom>
          <a:blipFill>
            <a:blip r:embed="rId8"/>
            <a:stretch>
              <a:fillRect l="0" t="0" r="0" b="0"/>
            </a:stretch>
          </a:blipFill>
        </p:spPr>
      </p:sp>
      <p:sp>
        <p:nvSpPr>
          <p:cNvPr name="Freeform 6" id="6"/>
          <p:cNvSpPr/>
          <p:nvPr/>
        </p:nvSpPr>
        <p:spPr>
          <a:xfrm flipH="false" flipV="false" rot="0">
            <a:off x="15489236" y="-805151"/>
            <a:ext cx="5450834" cy="5272443"/>
          </a:xfrm>
          <a:custGeom>
            <a:avLst/>
            <a:gdLst/>
            <a:ahLst/>
            <a:cxnLst/>
            <a:rect r="r" b="b" t="t" l="l"/>
            <a:pathLst>
              <a:path h="5272443" w="5450834">
                <a:moveTo>
                  <a:pt x="0" y="0"/>
                </a:moveTo>
                <a:lnTo>
                  <a:pt x="5450834" y="0"/>
                </a:lnTo>
                <a:lnTo>
                  <a:pt x="5450834" y="5272443"/>
                </a:lnTo>
                <a:lnTo>
                  <a:pt x="0" y="527244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1788416" y="7836173"/>
            <a:ext cx="1944270" cy="2962184"/>
          </a:xfrm>
          <a:custGeom>
            <a:avLst/>
            <a:gdLst/>
            <a:ahLst/>
            <a:cxnLst/>
            <a:rect r="r" b="b" t="t" l="l"/>
            <a:pathLst>
              <a:path h="2962184" w="1944270">
                <a:moveTo>
                  <a:pt x="0" y="0"/>
                </a:moveTo>
                <a:lnTo>
                  <a:pt x="1944270" y="0"/>
                </a:lnTo>
                <a:lnTo>
                  <a:pt x="1944270" y="2962184"/>
                </a:lnTo>
                <a:lnTo>
                  <a:pt x="0" y="296218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3459149" y="5388690"/>
            <a:ext cx="4336139" cy="4367906"/>
          </a:xfrm>
          <a:custGeom>
            <a:avLst/>
            <a:gdLst/>
            <a:ahLst/>
            <a:cxnLst/>
            <a:rect r="r" b="b" t="t" l="l"/>
            <a:pathLst>
              <a:path h="4367906" w="4336139">
                <a:moveTo>
                  <a:pt x="0" y="0"/>
                </a:moveTo>
                <a:lnTo>
                  <a:pt x="4336140" y="0"/>
                </a:lnTo>
                <a:lnTo>
                  <a:pt x="4336140" y="4367906"/>
                </a:lnTo>
                <a:lnTo>
                  <a:pt x="0" y="43679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true" rot="0">
            <a:off x="-1766865" y="-1122852"/>
            <a:ext cx="3487699" cy="3379897"/>
          </a:xfrm>
          <a:custGeom>
            <a:avLst/>
            <a:gdLst/>
            <a:ahLst/>
            <a:cxnLst/>
            <a:rect r="r" b="b" t="t" l="l"/>
            <a:pathLst>
              <a:path h="3379897" w="3487699">
                <a:moveTo>
                  <a:pt x="3487700" y="3379897"/>
                </a:moveTo>
                <a:lnTo>
                  <a:pt x="0" y="3379897"/>
                </a:lnTo>
                <a:lnTo>
                  <a:pt x="0" y="0"/>
                </a:lnTo>
                <a:lnTo>
                  <a:pt x="3487700" y="0"/>
                </a:lnTo>
                <a:lnTo>
                  <a:pt x="3487700" y="3379897"/>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true" flipV="false" rot="0">
            <a:off x="-1766865" y="9048744"/>
            <a:ext cx="5287710" cy="2903434"/>
          </a:xfrm>
          <a:custGeom>
            <a:avLst/>
            <a:gdLst/>
            <a:ahLst/>
            <a:cxnLst/>
            <a:rect r="r" b="b" t="t" l="l"/>
            <a:pathLst>
              <a:path h="2903434" w="5287710">
                <a:moveTo>
                  <a:pt x="5287711" y="0"/>
                </a:moveTo>
                <a:lnTo>
                  <a:pt x="0" y="0"/>
                </a:lnTo>
                <a:lnTo>
                  <a:pt x="0" y="2903434"/>
                </a:lnTo>
                <a:lnTo>
                  <a:pt x="5287711" y="2903434"/>
                </a:lnTo>
                <a:lnTo>
                  <a:pt x="5287711"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1" id="11"/>
          <p:cNvSpPr txBox="true"/>
          <p:nvPr/>
        </p:nvSpPr>
        <p:spPr>
          <a:xfrm rot="0">
            <a:off x="2136095" y="1162050"/>
            <a:ext cx="7852455" cy="2090063"/>
          </a:xfrm>
          <a:prstGeom prst="rect">
            <a:avLst/>
          </a:prstGeom>
        </p:spPr>
        <p:txBody>
          <a:bodyPr anchor="t" rtlCol="false" tIns="0" lIns="0" bIns="0" rIns="0">
            <a:spAutoFit/>
          </a:bodyPr>
          <a:lstStyle/>
          <a:p>
            <a:pPr algn="ctr">
              <a:lnSpc>
                <a:spcPts val="7957"/>
              </a:lnSpc>
            </a:pPr>
            <a:r>
              <a:rPr lang="en-US" sz="7957">
                <a:solidFill>
                  <a:srgbClr val="654C4C"/>
                </a:solidFill>
                <a:latin typeface="Marykate"/>
                <a:ea typeface="Marykate"/>
                <a:cs typeface="Marykate"/>
                <a:sym typeface="Marykate"/>
              </a:rPr>
              <a:t>Sejarah Penemuan Sel</a:t>
            </a:r>
          </a:p>
          <a:p>
            <a:pPr algn="ctr">
              <a:lnSpc>
                <a:spcPts val="7957"/>
              </a:lnSpc>
            </a:pPr>
          </a:p>
        </p:txBody>
      </p:sp>
      <p:sp>
        <p:nvSpPr>
          <p:cNvPr name="TextBox 12" id="12"/>
          <p:cNvSpPr txBox="true"/>
          <p:nvPr/>
        </p:nvSpPr>
        <p:spPr>
          <a:xfrm rot="0">
            <a:off x="1352965" y="2361826"/>
            <a:ext cx="9418716" cy="6896474"/>
          </a:xfrm>
          <a:prstGeom prst="rect">
            <a:avLst/>
          </a:prstGeom>
        </p:spPr>
        <p:txBody>
          <a:bodyPr anchor="t" rtlCol="false" tIns="0" lIns="0" bIns="0" rIns="0">
            <a:spAutoFit/>
          </a:bodyPr>
          <a:lstStyle/>
          <a:p>
            <a:pPr algn="l">
              <a:lnSpc>
                <a:spcPts val="7854"/>
              </a:lnSpc>
            </a:pPr>
            <a:r>
              <a:rPr lang="en-US" sz="5610">
                <a:solidFill>
                  <a:srgbClr val="654C4C"/>
                </a:solidFill>
                <a:latin typeface="Handy Casual"/>
                <a:ea typeface="Handy Casual"/>
                <a:cs typeface="Handy Casual"/>
                <a:sym typeface="Handy Casual"/>
              </a:rPr>
              <a:t>Robert Hooke, penemu sel melakukan pengamatan pada sayatan gabus dengan menggunakan kaca pembesar </a:t>
            </a:r>
            <a:r>
              <a:rPr lang="en-US" sz="5610" u="sng">
                <a:solidFill>
                  <a:srgbClr val="654C4C"/>
                </a:solidFill>
                <a:latin typeface="Handy Casual"/>
                <a:ea typeface="Handy Casual"/>
                <a:cs typeface="Handy Casual"/>
                <a:sym typeface="Handy Casual"/>
                <a:hlinkClick r:id="rId17" tooltip="https://www.gramedia.com/literasi/penemu-sel/?srsltid=AfmBOooBpcIRX91QdnsX_CooeCTluauet954PBPhheL7k3yVUeQQM3eD"/>
              </a:rPr>
              <a:t> mikroskop</a:t>
            </a:r>
            <a:r>
              <a:rPr lang="en-US" sz="5610">
                <a:solidFill>
                  <a:srgbClr val="654C4C"/>
                </a:solidFill>
                <a:latin typeface="Handy Casual"/>
                <a:ea typeface="Handy Casual"/>
                <a:cs typeface="Handy Casual"/>
                <a:sym typeface="Handy Casual"/>
              </a:rPr>
              <a:t>. Dari pengamatannya, Hook melihat bahwa terdapat ruangan kecil yang menyusun gabus. Kemudian, ruangan kecil tersebut Ia beri nama Sel</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AC0"/>
        </a:solidFill>
      </p:bgPr>
    </p:bg>
    <p:spTree>
      <p:nvGrpSpPr>
        <p:cNvPr id="1" name=""/>
        <p:cNvGrpSpPr/>
        <p:nvPr/>
      </p:nvGrpSpPr>
      <p:grpSpPr>
        <a:xfrm>
          <a:off x="0" y="0"/>
          <a:ext cx="0" cy="0"/>
          <a:chOff x="0" y="0"/>
          <a:chExt cx="0" cy="0"/>
        </a:xfrm>
      </p:grpSpPr>
      <p:sp>
        <p:nvSpPr>
          <p:cNvPr name="Freeform 2" id="2"/>
          <p:cNvSpPr/>
          <p:nvPr/>
        </p:nvSpPr>
        <p:spPr>
          <a:xfrm flipH="true" flipV="false" rot="0">
            <a:off x="-283494" y="773263"/>
            <a:ext cx="18854988" cy="14569763"/>
          </a:xfrm>
          <a:custGeom>
            <a:avLst/>
            <a:gdLst/>
            <a:ahLst/>
            <a:cxnLst/>
            <a:rect r="r" b="b" t="t" l="l"/>
            <a:pathLst>
              <a:path h="14569763" w="18854988">
                <a:moveTo>
                  <a:pt x="18854988" y="0"/>
                </a:moveTo>
                <a:lnTo>
                  <a:pt x="0" y="0"/>
                </a:lnTo>
                <a:lnTo>
                  <a:pt x="0" y="14569763"/>
                </a:lnTo>
                <a:lnTo>
                  <a:pt x="18854988" y="14569763"/>
                </a:lnTo>
                <a:lnTo>
                  <a:pt x="1885498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89236" y="6947911"/>
            <a:ext cx="5597528" cy="6678178"/>
          </a:xfrm>
          <a:custGeom>
            <a:avLst/>
            <a:gdLst/>
            <a:ahLst/>
            <a:cxnLst/>
            <a:rect r="r" b="b" t="t" l="l"/>
            <a:pathLst>
              <a:path h="6678178" w="5597528">
                <a:moveTo>
                  <a:pt x="0" y="0"/>
                </a:moveTo>
                <a:lnTo>
                  <a:pt x="5597528" y="0"/>
                </a:lnTo>
                <a:lnTo>
                  <a:pt x="5597528" y="6678178"/>
                </a:lnTo>
                <a:lnTo>
                  <a:pt x="0" y="66781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1118172" y="1831070"/>
            <a:ext cx="5796994" cy="4347746"/>
          </a:xfrm>
          <a:custGeom>
            <a:avLst/>
            <a:gdLst/>
            <a:ahLst/>
            <a:cxnLst/>
            <a:rect r="r" b="b" t="t" l="l"/>
            <a:pathLst>
              <a:path h="4347746" w="5796994">
                <a:moveTo>
                  <a:pt x="0" y="0"/>
                </a:moveTo>
                <a:lnTo>
                  <a:pt x="5796995" y="0"/>
                </a:lnTo>
                <a:lnTo>
                  <a:pt x="5796995" y="4347746"/>
                </a:lnTo>
                <a:lnTo>
                  <a:pt x="0" y="4347746"/>
                </a:lnTo>
                <a:lnTo>
                  <a:pt x="0" y="0"/>
                </a:lnTo>
                <a:close/>
              </a:path>
            </a:pathLst>
          </a:custGeom>
          <a:blipFill>
            <a:blip r:embed="rId6"/>
            <a:stretch>
              <a:fillRect l="0" t="0" r="0" b="0"/>
            </a:stretch>
          </a:blipFill>
        </p:spPr>
      </p:sp>
      <p:sp>
        <p:nvSpPr>
          <p:cNvPr name="Freeform 5" id="5"/>
          <p:cNvSpPr/>
          <p:nvPr/>
        </p:nvSpPr>
        <p:spPr>
          <a:xfrm flipH="false" flipV="false" rot="0">
            <a:off x="12760551" y="-1383008"/>
            <a:ext cx="3797537" cy="3825357"/>
          </a:xfrm>
          <a:custGeom>
            <a:avLst/>
            <a:gdLst/>
            <a:ahLst/>
            <a:cxnLst/>
            <a:rect r="r" b="b" t="t" l="l"/>
            <a:pathLst>
              <a:path h="3825357" w="3797537">
                <a:moveTo>
                  <a:pt x="0" y="0"/>
                </a:moveTo>
                <a:lnTo>
                  <a:pt x="3797537" y="0"/>
                </a:lnTo>
                <a:lnTo>
                  <a:pt x="3797537" y="3825357"/>
                </a:lnTo>
                <a:lnTo>
                  <a:pt x="0" y="38253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5489236" y="-805151"/>
            <a:ext cx="5450834" cy="5272443"/>
          </a:xfrm>
          <a:custGeom>
            <a:avLst/>
            <a:gdLst/>
            <a:ahLst/>
            <a:cxnLst/>
            <a:rect r="r" b="b" t="t" l="l"/>
            <a:pathLst>
              <a:path h="5272443" w="5450834">
                <a:moveTo>
                  <a:pt x="0" y="0"/>
                </a:moveTo>
                <a:lnTo>
                  <a:pt x="5450834" y="0"/>
                </a:lnTo>
                <a:lnTo>
                  <a:pt x="5450834" y="5272443"/>
                </a:lnTo>
                <a:lnTo>
                  <a:pt x="0" y="527244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1788416" y="7836173"/>
            <a:ext cx="1944270" cy="2962184"/>
          </a:xfrm>
          <a:custGeom>
            <a:avLst/>
            <a:gdLst/>
            <a:ahLst/>
            <a:cxnLst/>
            <a:rect r="r" b="b" t="t" l="l"/>
            <a:pathLst>
              <a:path h="2962184" w="1944270">
                <a:moveTo>
                  <a:pt x="0" y="0"/>
                </a:moveTo>
                <a:lnTo>
                  <a:pt x="1944270" y="0"/>
                </a:lnTo>
                <a:lnTo>
                  <a:pt x="1944270" y="2962184"/>
                </a:lnTo>
                <a:lnTo>
                  <a:pt x="0" y="296218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3459149" y="5388690"/>
            <a:ext cx="4336139" cy="4367906"/>
          </a:xfrm>
          <a:custGeom>
            <a:avLst/>
            <a:gdLst/>
            <a:ahLst/>
            <a:cxnLst/>
            <a:rect r="r" b="b" t="t" l="l"/>
            <a:pathLst>
              <a:path h="4367906" w="4336139">
                <a:moveTo>
                  <a:pt x="0" y="0"/>
                </a:moveTo>
                <a:lnTo>
                  <a:pt x="4336140" y="0"/>
                </a:lnTo>
                <a:lnTo>
                  <a:pt x="4336140" y="4367906"/>
                </a:lnTo>
                <a:lnTo>
                  <a:pt x="0" y="43679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true" flipV="true" rot="0">
            <a:off x="-1766865" y="-1122852"/>
            <a:ext cx="3487699" cy="3379897"/>
          </a:xfrm>
          <a:custGeom>
            <a:avLst/>
            <a:gdLst/>
            <a:ahLst/>
            <a:cxnLst/>
            <a:rect r="r" b="b" t="t" l="l"/>
            <a:pathLst>
              <a:path h="3379897" w="3487699">
                <a:moveTo>
                  <a:pt x="3487700" y="3379897"/>
                </a:moveTo>
                <a:lnTo>
                  <a:pt x="0" y="3379897"/>
                </a:lnTo>
                <a:lnTo>
                  <a:pt x="0" y="0"/>
                </a:lnTo>
                <a:lnTo>
                  <a:pt x="3487700" y="0"/>
                </a:lnTo>
                <a:lnTo>
                  <a:pt x="3487700" y="3379897"/>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true" flipV="false" rot="0">
            <a:off x="-1766865" y="9048744"/>
            <a:ext cx="5287710" cy="2903434"/>
          </a:xfrm>
          <a:custGeom>
            <a:avLst/>
            <a:gdLst/>
            <a:ahLst/>
            <a:cxnLst/>
            <a:rect r="r" b="b" t="t" l="l"/>
            <a:pathLst>
              <a:path h="2903434" w="5287710">
                <a:moveTo>
                  <a:pt x="5287711" y="0"/>
                </a:moveTo>
                <a:lnTo>
                  <a:pt x="0" y="0"/>
                </a:lnTo>
                <a:lnTo>
                  <a:pt x="0" y="2903434"/>
                </a:lnTo>
                <a:lnTo>
                  <a:pt x="5287711" y="2903434"/>
                </a:lnTo>
                <a:lnTo>
                  <a:pt x="5287711"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1" id="11"/>
          <p:cNvSpPr txBox="true"/>
          <p:nvPr/>
        </p:nvSpPr>
        <p:spPr>
          <a:xfrm rot="0">
            <a:off x="2136095" y="1162050"/>
            <a:ext cx="7852455" cy="2090063"/>
          </a:xfrm>
          <a:prstGeom prst="rect">
            <a:avLst/>
          </a:prstGeom>
        </p:spPr>
        <p:txBody>
          <a:bodyPr anchor="t" rtlCol="false" tIns="0" lIns="0" bIns="0" rIns="0">
            <a:spAutoFit/>
          </a:bodyPr>
          <a:lstStyle/>
          <a:p>
            <a:pPr algn="ctr">
              <a:lnSpc>
                <a:spcPts val="7957"/>
              </a:lnSpc>
            </a:pPr>
            <a:r>
              <a:rPr lang="en-US" sz="7957">
                <a:solidFill>
                  <a:srgbClr val="654C4C"/>
                </a:solidFill>
                <a:latin typeface="Marykate"/>
                <a:ea typeface="Marykate"/>
                <a:cs typeface="Marykate"/>
                <a:sym typeface="Marykate"/>
              </a:rPr>
              <a:t>Sejarah Penemuan Sel</a:t>
            </a:r>
          </a:p>
          <a:p>
            <a:pPr algn="ctr">
              <a:lnSpc>
                <a:spcPts val="7957"/>
              </a:lnSpc>
            </a:pPr>
          </a:p>
        </p:txBody>
      </p:sp>
      <p:sp>
        <p:nvSpPr>
          <p:cNvPr name="TextBox 12" id="12"/>
          <p:cNvSpPr txBox="true"/>
          <p:nvPr/>
        </p:nvSpPr>
        <p:spPr>
          <a:xfrm rot="0">
            <a:off x="1217904" y="2347099"/>
            <a:ext cx="9751833" cy="6611295"/>
          </a:xfrm>
          <a:prstGeom prst="rect">
            <a:avLst/>
          </a:prstGeom>
        </p:spPr>
        <p:txBody>
          <a:bodyPr anchor="t" rtlCol="false" tIns="0" lIns="0" bIns="0" rIns="0">
            <a:spAutoFit/>
          </a:bodyPr>
          <a:lstStyle/>
          <a:p>
            <a:pPr algn="l">
              <a:lnSpc>
                <a:spcPts val="6576"/>
              </a:lnSpc>
            </a:pPr>
            <a:r>
              <a:rPr lang="en-US" sz="4697">
                <a:solidFill>
                  <a:srgbClr val="654C4C"/>
                </a:solidFill>
                <a:latin typeface="Handy Casual"/>
                <a:ea typeface="Handy Casual"/>
                <a:cs typeface="Handy Casual"/>
                <a:sym typeface="Handy Casual"/>
              </a:rPr>
              <a:t>Sementara di tahun 1831, Robert Brown mengungkapkan bahwa sel adalah satu ruangan kecil namun dibatasi oleh me</a:t>
            </a:r>
            <a:r>
              <a:rPr lang="en-US" sz="4697" u="none">
                <a:solidFill>
                  <a:srgbClr val="654C4C"/>
                </a:solidFill>
                <a:latin typeface="Handy Casual"/>
                <a:ea typeface="Handy Casual"/>
                <a:cs typeface="Handy Casual"/>
                <a:sym typeface="Handy Casual"/>
              </a:rPr>
              <a:t>m</a:t>
            </a:r>
            <a:r>
              <a:rPr lang="en-US" sz="4697">
                <a:solidFill>
                  <a:srgbClr val="654C4C"/>
                </a:solidFill>
                <a:latin typeface="Handy Casual"/>
                <a:ea typeface="Handy Casual"/>
                <a:cs typeface="Handy Casual"/>
                <a:sym typeface="Handy Casual"/>
              </a:rPr>
              <a:t>b</a:t>
            </a:r>
            <a:r>
              <a:rPr lang="en-US" sz="4697" u="none">
                <a:solidFill>
                  <a:srgbClr val="654C4C"/>
                </a:solidFill>
                <a:latin typeface="Handy Casual"/>
                <a:ea typeface="Handy Casual"/>
                <a:cs typeface="Handy Casual"/>
                <a:sym typeface="Handy Casual"/>
              </a:rPr>
              <a:t>r</a:t>
            </a:r>
            <a:r>
              <a:rPr lang="en-US" sz="4697">
                <a:solidFill>
                  <a:srgbClr val="654C4C"/>
                </a:solidFill>
                <a:latin typeface="Handy Casual"/>
                <a:ea typeface="Handy Casual"/>
                <a:cs typeface="Handy Casual"/>
                <a:sym typeface="Handy Casual"/>
              </a:rPr>
              <a:t>an. Dimana di dalamnya juga terdapat cairan yang diberi nama protoplasma. Cairan tersebut terdiri dari plasma sel atau juga biasa disebut sitoplasma dan inti sel (nukleus). Kemudian di dalam inti sel, ada plasma inti yang disebut dengan nukleoplasma.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AC0"/>
        </a:solidFill>
      </p:bgPr>
    </p:bg>
    <p:spTree>
      <p:nvGrpSpPr>
        <p:cNvPr id="1" name=""/>
        <p:cNvGrpSpPr/>
        <p:nvPr/>
      </p:nvGrpSpPr>
      <p:grpSpPr>
        <a:xfrm>
          <a:off x="0" y="0"/>
          <a:ext cx="0" cy="0"/>
          <a:chOff x="0" y="0"/>
          <a:chExt cx="0" cy="0"/>
        </a:xfrm>
      </p:grpSpPr>
      <p:sp>
        <p:nvSpPr>
          <p:cNvPr name="Freeform 2" id="2"/>
          <p:cNvSpPr/>
          <p:nvPr/>
        </p:nvSpPr>
        <p:spPr>
          <a:xfrm flipH="true" flipV="false" rot="0">
            <a:off x="-283494" y="773263"/>
            <a:ext cx="18854988" cy="14569763"/>
          </a:xfrm>
          <a:custGeom>
            <a:avLst/>
            <a:gdLst/>
            <a:ahLst/>
            <a:cxnLst/>
            <a:rect r="r" b="b" t="t" l="l"/>
            <a:pathLst>
              <a:path h="14569763" w="18854988">
                <a:moveTo>
                  <a:pt x="18854988" y="0"/>
                </a:moveTo>
                <a:lnTo>
                  <a:pt x="0" y="0"/>
                </a:lnTo>
                <a:lnTo>
                  <a:pt x="0" y="14569763"/>
                </a:lnTo>
                <a:lnTo>
                  <a:pt x="18854988" y="14569763"/>
                </a:lnTo>
                <a:lnTo>
                  <a:pt x="1885498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24915" y="9048744"/>
            <a:ext cx="5597528" cy="6678178"/>
          </a:xfrm>
          <a:custGeom>
            <a:avLst/>
            <a:gdLst/>
            <a:ahLst/>
            <a:cxnLst/>
            <a:rect r="r" b="b" t="t" l="l"/>
            <a:pathLst>
              <a:path h="6678178" w="5597528">
                <a:moveTo>
                  <a:pt x="0" y="0"/>
                </a:moveTo>
                <a:lnTo>
                  <a:pt x="5597528" y="0"/>
                </a:lnTo>
                <a:lnTo>
                  <a:pt x="5597528" y="6678179"/>
                </a:lnTo>
                <a:lnTo>
                  <a:pt x="0" y="66781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760551" y="-1383008"/>
            <a:ext cx="3797537" cy="3825357"/>
          </a:xfrm>
          <a:custGeom>
            <a:avLst/>
            <a:gdLst/>
            <a:ahLst/>
            <a:cxnLst/>
            <a:rect r="r" b="b" t="t" l="l"/>
            <a:pathLst>
              <a:path h="3825357" w="3797537">
                <a:moveTo>
                  <a:pt x="0" y="0"/>
                </a:moveTo>
                <a:lnTo>
                  <a:pt x="3797537" y="0"/>
                </a:lnTo>
                <a:lnTo>
                  <a:pt x="3797537" y="3825357"/>
                </a:lnTo>
                <a:lnTo>
                  <a:pt x="0" y="38253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489236" y="-805151"/>
            <a:ext cx="5450834" cy="5272443"/>
          </a:xfrm>
          <a:custGeom>
            <a:avLst/>
            <a:gdLst/>
            <a:ahLst/>
            <a:cxnLst/>
            <a:rect r="r" b="b" t="t" l="l"/>
            <a:pathLst>
              <a:path h="5272443" w="5450834">
                <a:moveTo>
                  <a:pt x="0" y="0"/>
                </a:moveTo>
                <a:lnTo>
                  <a:pt x="5450834" y="0"/>
                </a:lnTo>
                <a:lnTo>
                  <a:pt x="5450834" y="5272443"/>
                </a:lnTo>
                <a:lnTo>
                  <a:pt x="0" y="527244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1180645" y="9528420"/>
            <a:ext cx="1944270" cy="2962184"/>
          </a:xfrm>
          <a:custGeom>
            <a:avLst/>
            <a:gdLst/>
            <a:ahLst/>
            <a:cxnLst/>
            <a:rect r="r" b="b" t="t" l="l"/>
            <a:pathLst>
              <a:path h="2962184" w="1944270">
                <a:moveTo>
                  <a:pt x="0" y="0"/>
                </a:moveTo>
                <a:lnTo>
                  <a:pt x="1944270" y="0"/>
                </a:lnTo>
                <a:lnTo>
                  <a:pt x="1944270" y="2962185"/>
                </a:lnTo>
                <a:lnTo>
                  <a:pt x="0" y="29621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3459149" y="5388690"/>
            <a:ext cx="4336139" cy="4367906"/>
          </a:xfrm>
          <a:custGeom>
            <a:avLst/>
            <a:gdLst/>
            <a:ahLst/>
            <a:cxnLst/>
            <a:rect r="r" b="b" t="t" l="l"/>
            <a:pathLst>
              <a:path h="4367906" w="4336139">
                <a:moveTo>
                  <a:pt x="0" y="0"/>
                </a:moveTo>
                <a:lnTo>
                  <a:pt x="4336140" y="0"/>
                </a:lnTo>
                <a:lnTo>
                  <a:pt x="4336140" y="4367906"/>
                </a:lnTo>
                <a:lnTo>
                  <a:pt x="0" y="43679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true" rot="0">
            <a:off x="-1766865" y="-1122852"/>
            <a:ext cx="3487699" cy="3379897"/>
          </a:xfrm>
          <a:custGeom>
            <a:avLst/>
            <a:gdLst/>
            <a:ahLst/>
            <a:cxnLst/>
            <a:rect r="r" b="b" t="t" l="l"/>
            <a:pathLst>
              <a:path h="3379897" w="3487699">
                <a:moveTo>
                  <a:pt x="3487700" y="3379897"/>
                </a:moveTo>
                <a:lnTo>
                  <a:pt x="0" y="3379897"/>
                </a:lnTo>
                <a:lnTo>
                  <a:pt x="0" y="0"/>
                </a:lnTo>
                <a:lnTo>
                  <a:pt x="3487700" y="0"/>
                </a:lnTo>
                <a:lnTo>
                  <a:pt x="3487700" y="3379897"/>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true" flipV="false" rot="0">
            <a:off x="-1766865" y="9048744"/>
            <a:ext cx="5287710" cy="2903434"/>
          </a:xfrm>
          <a:custGeom>
            <a:avLst/>
            <a:gdLst/>
            <a:ahLst/>
            <a:cxnLst/>
            <a:rect r="r" b="b" t="t" l="l"/>
            <a:pathLst>
              <a:path h="2903434" w="5287710">
                <a:moveTo>
                  <a:pt x="5287711" y="0"/>
                </a:moveTo>
                <a:lnTo>
                  <a:pt x="0" y="0"/>
                </a:lnTo>
                <a:lnTo>
                  <a:pt x="0" y="2903434"/>
                </a:lnTo>
                <a:lnTo>
                  <a:pt x="5287711" y="2903434"/>
                </a:lnTo>
                <a:lnTo>
                  <a:pt x="5287711"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0" id="10"/>
          <p:cNvSpPr txBox="true"/>
          <p:nvPr/>
        </p:nvSpPr>
        <p:spPr>
          <a:xfrm rot="0">
            <a:off x="2136095" y="1162050"/>
            <a:ext cx="7852455" cy="2090063"/>
          </a:xfrm>
          <a:prstGeom prst="rect">
            <a:avLst/>
          </a:prstGeom>
        </p:spPr>
        <p:txBody>
          <a:bodyPr anchor="t" rtlCol="false" tIns="0" lIns="0" bIns="0" rIns="0">
            <a:spAutoFit/>
          </a:bodyPr>
          <a:lstStyle/>
          <a:p>
            <a:pPr algn="ctr">
              <a:lnSpc>
                <a:spcPts val="7957"/>
              </a:lnSpc>
            </a:pPr>
            <a:r>
              <a:rPr lang="en-US" sz="7957">
                <a:solidFill>
                  <a:srgbClr val="654C4C"/>
                </a:solidFill>
                <a:latin typeface="Marykate"/>
                <a:ea typeface="Marykate"/>
                <a:cs typeface="Marykate"/>
                <a:sym typeface="Marykate"/>
              </a:rPr>
              <a:t>Sejarah Penemuan Sel</a:t>
            </a:r>
          </a:p>
          <a:p>
            <a:pPr algn="ctr">
              <a:lnSpc>
                <a:spcPts val="7957"/>
              </a:lnSpc>
            </a:pPr>
          </a:p>
        </p:txBody>
      </p:sp>
      <p:sp>
        <p:nvSpPr>
          <p:cNvPr name="TextBox 11" id="11"/>
          <p:cNvSpPr txBox="true"/>
          <p:nvPr/>
        </p:nvSpPr>
        <p:spPr>
          <a:xfrm rot="0">
            <a:off x="1217904" y="2347099"/>
            <a:ext cx="14996672" cy="6611295"/>
          </a:xfrm>
          <a:prstGeom prst="rect">
            <a:avLst/>
          </a:prstGeom>
        </p:spPr>
        <p:txBody>
          <a:bodyPr anchor="t" rtlCol="false" tIns="0" lIns="0" bIns="0" rIns="0">
            <a:spAutoFit/>
          </a:bodyPr>
          <a:lstStyle/>
          <a:p>
            <a:pPr algn="l">
              <a:lnSpc>
                <a:spcPts val="6576"/>
              </a:lnSpc>
            </a:pPr>
            <a:r>
              <a:rPr lang="en-US" sz="4697">
                <a:solidFill>
                  <a:srgbClr val="654C4C"/>
                </a:solidFill>
                <a:latin typeface="Handy Casual"/>
                <a:ea typeface="Handy Casual"/>
                <a:cs typeface="Handy Casual"/>
                <a:sym typeface="Handy Casual"/>
              </a:rPr>
              <a:t>Beberapa tahun kemudian tepatnya di tahun 1839, seorang ahli fisiologi asal Jerman yaitu Theodor Schwann, menyatakan bahwa semua organisme tersusun oleh sel. Lalu muncul pertanyaan terkait, darimana asal dari sel-sel tersebut? Kemudian ahli fisika asal Jerman yang bernama Rudolf Virchow mengungkapkan bahwa sel-sel tersebut berasal dari sel yang sebelumnya sudah ada. Teori mengenai “sel berasal dari sel” tersebut kemudian diperkuat dengan berbagai penelitian ahli mikrobiologi asal Perancis, yaitu Louis Pasteur. Dimana Ia melakukannya pada tahun 1859 hingga 1861.</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AC0"/>
        </a:solidFill>
      </p:bgPr>
    </p:bg>
    <p:spTree>
      <p:nvGrpSpPr>
        <p:cNvPr id="1" name=""/>
        <p:cNvGrpSpPr/>
        <p:nvPr/>
      </p:nvGrpSpPr>
      <p:grpSpPr>
        <a:xfrm>
          <a:off x="0" y="0"/>
          <a:ext cx="0" cy="0"/>
          <a:chOff x="0" y="0"/>
          <a:chExt cx="0" cy="0"/>
        </a:xfrm>
      </p:grpSpPr>
      <p:sp>
        <p:nvSpPr>
          <p:cNvPr name="Freeform 2" id="2"/>
          <p:cNvSpPr/>
          <p:nvPr/>
        </p:nvSpPr>
        <p:spPr>
          <a:xfrm flipH="true" flipV="false" rot="0">
            <a:off x="-283494" y="773263"/>
            <a:ext cx="18854988" cy="14569763"/>
          </a:xfrm>
          <a:custGeom>
            <a:avLst/>
            <a:gdLst/>
            <a:ahLst/>
            <a:cxnLst/>
            <a:rect r="r" b="b" t="t" l="l"/>
            <a:pathLst>
              <a:path h="14569763" w="18854988">
                <a:moveTo>
                  <a:pt x="18854988" y="0"/>
                </a:moveTo>
                <a:lnTo>
                  <a:pt x="0" y="0"/>
                </a:lnTo>
                <a:lnTo>
                  <a:pt x="0" y="14569763"/>
                </a:lnTo>
                <a:lnTo>
                  <a:pt x="18854988" y="14569763"/>
                </a:lnTo>
                <a:lnTo>
                  <a:pt x="1885498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24915" y="9048744"/>
            <a:ext cx="5597528" cy="6678178"/>
          </a:xfrm>
          <a:custGeom>
            <a:avLst/>
            <a:gdLst/>
            <a:ahLst/>
            <a:cxnLst/>
            <a:rect r="r" b="b" t="t" l="l"/>
            <a:pathLst>
              <a:path h="6678178" w="5597528">
                <a:moveTo>
                  <a:pt x="0" y="0"/>
                </a:moveTo>
                <a:lnTo>
                  <a:pt x="5597528" y="0"/>
                </a:lnTo>
                <a:lnTo>
                  <a:pt x="5597528" y="6678179"/>
                </a:lnTo>
                <a:lnTo>
                  <a:pt x="0" y="66781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760551" y="-1383008"/>
            <a:ext cx="3797537" cy="3825357"/>
          </a:xfrm>
          <a:custGeom>
            <a:avLst/>
            <a:gdLst/>
            <a:ahLst/>
            <a:cxnLst/>
            <a:rect r="r" b="b" t="t" l="l"/>
            <a:pathLst>
              <a:path h="3825357" w="3797537">
                <a:moveTo>
                  <a:pt x="0" y="0"/>
                </a:moveTo>
                <a:lnTo>
                  <a:pt x="3797537" y="0"/>
                </a:lnTo>
                <a:lnTo>
                  <a:pt x="3797537" y="3825357"/>
                </a:lnTo>
                <a:lnTo>
                  <a:pt x="0" y="38253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489236" y="-805151"/>
            <a:ext cx="5450834" cy="5272443"/>
          </a:xfrm>
          <a:custGeom>
            <a:avLst/>
            <a:gdLst/>
            <a:ahLst/>
            <a:cxnLst/>
            <a:rect r="r" b="b" t="t" l="l"/>
            <a:pathLst>
              <a:path h="5272443" w="5450834">
                <a:moveTo>
                  <a:pt x="0" y="0"/>
                </a:moveTo>
                <a:lnTo>
                  <a:pt x="5450834" y="0"/>
                </a:lnTo>
                <a:lnTo>
                  <a:pt x="5450834" y="5272443"/>
                </a:lnTo>
                <a:lnTo>
                  <a:pt x="0" y="527244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1180645" y="9528420"/>
            <a:ext cx="1944270" cy="2962184"/>
          </a:xfrm>
          <a:custGeom>
            <a:avLst/>
            <a:gdLst/>
            <a:ahLst/>
            <a:cxnLst/>
            <a:rect r="r" b="b" t="t" l="l"/>
            <a:pathLst>
              <a:path h="2962184" w="1944270">
                <a:moveTo>
                  <a:pt x="0" y="0"/>
                </a:moveTo>
                <a:lnTo>
                  <a:pt x="1944270" y="0"/>
                </a:lnTo>
                <a:lnTo>
                  <a:pt x="1944270" y="2962185"/>
                </a:lnTo>
                <a:lnTo>
                  <a:pt x="0" y="29621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3459149" y="5388690"/>
            <a:ext cx="4336139" cy="4367906"/>
          </a:xfrm>
          <a:custGeom>
            <a:avLst/>
            <a:gdLst/>
            <a:ahLst/>
            <a:cxnLst/>
            <a:rect r="r" b="b" t="t" l="l"/>
            <a:pathLst>
              <a:path h="4367906" w="4336139">
                <a:moveTo>
                  <a:pt x="0" y="0"/>
                </a:moveTo>
                <a:lnTo>
                  <a:pt x="4336140" y="0"/>
                </a:lnTo>
                <a:lnTo>
                  <a:pt x="4336140" y="4367906"/>
                </a:lnTo>
                <a:lnTo>
                  <a:pt x="0" y="43679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true" rot="0">
            <a:off x="-1766865" y="-1383008"/>
            <a:ext cx="3487699" cy="3379897"/>
          </a:xfrm>
          <a:custGeom>
            <a:avLst/>
            <a:gdLst/>
            <a:ahLst/>
            <a:cxnLst/>
            <a:rect r="r" b="b" t="t" l="l"/>
            <a:pathLst>
              <a:path h="3379897" w="3487699">
                <a:moveTo>
                  <a:pt x="3487700" y="3379897"/>
                </a:moveTo>
                <a:lnTo>
                  <a:pt x="0" y="3379897"/>
                </a:lnTo>
                <a:lnTo>
                  <a:pt x="0" y="0"/>
                </a:lnTo>
                <a:lnTo>
                  <a:pt x="3487700" y="0"/>
                </a:lnTo>
                <a:lnTo>
                  <a:pt x="3487700" y="3379897"/>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true" flipV="false" rot="0">
            <a:off x="-1766865" y="9048744"/>
            <a:ext cx="5287710" cy="2903434"/>
          </a:xfrm>
          <a:custGeom>
            <a:avLst/>
            <a:gdLst/>
            <a:ahLst/>
            <a:cxnLst/>
            <a:rect r="r" b="b" t="t" l="l"/>
            <a:pathLst>
              <a:path h="2903434" w="5287710">
                <a:moveTo>
                  <a:pt x="5287711" y="0"/>
                </a:moveTo>
                <a:lnTo>
                  <a:pt x="0" y="0"/>
                </a:lnTo>
                <a:lnTo>
                  <a:pt x="0" y="2903434"/>
                </a:lnTo>
                <a:lnTo>
                  <a:pt x="5287711" y="2903434"/>
                </a:lnTo>
                <a:lnTo>
                  <a:pt x="5287711"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0" id="10"/>
          <p:cNvSpPr txBox="true"/>
          <p:nvPr/>
        </p:nvSpPr>
        <p:spPr>
          <a:xfrm rot="0">
            <a:off x="1028700" y="1227850"/>
            <a:ext cx="14689024" cy="2113754"/>
          </a:xfrm>
          <a:prstGeom prst="rect">
            <a:avLst/>
          </a:prstGeom>
        </p:spPr>
        <p:txBody>
          <a:bodyPr anchor="t" rtlCol="false" tIns="0" lIns="0" bIns="0" rIns="0">
            <a:spAutoFit/>
          </a:bodyPr>
          <a:lstStyle/>
          <a:p>
            <a:pPr algn="l">
              <a:lnSpc>
                <a:spcPts val="5656"/>
              </a:lnSpc>
            </a:pPr>
            <a:r>
              <a:rPr lang="en-US" sz="4040">
                <a:solidFill>
                  <a:srgbClr val="654C4C"/>
                </a:solidFill>
                <a:latin typeface="Handy Casual"/>
                <a:ea typeface="Handy Casual"/>
                <a:cs typeface="Handy Casual"/>
                <a:sym typeface="Handy Casual"/>
              </a:rPr>
              <a:t>Ukuran sel sendiri sangat bervariasi. Mulai dari 1 sampai 10 mikron, contohnya saja bakteri. Kemudian ada juga yang berukuran 30 hingga 40 mikron, contohnya Protozoa. Bahkan ada pula yang mencapai beberapa sentimeter, contohnya saja serabut kapas. </a:t>
            </a:r>
          </a:p>
        </p:txBody>
      </p:sp>
      <p:sp>
        <p:nvSpPr>
          <p:cNvPr name="TextBox 11" id="11"/>
          <p:cNvSpPr txBox="true"/>
          <p:nvPr/>
        </p:nvSpPr>
        <p:spPr>
          <a:xfrm rot="0">
            <a:off x="2230445" y="4142855"/>
            <a:ext cx="14327643" cy="2057748"/>
          </a:xfrm>
          <a:prstGeom prst="rect">
            <a:avLst/>
          </a:prstGeom>
        </p:spPr>
        <p:txBody>
          <a:bodyPr anchor="t" rtlCol="false" tIns="0" lIns="0" bIns="0" rIns="0">
            <a:spAutoFit/>
          </a:bodyPr>
          <a:lstStyle/>
          <a:p>
            <a:pPr algn="l">
              <a:lnSpc>
                <a:spcPts val="4045"/>
              </a:lnSpc>
              <a:spcBef>
                <a:spcPct val="0"/>
              </a:spcBef>
            </a:pPr>
            <a:r>
              <a:rPr lang="en-US" sz="4045">
                <a:solidFill>
                  <a:srgbClr val="654C4C"/>
                </a:solidFill>
                <a:latin typeface="Marykate"/>
                <a:ea typeface="Marykate"/>
                <a:cs typeface="Marykate"/>
                <a:sym typeface="Marykate"/>
              </a:rPr>
              <a:t>Selain itu, sel juga memiliki berbagai macam bentuk. Walaupun ukurannya sangat kecil, tapi strukturnya sangatlah rumit dan setiap bagian sel mempunyai fungsi yang berbeda dan juga khusus. Misalnya saja, mitokondria yang ada di dalam sel berguna untuk menghasilkan energi, sementara lisosom berfungsi sebagai pencerna. </a:t>
            </a:r>
          </a:p>
        </p:txBody>
      </p:sp>
      <p:sp>
        <p:nvSpPr>
          <p:cNvPr name="TextBox 12" id="12"/>
          <p:cNvSpPr txBox="true"/>
          <p:nvPr/>
        </p:nvSpPr>
        <p:spPr>
          <a:xfrm rot="0">
            <a:off x="1343841" y="6982803"/>
            <a:ext cx="15028855" cy="2065941"/>
          </a:xfrm>
          <a:prstGeom prst="rect">
            <a:avLst/>
          </a:prstGeom>
        </p:spPr>
        <p:txBody>
          <a:bodyPr anchor="t" rtlCol="false" tIns="0" lIns="0" bIns="0" rIns="0">
            <a:spAutoFit/>
          </a:bodyPr>
          <a:lstStyle/>
          <a:p>
            <a:pPr algn="l">
              <a:lnSpc>
                <a:spcPts val="3984"/>
              </a:lnSpc>
              <a:spcBef>
                <a:spcPct val="0"/>
              </a:spcBef>
            </a:pPr>
            <a:r>
              <a:rPr lang="en-US" sz="3984">
                <a:solidFill>
                  <a:srgbClr val="654C4C"/>
                </a:solidFill>
                <a:latin typeface="Marykate"/>
                <a:ea typeface="Marykate"/>
                <a:cs typeface="Marykate"/>
                <a:sym typeface="Marykate"/>
              </a:rPr>
              <a:t>Namun perlu diketahui bahwa bagian di dalam sel tidak bisa berdiri sendiri. Sehingga bagian-bagian tersebut harus berada di dalam kesatuan sel supaya bisa berfungsi dengan normal. Antar bagian sel pasti akan saling berhubungan dan ketergantungan. Oleh sebab itu, sel dipandang sebagai salah satu unit terkecil dari organisme atau makhluk hidup.</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AC0"/>
        </a:solidFill>
      </p:bgPr>
    </p:bg>
    <p:spTree>
      <p:nvGrpSpPr>
        <p:cNvPr id="1" name=""/>
        <p:cNvGrpSpPr/>
        <p:nvPr/>
      </p:nvGrpSpPr>
      <p:grpSpPr>
        <a:xfrm>
          <a:off x="0" y="0"/>
          <a:ext cx="0" cy="0"/>
          <a:chOff x="0" y="0"/>
          <a:chExt cx="0" cy="0"/>
        </a:xfrm>
      </p:grpSpPr>
      <p:sp>
        <p:nvSpPr>
          <p:cNvPr name="Freeform 2" id="2"/>
          <p:cNvSpPr/>
          <p:nvPr/>
        </p:nvSpPr>
        <p:spPr>
          <a:xfrm flipH="false" flipV="false" rot="0">
            <a:off x="14630400" y="-222751"/>
            <a:ext cx="7315200" cy="3458095"/>
          </a:xfrm>
          <a:custGeom>
            <a:avLst/>
            <a:gdLst/>
            <a:ahLst/>
            <a:cxnLst/>
            <a:rect r="r" b="b" t="t" l="l"/>
            <a:pathLst>
              <a:path h="3458095" w="7315200">
                <a:moveTo>
                  <a:pt x="0" y="0"/>
                </a:moveTo>
                <a:lnTo>
                  <a:pt x="7315200" y="0"/>
                </a:lnTo>
                <a:lnTo>
                  <a:pt x="7315200" y="3458095"/>
                </a:lnTo>
                <a:lnTo>
                  <a:pt x="0" y="34580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657600" y="7051656"/>
            <a:ext cx="7315200" cy="3458095"/>
          </a:xfrm>
          <a:custGeom>
            <a:avLst/>
            <a:gdLst/>
            <a:ahLst/>
            <a:cxnLst/>
            <a:rect r="r" b="b" t="t" l="l"/>
            <a:pathLst>
              <a:path h="3458095" w="7315200">
                <a:moveTo>
                  <a:pt x="0" y="0"/>
                </a:moveTo>
                <a:lnTo>
                  <a:pt x="7315200" y="0"/>
                </a:lnTo>
                <a:lnTo>
                  <a:pt x="7315200" y="3458095"/>
                </a:lnTo>
                <a:lnTo>
                  <a:pt x="0" y="34580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5271489" y="-234987"/>
            <a:ext cx="7745022" cy="10756975"/>
          </a:xfrm>
          <a:custGeom>
            <a:avLst/>
            <a:gdLst/>
            <a:ahLst/>
            <a:cxnLst/>
            <a:rect r="r" b="b" t="t" l="l"/>
            <a:pathLst>
              <a:path h="10756975" w="7745022">
                <a:moveTo>
                  <a:pt x="0" y="0"/>
                </a:moveTo>
                <a:lnTo>
                  <a:pt x="7745022" y="0"/>
                </a:lnTo>
                <a:lnTo>
                  <a:pt x="7745022" y="10756974"/>
                </a:lnTo>
                <a:lnTo>
                  <a:pt x="0" y="107569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3590940" y="8665279"/>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90650" y="-2493079"/>
            <a:ext cx="5287710" cy="4114800"/>
          </a:xfrm>
          <a:custGeom>
            <a:avLst/>
            <a:gdLst/>
            <a:ahLst/>
            <a:cxnLst/>
            <a:rect r="r" b="b" t="t" l="l"/>
            <a:pathLst>
              <a:path h="4114800" w="5287710">
                <a:moveTo>
                  <a:pt x="0" y="0"/>
                </a:moveTo>
                <a:lnTo>
                  <a:pt x="5287710" y="0"/>
                </a:lnTo>
                <a:lnTo>
                  <a:pt x="528771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512311" y="7456362"/>
            <a:ext cx="4463787" cy="4114800"/>
          </a:xfrm>
          <a:custGeom>
            <a:avLst/>
            <a:gdLst/>
            <a:ahLst/>
            <a:cxnLst/>
            <a:rect r="r" b="b" t="t" l="l"/>
            <a:pathLst>
              <a:path h="4114800" w="4463787">
                <a:moveTo>
                  <a:pt x="0" y="0"/>
                </a:moveTo>
                <a:lnTo>
                  <a:pt x="4463787" y="0"/>
                </a:lnTo>
                <a:lnTo>
                  <a:pt x="446378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true" rot="0">
            <a:off x="11842827" y="-1226290"/>
            <a:ext cx="6755642" cy="4114800"/>
          </a:xfrm>
          <a:custGeom>
            <a:avLst/>
            <a:gdLst/>
            <a:ahLst/>
            <a:cxnLst/>
            <a:rect r="r" b="b" t="t" l="l"/>
            <a:pathLst>
              <a:path h="4114800" w="6755642">
                <a:moveTo>
                  <a:pt x="0" y="4114800"/>
                </a:moveTo>
                <a:lnTo>
                  <a:pt x="6755642" y="4114800"/>
                </a:lnTo>
                <a:lnTo>
                  <a:pt x="6755642" y="0"/>
                </a:lnTo>
                <a:lnTo>
                  <a:pt x="0" y="0"/>
                </a:lnTo>
                <a:lnTo>
                  <a:pt x="0" y="411480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1028700" y="1034994"/>
            <a:ext cx="2669749" cy="2669749"/>
          </a:xfrm>
          <a:custGeom>
            <a:avLst/>
            <a:gdLst/>
            <a:ahLst/>
            <a:cxnLst/>
            <a:rect r="r" b="b" t="t" l="l"/>
            <a:pathLst>
              <a:path h="2669749" w="2669749">
                <a:moveTo>
                  <a:pt x="0" y="0"/>
                </a:moveTo>
                <a:lnTo>
                  <a:pt x="2669749" y="0"/>
                </a:lnTo>
                <a:lnTo>
                  <a:pt x="2669749" y="2669749"/>
                </a:lnTo>
                <a:lnTo>
                  <a:pt x="0" y="266974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5509732" y="6568387"/>
            <a:ext cx="1749568" cy="2855378"/>
          </a:xfrm>
          <a:custGeom>
            <a:avLst/>
            <a:gdLst/>
            <a:ahLst/>
            <a:cxnLst/>
            <a:rect r="r" b="b" t="t" l="l"/>
            <a:pathLst>
              <a:path h="2855378" w="1749568">
                <a:moveTo>
                  <a:pt x="0" y="0"/>
                </a:moveTo>
                <a:lnTo>
                  <a:pt x="1749568" y="0"/>
                </a:lnTo>
                <a:lnTo>
                  <a:pt x="1749568" y="2855378"/>
                </a:lnTo>
                <a:lnTo>
                  <a:pt x="0" y="285537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6874618" y="3436189"/>
            <a:ext cx="4538765" cy="404363"/>
          </a:xfrm>
          <a:custGeom>
            <a:avLst/>
            <a:gdLst/>
            <a:ahLst/>
            <a:cxnLst/>
            <a:rect r="r" b="b" t="t" l="l"/>
            <a:pathLst>
              <a:path h="404363" w="4538765">
                <a:moveTo>
                  <a:pt x="0" y="0"/>
                </a:moveTo>
                <a:lnTo>
                  <a:pt x="4538764" y="0"/>
                </a:lnTo>
                <a:lnTo>
                  <a:pt x="4538764" y="404363"/>
                </a:lnTo>
                <a:lnTo>
                  <a:pt x="0" y="40436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2" id="12"/>
          <p:cNvSpPr txBox="true"/>
          <p:nvPr/>
        </p:nvSpPr>
        <p:spPr>
          <a:xfrm rot="0">
            <a:off x="5104293" y="2329324"/>
            <a:ext cx="8079414" cy="963893"/>
          </a:xfrm>
          <a:prstGeom prst="rect">
            <a:avLst/>
          </a:prstGeom>
        </p:spPr>
        <p:txBody>
          <a:bodyPr anchor="t" rtlCol="false" tIns="0" lIns="0" bIns="0" rIns="0">
            <a:spAutoFit/>
          </a:bodyPr>
          <a:lstStyle/>
          <a:p>
            <a:pPr algn="ctr">
              <a:lnSpc>
                <a:spcPts val="7200"/>
              </a:lnSpc>
            </a:pPr>
            <a:r>
              <a:rPr lang="en-US" sz="7200">
                <a:solidFill>
                  <a:srgbClr val="654C4C"/>
                </a:solidFill>
                <a:latin typeface="Marykate"/>
                <a:ea typeface="Marykate"/>
                <a:cs typeface="Marykate"/>
                <a:sym typeface="Marykate"/>
              </a:rPr>
              <a:t>Tujuan Pembelajaran</a:t>
            </a:r>
          </a:p>
        </p:txBody>
      </p:sp>
      <p:sp>
        <p:nvSpPr>
          <p:cNvPr name="TextBox 13" id="13"/>
          <p:cNvSpPr txBox="true"/>
          <p:nvPr/>
        </p:nvSpPr>
        <p:spPr>
          <a:xfrm rot="0">
            <a:off x="5104293" y="4052299"/>
            <a:ext cx="8079414" cy="537882"/>
          </a:xfrm>
          <a:prstGeom prst="rect">
            <a:avLst/>
          </a:prstGeom>
        </p:spPr>
        <p:txBody>
          <a:bodyPr anchor="t" rtlCol="false" tIns="0" lIns="0" bIns="0" rIns="0">
            <a:spAutoFit/>
          </a:bodyPr>
          <a:lstStyle/>
          <a:p>
            <a:pPr algn="l">
              <a:lnSpc>
                <a:spcPts val="4480"/>
              </a:lnSpc>
            </a:pPr>
            <a:r>
              <a:rPr lang="en-US" sz="3200">
                <a:solidFill>
                  <a:srgbClr val="654C4C"/>
                </a:solidFill>
                <a:latin typeface="Handy Casual"/>
                <a:ea typeface="Handy Casual"/>
                <a:cs typeface="Handy Casual"/>
                <a:sym typeface="Handy Casual"/>
              </a:rPr>
              <a:t>Setelah mempelajari bab ini, siswa diharapkan mampu:</a:t>
            </a:r>
          </a:p>
        </p:txBody>
      </p:sp>
      <p:sp>
        <p:nvSpPr>
          <p:cNvPr name="TextBox 14" id="14"/>
          <p:cNvSpPr txBox="true"/>
          <p:nvPr/>
        </p:nvSpPr>
        <p:spPr>
          <a:xfrm rot="0">
            <a:off x="5104293" y="4670431"/>
            <a:ext cx="8079414" cy="2785931"/>
          </a:xfrm>
          <a:prstGeom prst="rect">
            <a:avLst/>
          </a:prstGeom>
        </p:spPr>
        <p:txBody>
          <a:bodyPr anchor="t" rtlCol="false" tIns="0" lIns="0" bIns="0" rIns="0">
            <a:spAutoFit/>
          </a:bodyPr>
          <a:lstStyle/>
          <a:p>
            <a:pPr algn="l" marL="690881" indent="-345440" lvl="1">
              <a:lnSpc>
                <a:spcPts val="4480"/>
              </a:lnSpc>
              <a:buFont typeface="Arial"/>
              <a:buChar char="•"/>
            </a:pPr>
            <a:r>
              <a:rPr lang="en-US" sz="3200">
                <a:solidFill>
                  <a:srgbClr val="654C4C"/>
                </a:solidFill>
                <a:latin typeface="Handy Casual"/>
                <a:ea typeface="Handy Casual"/>
                <a:cs typeface="Handy Casual"/>
                <a:sym typeface="Handy Casual"/>
              </a:rPr>
              <a:t>Memahami struktur dan fungsi sel melalui penyelidikan</a:t>
            </a:r>
          </a:p>
          <a:p>
            <a:pPr algn="l" marL="690881" indent="-345440" lvl="1">
              <a:lnSpc>
                <a:spcPts val="4480"/>
              </a:lnSpc>
              <a:buFont typeface="Arial"/>
              <a:buChar char="•"/>
            </a:pPr>
            <a:r>
              <a:rPr lang="en-US" sz="3200">
                <a:solidFill>
                  <a:srgbClr val="654C4C"/>
                </a:solidFill>
                <a:latin typeface="Handy Casual"/>
                <a:ea typeface="Handy Casual"/>
                <a:cs typeface="Handy Casual"/>
                <a:sym typeface="Handy Casual"/>
              </a:rPr>
              <a:t>Mengaitkan struktur dengan fungsi sel</a:t>
            </a:r>
          </a:p>
          <a:p>
            <a:pPr algn="l" marL="690881" indent="-345440" lvl="1">
              <a:lnSpc>
                <a:spcPts val="4480"/>
              </a:lnSpc>
              <a:buFont typeface="Arial"/>
              <a:buChar char="•"/>
            </a:pPr>
            <a:r>
              <a:rPr lang="en-US" sz="3200">
                <a:solidFill>
                  <a:srgbClr val="654C4C"/>
                </a:solidFill>
                <a:latin typeface="Handy Casual"/>
                <a:ea typeface="Handy Casual"/>
                <a:cs typeface="Handy Casual"/>
                <a:sym typeface="Handy Casual"/>
              </a:rPr>
              <a:t>Menjelaskan komposisi utama sel</a:t>
            </a:r>
          </a:p>
          <a:p>
            <a:pPr algn="l" marL="690881" indent="-345440" lvl="1">
              <a:lnSpc>
                <a:spcPts val="4480"/>
              </a:lnSpc>
              <a:buFont typeface="Arial"/>
              <a:buChar char="•"/>
            </a:pPr>
            <a:r>
              <a:rPr lang="en-US" sz="3200">
                <a:solidFill>
                  <a:srgbClr val="654C4C"/>
                </a:solidFill>
                <a:latin typeface="Handy Casual"/>
                <a:ea typeface="Handy Casual"/>
                <a:cs typeface="Handy Casual"/>
                <a:sym typeface="Handy Casual"/>
              </a:rPr>
              <a:t>Membedakan organel sel hewan, tumbuhan, dan prokariot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AC0"/>
        </a:solidFill>
      </p:bgPr>
    </p:bg>
    <p:spTree>
      <p:nvGrpSpPr>
        <p:cNvPr id="1" name=""/>
        <p:cNvGrpSpPr/>
        <p:nvPr/>
      </p:nvGrpSpPr>
      <p:grpSpPr>
        <a:xfrm>
          <a:off x="0" y="0"/>
          <a:ext cx="0" cy="0"/>
          <a:chOff x="0" y="0"/>
          <a:chExt cx="0" cy="0"/>
        </a:xfrm>
      </p:grpSpPr>
      <p:sp>
        <p:nvSpPr>
          <p:cNvPr name="Freeform 2" id="2"/>
          <p:cNvSpPr/>
          <p:nvPr/>
        </p:nvSpPr>
        <p:spPr>
          <a:xfrm flipH="false" flipV="false" rot="0">
            <a:off x="4285096" y="1535128"/>
            <a:ext cx="9339316" cy="7216744"/>
          </a:xfrm>
          <a:custGeom>
            <a:avLst/>
            <a:gdLst/>
            <a:ahLst/>
            <a:cxnLst/>
            <a:rect r="r" b="b" t="t" l="l"/>
            <a:pathLst>
              <a:path h="7216744" w="9339316">
                <a:moveTo>
                  <a:pt x="0" y="0"/>
                </a:moveTo>
                <a:lnTo>
                  <a:pt x="9339316" y="0"/>
                </a:lnTo>
                <a:lnTo>
                  <a:pt x="9339316" y="7216744"/>
                </a:lnTo>
                <a:lnTo>
                  <a:pt x="0" y="72167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36945" y="6588551"/>
            <a:ext cx="2962656" cy="4114800"/>
          </a:xfrm>
          <a:custGeom>
            <a:avLst/>
            <a:gdLst/>
            <a:ahLst/>
            <a:cxnLst/>
            <a:rect r="r" b="b" t="t" l="l"/>
            <a:pathLst>
              <a:path h="4114800" w="2962656">
                <a:moveTo>
                  <a:pt x="0" y="0"/>
                </a:moveTo>
                <a:lnTo>
                  <a:pt x="2962656" y="0"/>
                </a:lnTo>
                <a:lnTo>
                  <a:pt x="296265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888399" y="-416351"/>
            <a:ext cx="2962656" cy="4114800"/>
          </a:xfrm>
          <a:custGeom>
            <a:avLst/>
            <a:gdLst/>
            <a:ahLst/>
            <a:cxnLst/>
            <a:rect r="r" b="b" t="t" l="l"/>
            <a:pathLst>
              <a:path h="4114800" w="2962656">
                <a:moveTo>
                  <a:pt x="0" y="0"/>
                </a:moveTo>
                <a:lnTo>
                  <a:pt x="2962656" y="0"/>
                </a:lnTo>
                <a:lnTo>
                  <a:pt x="296265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973886" y="-1170290"/>
            <a:ext cx="6487991" cy="7024400"/>
          </a:xfrm>
          <a:custGeom>
            <a:avLst/>
            <a:gdLst/>
            <a:ahLst/>
            <a:cxnLst/>
            <a:rect r="r" b="b" t="t" l="l"/>
            <a:pathLst>
              <a:path h="7024400" w="6487991">
                <a:moveTo>
                  <a:pt x="0" y="0"/>
                </a:moveTo>
                <a:lnTo>
                  <a:pt x="6487991" y="0"/>
                </a:lnTo>
                <a:lnTo>
                  <a:pt x="6487991" y="7024400"/>
                </a:lnTo>
                <a:lnTo>
                  <a:pt x="0" y="7024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3773895" y="4432890"/>
            <a:ext cx="6487991" cy="7024400"/>
          </a:xfrm>
          <a:custGeom>
            <a:avLst/>
            <a:gdLst/>
            <a:ahLst/>
            <a:cxnLst/>
            <a:rect r="r" b="b" t="t" l="l"/>
            <a:pathLst>
              <a:path h="7024400" w="6487991">
                <a:moveTo>
                  <a:pt x="0" y="0"/>
                </a:moveTo>
                <a:lnTo>
                  <a:pt x="6487991" y="0"/>
                </a:lnTo>
                <a:lnTo>
                  <a:pt x="6487991" y="7024400"/>
                </a:lnTo>
                <a:lnTo>
                  <a:pt x="0" y="7024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6874618" y="3558761"/>
            <a:ext cx="4538765" cy="404363"/>
          </a:xfrm>
          <a:custGeom>
            <a:avLst/>
            <a:gdLst/>
            <a:ahLst/>
            <a:cxnLst/>
            <a:rect r="r" b="b" t="t" l="l"/>
            <a:pathLst>
              <a:path h="404363" w="4538765">
                <a:moveTo>
                  <a:pt x="0" y="0"/>
                </a:moveTo>
                <a:lnTo>
                  <a:pt x="4538764" y="0"/>
                </a:lnTo>
                <a:lnTo>
                  <a:pt x="4538764" y="404362"/>
                </a:lnTo>
                <a:lnTo>
                  <a:pt x="0" y="4043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312431" y="-2417783"/>
            <a:ext cx="5597528" cy="6678178"/>
          </a:xfrm>
          <a:custGeom>
            <a:avLst/>
            <a:gdLst/>
            <a:ahLst/>
            <a:cxnLst/>
            <a:rect r="r" b="b" t="t" l="l"/>
            <a:pathLst>
              <a:path h="6678178" w="5597528">
                <a:moveTo>
                  <a:pt x="0" y="0"/>
                </a:moveTo>
                <a:lnTo>
                  <a:pt x="5597527" y="0"/>
                </a:lnTo>
                <a:lnTo>
                  <a:pt x="5597527" y="6678178"/>
                </a:lnTo>
                <a:lnTo>
                  <a:pt x="0" y="667817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13732686" y="6453533"/>
            <a:ext cx="5450834" cy="5272443"/>
          </a:xfrm>
          <a:custGeom>
            <a:avLst/>
            <a:gdLst/>
            <a:ahLst/>
            <a:cxnLst/>
            <a:rect r="r" b="b" t="t" l="l"/>
            <a:pathLst>
              <a:path h="5272443" w="5450834">
                <a:moveTo>
                  <a:pt x="0" y="0"/>
                </a:moveTo>
                <a:lnTo>
                  <a:pt x="5450835" y="0"/>
                </a:lnTo>
                <a:lnTo>
                  <a:pt x="5450835" y="5272443"/>
                </a:lnTo>
                <a:lnTo>
                  <a:pt x="0" y="527244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4272817" y="-524988"/>
            <a:ext cx="3487699" cy="3379897"/>
          </a:xfrm>
          <a:custGeom>
            <a:avLst/>
            <a:gdLst/>
            <a:ahLst/>
            <a:cxnLst/>
            <a:rect r="r" b="b" t="t" l="l"/>
            <a:pathLst>
              <a:path h="3379897" w="3487699">
                <a:moveTo>
                  <a:pt x="0" y="0"/>
                </a:moveTo>
                <a:lnTo>
                  <a:pt x="3487699" y="0"/>
                </a:lnTo>
                <a:lnTo>
                  <a:pt x="3487699" y="3379897"/>
                </a:lnTo>
                <a:lnTo>
                  <a:pt x="0" y="337989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true" rot="0">
            <a:off x="527484" y="7500033"/>
            <a:ext cx="4003462" cy="3311955"/>
          </a:xfrm>
          <a:custGeom>
            <a:avLst/>
            <a:gdLst/>
            <a:ahLst/>
            <a:cxnLst/>
            <a:rect r="r" b="b" t="t" l="l"/>
            <a:pathLst>
              <a:path h="3311955" w="4003462">
                <a:moveTo>
                  <a:pt x="0" y="3311955"/>
                </a:moveTo>
                <a:lnTo>
                  <a:pt x="4003462" y="3311955"/>
                </a:lnTo>
                <a:lnTo>
                  <a:pt x="4003462" y="0"/>
                </a:lnTo>
                <a:lnTo>
                  <a:pt x="0" y="0"/>
                </a:lnTo>
                <a:lnTo>
                  <a:pt x="0" y="3311955"/>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2" id="12"/>
          <p:cNvSpPr txBox="true"/>
          <p:nvPr/>
        </p:nvSpPr>
        <p:spPr>
          <a:xfrm rot="0">
            <a:off x="5860325" y="4174870"/>
            <a:ext cx="6567351" cy="3909955"/>
          </a:xfrm>
          <a:prstGeom prst="rect">
            <a:avLst/>
          </a:prstGeom>
        </p:spPr>
        <p:txBody>
          <a:bodyPr anchor="t" rtlCol="false" tIns="0" lIns="0" bIns="0" rIns="0">
            <a:spAutoFit/>
          </a:bodyPr>
          <a:lstStyle/>
          <a:p>
            <a:pPr algn="ctr">
              <a:lnSpc>
                <a:spcPts val="4480"/>
              </a:lnSpc>
            </a:pPr>
            <a:r>
              <a:rPr lang="en-US" sz="3200">
                <a:solidFill>
                  <a:srgbClr val="654C4C"/>
                </a:solidFill>
                <a:latin typeface="Handy Casual"/>
                <a:ea typeface="Handy Casual"/>
                <a:cs typeface="Handy Casual"/>
                <a:sym typeface="Handy Casual"/>
              </a:rPr>
              <a:t>Sel adalah unit struktural dan fungsional terkecil yang membentuk semua makhluk hidup. Mulai dari bakteri hingga manusia, setiap organisme terdiri dari satu atau lebih sel. Di dalam sel terjadi proses penting kehidupan, seperti pertumbuhan, metabolisme, pembelahan, dan respons terhadap rangsang.</a:t>
            </a:r>
          </a:p>
        </p:txBody>
      </p:sp>
      <p:sp>
        <p:nvSpPr>
          <p:cNvPr name="TextBox 13" id="13"/>
          <p:cNvSpPr txBox="true"/>
          <p:nvPr/>
        </p:nvSpPr>
        <p:spPr>
          <a:xfrm rot="0">
            <a:off x="5860325" y="2461670"/>
            <a:ext cx="6567351" cy="963893"/>
          </a:xfrm>
          <a:prstGeom prst="rect">
            <a:avLst/>
          </a:prstGeom>
        </p:spPr>
        <p:txBody>
          <a:bodyPr anchor="t" rtlCol="false" tIns="0" lIns="0" bIns="0" rIns="0">
            <a:spAutoFit/>
          </a:bodyPr>
          <a:lstStyle/>
          <a:p>
            <a:pPr algn="ctr">
              <a:lnSpc>
                <a:spcPts val="7200"/>
              </a:lnSpc>
            </a:pPr>
            <a:r>
              <a:rPr lang="en-US" sz="7200">
                <a:solidFill>
                  <a:srgbClr val="654C4C"/>
                </a:solidFill>
                <a:latin typeface="Marykate"/>
                <a:ea typeface="Marykate"/>
                <a:cs typeface="Marykate"/>
                <a:sym typeface="Marykate"/>
              </a:rPr>
              <a:t>Apa Itu Sel?</a:t>
            </a:r>
          </a:p>
        </p:txBody>
      </p:sp>
      <p:sp>
        <p:nvSpPr>
          <p:cNvPr name="Freeform 14" id="14"/>
          <p:cNvSpPr/>
          <p:nvPr/>
        </p:nvSpPr>
        <p:spPr>
          <a:xfrm flipH="true" flipV="false" rot="0">
            <a:off x="7231939" y="-546141"/>
            <a:ext cx="6018916" cy="1521144"/>
          </a:xfrm>
          <a:custGeom>
            <a:avLst/>
            <a:gdLst/>
            <a:ahLst/>
            <a:cxnLst/>
            <a:rect r="r" b="b" t="t" l="l"/>
            <a:pathLst>
              <a:path h="1521144" w="6018916">
                <a:moveTo>
                  <a:pt x="6018917" y="0"/>
                </a:moveTo>
                <a:lnTo>
                  <a:pt x="0" y="0"/>
                </a:lnTo>
                <a:lnTo>
                  <a:pt x="0" y="1521144"/>
                </a:lnTo>
                <a:lnTo>
                  <a:pt x="6018917" y="1521144"/>
                </a:lnTo>
                <a:lnTo>
                  <a:pt x="6018917"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5" id="15"/>
          <p:cNvSpPr/>
          <p:nvPr/>
        </p:nvSpPr>
        <p:spPr>
          <a:xfrm flipH="true" flipV="true" rot="0">
            <a:off x="5037144" y="9311997"/>
            <a:ext cx="6018916" cy="1521144"/>
          </a:xfrm>
          <a:custGeom>
            <a:avLst/>
            <a:gdLst/>
            <a:ahLst/>
            <a:cxnLst/>
            <a:rect r="r" b="b" t="t" l="l"/>
            <a:pathLst>
              <a:path h="1521144" w="6018916">
                <a:moveTo>
                  <a:pt x="6018917" y="1521144"/>
                </a:moveTo>
                <a:lnTo>
                  <a:pt x="0" y="1521144"/>
                </a:lnTo>
                <a:lnTo>
                  <a:pt x="0" y="0"/>
                </a:lnTo>
                <a:lnTo>
                  <a:pt x="6018917" y="0"/>
                </a:lnTo>
                <a:lnTo>
                  <a:pt x="6018917" y="1521144"/>
                </a:lnTo>
                <a:close/>
              </a:path>
            </a:pathLst>
          </a:custGeom>
          <a:blipFill>
            <a:blip r:embed="rId18">
              <a:extLst>
                <a:ext uri="{96DAC541-7B7A-43D3-8B79-37D633B846F1}">
                  <asvg:svgBlip xmlns:asvg="http://schemas.microsoft.com/office/drawing/2016/SVG/main" r:embed="rId19"/>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AC0"/>
        </a:solidFill>
      </p:bgPr>
    </p:bg>
    <p:spTree>
      <p:nvGrpSpPr>
        <p:cNvPr id="1" name=""/>
        <p:cNvGrpSpPr/>
        <p:nvPr/>
      </p:nvGrpSpPr>
      <p:grpSpPr>
        <a:xfrm>
          <a:off x="0" y="0"/>
          <a:ext cx="0" cy="0"/>
          <a:chOff x="0" y="0"/>
          <a:chExt cx="0" cy="0"/>
        </a:xfrm>
      </p:grpSpPr>
      <p:sp>
        <p:nvSpPr>
          <p:cNvPr name="Freeform 2" id="2"/>
          <p:cNvSpPr/>
          <p:nvPr/>
        </p:nvSpPr>
        <p:spPr>
          <a:xfrm flipH="false" flipV="false" rot="0">
            <a:off x="12782690" y="6364272"/>
            <a:ext cx="7315200" cy="3497996"/>
          </a:xfrm>
          <a:custGeom>
            <a:avLst/>
            <a:gdLst/>
            <a:ahLst/>
            <a:cxnLst/>
            <a:rect r="r" b="b" t="t" l="l"/>
            <a:pathLst>
              <a:path h="3497996" w="7315200">
                <a:moveTo>
                  <a:pt x="0" y="0"/>
                </a:moveTo>
                <a:lnTo>
                  <a:pt x="7315200" y="0"/>
                </a:lnTo>
                <a:lnTo>
                  <a:pt x="7315200" y="3497996"/>
                </a:lnTo>
                <a:lnTo>
                  <a:pt x="0" y="34979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809890" y="6364272"/>
            <a:ext cx="7315200" cy="3497996"/>
          </a:xfrm>
          <a:custGeom>
            <a:avLst/>
            <a:gdLst/>
            <a:ahLst/>
            <a:cxnLst/>
            <a:rect r="r" b="b" t="t" l="l"/>
            <a:pathLst>
              <a:path h="3497996" w="7315200">
                <a:moveTo>
                  <a:pt x="0" y="0"/>
                </a:moveTo>
                <a:lnTo>
                  <a:pt x="7315200" y="0"/>
                </a:lnTo>
                <a:lnTo>
                  <a:pt x="7315200" y="3497996"/>
                </a:lnTo>
                <a:lnTo>
                  <a:pt x="0" y="34979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590272" y="3224731"/>
            <a:ext cx="5107457" cy="455028"/>
          </a:xfrm>
          <a:custGeom>
            <a:avLst/>
            <a:gdLst/>
            <a:ahLst/>
            <a:cxnLst/>
            <a:rect r="r" b="b" t="t" l="l"/>
            <a:pathLst>
              <a:path h="455028" w="5107457">
                <a:moveTo>
                  <a:pt x="0" y="0"/>
                </a:moveTo>
                <a:lnTo>
                  <a:pt x="5107456" y="0"/>
                </a:lnTo>
                <a:lnTo>
                  <a:pt x="5107456" y="455028"/>
                </a:lnTo>
                <a:lnTo>
                  <a:pt x="0" y="4550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636705" y="1588253"/>
            <a:ext cx="3126882" cy="4342892"/>
          </a:xfrm>
          <a:custGeom>
            <a:avLst/>
            <a:gdLst/>
            <a:ahLst/>
            <a:cxnLst/>
            <a:rect r="r" b="b" t="t" l="l"/>
            <a:pathLst>
              <a:path h="4342892" w="3126882">
                <a:moveTo>
                  <a:pt x="0" y="0"/>
                </a:moveTo>
                <a:lnTo>
                  <a:pt x="3126882" y="0"/>
                </a:lnTo>
                <a:lnTo>
                  <a:pt x="3126882" y="4342892"/>
                </a:lnTo>
                <a:lnTo>
                  <a:pt x="0" y="43428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5400000">
            <a:off x="4870765" y="4532489"/>
            <a:ext cx="3126882" cy="4342892"/>
          </a:xfrm>
          <a:custGeom>
            <a:avLst/>
            <a:gdLst/>
            <a:ahLst/>
            <a:cxnLst/>
            <a:rect r="r" b="b" t="t" l="l"/>
            <a:pathLst>
              <a:path h="4342892" w="3126882">
                <a:moveTo>
                  <a:pt x="0" y="0"/>
                </a:moveTo>
                <a:lnTo>
                  <a:pt x="3126883" y="0"/>
                </a:lnTo>
                <a:lnTo>
                  <a:pt x="3126883" y="4342892"/>
                </a:lnTo>
                <a:lnTo>
                  <a:pt x="0" y="43428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400000">
            <a:off x="13524413" y="1588253"/>
            <a:ext cx="3126882" cy="4342892"/>
          </a:xfrm>
          <a:custGeom>
            <a:avLst/>
            <a:gdLst/>
            <a:ahLst/>
            <a:cxnLst/>
            <a:rect r="r" b="b" t="t" l="l"/>
            <a:pathLst>
              <a:path h="4342892" w="3126882">
                <a:moveTo>
                  <a:pt x="0" y="0"/>
                </a:moveTo>
                <a:lnTo>
                  <a:pt x="3126882" y="0"/>
                </a:lnTo>
                <a:lnTo>
                  <a:pt x="3126882" y="4342892"/>
                </a:lnTo>
                <a:lnTo>
                  <a:pt x="0" y="43428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5400000">
            <a:off x="10290352" y="4532489"/>
            <a:ext cx="3126882" cy="4342892"/>
          </a:xfrm>
          <a:custGeom>
            <a:avLst/>
            <a:gdLst/>
            <a:ahLst/>
            <a:cxnLst/>
            <a:rect r="r" b="b" t="t" l="l"/>
            <a:pathLst>
              <a:path h="4342892" w="3126882">
                <a:moveTo>
                  <a:pt x="0" y="0"/>
                </a:moveTo>
                <a:lnTo>
                  <a:pt x="3126883" y="0"/>
                </a:lnTo>
                <a:lnTo>
                  <a:pt x="3126883" y="4342892"/>
                </a:lnTo>
                <a:lnTo>
                  <a:pt x="0" y="43428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2835823" y="2019623"/>
            <a:ext cx="728646" cy="722022"/>
          </a:xfrm>
          <a:custGeom>
            <a:avLst/>
            <a:gdLst/>
            <a:ahLst/>
            <a:cxnLst/>
            <a:rect r="r" b="b" t="t" l="l"/>
            <a:pathLst>
              <a:path h="722022" w="728646">
                <a:moveTo>
                  <a:pt x="0" y="0"/>
                </a:moveTo>
                <a:lnTo>
                  <a:pt x="728646" y="0"/>
                </a:lnTo>
                <a:lnTo>
                  <a:pt x="728646" y="722023"/>
                </a:lnTo>
                <a:lnTo>
                  <a:pt x="0" y="72202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1498690" y="4965975"/>
            <a:ext cx="710207" cy="722022"/>
          </a:xfrm>
          <a:custGeom>
            <a:avLst/>
            <a:gdLst/>
            <a:ahLst/>
            <a:cxnLst/>
            <a:rect r="r" b="b" t="t" l="l"/>
            <a:pathLst>
              <a:path h="722022" w="710207">
                <a:moveTo>
                  <a:pt x="0" y="0"/>
                </a:moveTo>
                <a:lnTo>
                  <a:pt x="710207" y="0"/>
                </a:lnTo>
                <a:lnTo>
                  <a:pt x="710207" y="722022"/>
                </a:lnTo>
                <a:lnTo>
                  <a:pt x="0" y="7220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4752442" y="2019623"/>
            <a:ext cx="670824" cy="722022"/>
          </a:xfrm>
          <a:custGeom>
            <a:avLst/>
            <a:gdLst/>
            <a:ahLst/>
            <a:cxnLst/>
            <a:rect r="r" b="b" t="t" l="l"/>
            <a:pathLst>
              <a:path h="722022" w="670824">
                <a:moveTo>
                  <a:pt x="0" y="0"/>
                </a:moveTo>
                <a:lnTo>
                  <a:pt x="670824" y="0"/>
                </a:lnTo>
                <a:lnTo>
                  <a:pt x="670824" y="722023"/>
                </a:lnTo>
                <a:lnTo>
                  <a:pt x="0" y="7220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6087636" y="4961745"/>
            <a:ext cx="693141" cy="722022"/>
          </a:xfrm>
          <a:custGeom>
            <a:avLst/>
            <a:gdLst/>
            <a:ahLst/>
            <a:cxnLst/>
            <a:rect r="r" b="b" t="t" l="l"/>
            <a:pathLst>
              <a:path h="722022" w="693141">
                <a:moveTo>
                  <a:pt x="0" y="0"/>
                </a:moveTo>
                <a:lnTo>
                  <a:pt x="693141" y="0"/>
                </a:lnTo>
                <a:lnTo>
                  <a:pt x="693141" y="722022"/>
                </a:lnTo>
                <a:lnTo>
                  <a:pt x="0" y="72202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4877855" y="5877065"/>
            <a:ext cx="2321234" cy="3536506"/>
          </a:xfrm>
          <a:custGeom>
            <a:avLst/>
            <a:gdLst/>
            <a:ahLst/>
            <a:cxnLst/>
            <a:rect r="r" b="b" t="t" l="l"/>
            <a:pathLst>
              <a:path h="3536506" w="2321234">
                <a:moveTo>
                  <a:pt x="0" y="0"/>
                </a:moveTo>
                <a:lnTo>
                  <a:pt x="2321234" y="0"/>
                </a:lnTo>
                <a:lnTo>
                  <a:pt x="2321234" y="3536506"/>
                </a:lnTo>
                <a:lnTo>
                  <a:pt x="0" y="353650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1088911" y="5687997"/>
            <a:ext cx="2226240" cy="3914641"/>
          </a:xfrm>
          <a:custGeom>
            <a:avLst/>
            <a:gdLst/>
            <a:ahLst/>
            <a:cxnLst/>
            <a:rect r="r" b="b" t="t" l="l"/>
            <a:pathLst>
              <a:path h="3914641" w="2226240">
                <a:moveTo>
                  <a:pt x="0" y="0"/>
                </a:moveTo>
                <a:lnTo>
                  <a:pt x="2226239" y="0"/>
                </a:lnTo>
                <a:lnTo>
                  <a:pt x="2226239" y="3914641"/>
                </a:lnTo>
                <a:lnTo>
                  <a:pt x="0" y="391464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5" id="15"/>
          <p:cNvSpPr/>
          <p:nvPr/>
        </p:nvSpPr>
        <p:spPr>
          <a:xfrm flipH="false" flipV="false" rot="0">
            <a:off x="1226980" y="502343"/>
            <a:ext cx="7315200" cy="1117231"/>
          </a:xfrm>
          <a:custGeom>
            <a:avLst/>
            <a:gdLst/>
            <a:ahLst/>
            <a:cxnLst/>
            <a:rect r="r" b="b" t="t" l="l"/>
            <a:pathLst>
              <a:path h="1117231" w="7315200">
                <a:moveTo>
                  <a:pt x="0" y="0"/>
                </a:moveTo>
                <a:lnTo>
                  <a:pt x="7315200" y="0"/>
                </a:lnTo>
                <a:lnTo>
                  <a:pt x="7315200" y="1117230"/>
                </a:lnTo>
                <a:lnTo>
                  <a:pt x="0" y="111723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6" id="16"/>
          <p:cNvSpPr/>
          <p:nvPr/>
        </p:nvSpPr>
        <p:spPr>
          <a:xfrm flipH="false" flipV="false" rot="0">
            <a:off x="9745820" y="502343"/>
            <a:ext cx="7315200" cy="1117231"/>
          </a:xfrm>
          <a:custGeom>
            <a:avLst/>
            <a:gdLst/>
            <a:ahLst/>
            <a:cxnLst/>
            <a:rect r="r" b="b" t="t" l="l"/>
            <a:pathLst>
              <a:path h="1117231" w="7315200">
                <a:moveTo>
                  <a:pt x="0" y="0"/>
                </a:moveTo>
                <a:lnTo>
                  <a:pt x="7315200" y="0"/>
                </a:lnTo>
                <a:lnTo>
                  <a:pt x="7315200" y="1117230"/>
                </a:lnTo>
                <a:lnTo>
                  <a:pt x="0" y="111723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7" id="17"/>
          <p:cNvSpPr txBox="true"/>
          <p:nvPr/>
        </p:nvSpPr>
        <p:spPr>
          <a:xfrm rot="0">
            <a:off x="5860325" y="2152973"/>
            <a:ext cx="6567351" cy="963893"/>
          </a:xfrm>
          <a:prstGeom prst="rect">
            <a:avLst/>
          </a:prstGeom>
        </p:spPr>
        <p:txBody>
          <a:bodyPr anchor="t" rtlCol="false" tIns="0" lIns="0" bIns="0" rIns="0">
            <a:spAutoFit/>
          </a:bodyPr>
          <a:lstStyle/>
          <a:p>
            <a:pPr algn="ctr">
              <a:lnSpc>
                <a:spcPts val="7200"/>
              </a:lnSpc>
            </a:pPr>
            <a:r>
              <a:rPr lang="en-US" sz="7200">
                <a:solidFill>
                  <a:srgbClr val="654C4C"/>
                </a:solidFill>
                <a:latin typeface="Marykate"/>
                <a:ea typeface="Marykate"/>
                <a:cs typeface="Marykate"/>
                <a:sym typeface="Marykate"/>
              </a:rPr>
              <a:t>Ciri-ciri Sel</a:t>
            </a:r>
          </a:p>
        </p:txBody>
      </p:sp>
      <p:sp>
        <p:nvSpPr>
          <p:cNvPr name="TextBox 18" id="18"/>
          <p:cNvSpPr txBox="true"/>
          <p:nvPr/>
        </p:nvSpPr>
        <p:spPr>
          <a:xfrm rot="0">
            <a:off x="1468775" y="3181177"/>
            <a:ext cx="3462743" cy="1099894"/>
          </a:xfrm>
          <a:prstGeom prst="rect">
            <a:avLst/>
          </a:prstGeom>
        </p:spPr>
        <p:txBody>
          <a:bodyPr anchor="t" rtlCol="false" tIns="0" lIns="0" bIns="0" rIns="0">
            <a:spAutoFit/>
          </a:bodyPr>
          <a:lstStyle/>
          <a:p>
            <a:pPr algn="ctr">
              <a:lnSpc>
                <a:spcPts val="4480"/>
              </a:lnSpc>
            </a:pPr>
            <a:r>
              <a:rPr lang="en-US" sz="3200">
                <a:solidFill>
                  <a:srgbClr val="654C4C"/>
                </a:solidFill>
                <a:latin typeface="Handy Casual"/>
                <a:ea typeface="Handy Casual"/>
                <a:cs typeface="Handy Casual"/>
                <a:sym typeface="Handy Casual"/>
              </a:rPr>
              <a:t>Memiliki membran plasma untuk membungkus isinya</a:t>
            </a:r>
          </a:p>
        </p:txBody>
      </p:sp>
      <p:sp>
        <p:nvSpPr>
          <p:cNvPr name="TextBox 19" id="19"/>
          <p:cNvSpPr txBox="true"/>
          <p:nvPr/>
        </p:nvSpPr>
        <p:spPr>
          <a:xfrm rot="0">
            <a:off x="4624600" y="5844407"/>
            <a:ext cx="3619213" cy="1661907"/>
          </a:xfrm>
          <a:prstGeom prst="rect">
            <a:avLst/>
          </a:prstGeom>
        </p:spPr>
        <p:txBody>
          <a:bodyPr anchor="t" rtlCol="false" tIns="0" lIns="0" bIns="0" rIns="0">
            <a:spAutoFit/>
          </a:bodyPr>
          <a:lstStyle/>
          <a:p>
            <a:pPr algn="ctr">
              <a:lnSpc>
                <a:spcPts val="4480"/>
              </a:lnSpc>
            </a:pPr>
            <a:r>
              <a:rPr lang="en-US" sz="3200">
                <a:solidFill>
                  <a:srgbClr val="654C4C"/>
                </a:solidFill>
                <a:latin typeface="Handy Casual"/>
                <a:ea typeface="Handy Casual"/>
                <a:cs typeface="Handy Casual"/>
                <a:sym typeface="Handy Casual"/>
              </a:rPr>
              <a:t>Mengandung sitoplasma tempat reaksi kimia berlangsung</a:t>
            </a:r>
          </a:p>
        </p:txBody>
      </p:sp>
      <p:sp>
        <p:nvSpPr>
          <p:cNvPr name="TextBox 20" id="20"/>
          <p:cNvSpPr txBox="true"/>
          <p:nvPr/>
        </p:nvSpPr>
        <p:spPr>
          <a:xfrm rot="0">
            <a:off x="13357266" y="2900170"/>
            <a:ext cx="3461175" cy="1661907"/>
          </a:xfrm>
          <a:prstGeom prst="rect">
            <a:avLst/>
          </a:prstGeom>
        </p:spPr>
        <p:txBody>
          <a:bodyPr anchor="t" rtlCol="false" tIns="0" lIns="0" bIns="0" rIns="0">
            <a:spAutoFit/>
          </a:bodyPr>
          <a:lstStyle/>
          <a:p>
            <a:pPr algn="ctr">
              <a:lnSpc>
                <a:spcPts val="4480"/>
              </a:lnSpc>
            </a:pPr>
            <a:r>
              <a:rPr lang="en-US" sz="3200">
                <a:solidFill>
                  <a:srgbClr val="654C4C"/>
                </a:solidFill>
                <a:latin typeface="Handy Casual"/>
                <a:ea typeface="Handy Casual"/>
                <a:cs typeface="Handy Casual"/>
                <a:sym typeface="Handy Casual"/>
              </a:rPr>
              <a:t>Dapat melakukan fungsi kehidupan seperti menghasilkan energi</a:t>
            </a:r>
          </a:p>
        </p:txBody>
      </p:sp>
      <p:sp>
        <p:nvSpPr>
          <p:cNvPr name="TextBox 21" id="21"/>
          <p:cNvSpPr txBox="true"/>
          <p:nvPr/>
        </p:nvSpPr>
        <p:spPr>
          <a:xfrm rot="0">
            <a:off x="10083697" y="6125413"/>
            <a:ext cx="3540194" cy="1099894"/>
          </a:xfrm>
          <a:prstGeom prst="rect">
            <a:avLst/>
          </a:prstGeom>
        </p:spPr>
        <p:txBody>
          <a:bodyPr anchor="t" rtlCol="false" tIns="0" lIns="0" bIns="0" rIns="0">
            <a:spAutoFit/>
          </a:bodyPr>
          <a:lstStyle/>
          <a:p>
            <a:pPr algn="ctr">
              <a:lnSpc>
                <a:spcPts val="4480"/>
              </a:lnSpc>
            </a:pPr>
            <a:r>
              <a:rPr lang="en-US" sz="3200">
                <a:solidFill>
                  <a:srgbClr val="654C4C"/>
                </a:solidFill>
                <a:latin typeface="Handy Casual"/>
                <a:ea typeface="Handy Casual"/>
                <a:cs typeface="Handy Casual"/>
                <a:sym typeface="Handy Casual"/>
              </a:rPr>
              <a:t>Mempunyai materi genetik (DNA atau RNA)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AC0"/>
        </a:solidFill>
      </p:bgPr>
    </p:bg>
    <p:spTree>
      <p:nvGrpSpPr>
        <p:cNvPr id="1" name=""/>
        <p:cNvGrpSpPr/>
        <p:nvPr/>
      </p:nvGrpSpPr>
      <p:grpSpPr>
        <a:xfrm>
          <a:off x="0" y="0"/>
          <a:ext cx="0" cy="0"/>
          <a:chOff x="0" y="0"/>
          <a:chExt cx="0" cy="0"/>
        </a:xfrm>
      </p:grpSpPr>
      <p:sp>
        <p:nvSpPr>
          <p:cNvPr name="Freeform 2" id="2"/>
          <p:cNvSpPr/>
          <p:nvPr/>
        </p:nvSpPr>
        <p:spPr>
          <a:xfrm flipH="false" flipV="false" rot="0">
            <a:off x="6414584" y="2105619"/>
            <a:ext cx="5107457" cy="455028"/>
          </a:xfrm>
          <a:custGeom>
            <a:avLst/>
            <a:gdLst/>
            <a:ahLst/>
            <a:cxnLst/>
            <a:rect r="r" b="b" t="t" l="l"/>
            <a:pathLst>
              <a:path h="455028" w="5107457">
                <a:moveTo>
                  <a:pt x="0" y="0"/>
                </a:moveTo>
                <a:lnTo>
                  <a:pt x="5107457" y="0"/>
                </a:lnTo>
                <a:lnTo>
                  <a:pt x="5107457" y="455028"/>
                </a:lnTo>
                <a:lnTo>
                  <a:pt x="0" y="4550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2058604" y="1631672"/>
            <a:ext cx="5607582" cy="7788308"/>
          </a:xfrm>
          <a:custGeom>
            <a:avLst/>
            <a:gdLst/>
            <a:ahLst/>
            <a:cxnLst/>
            <a:rect r="r" b="b" t="t" l="l"/>
            <a:pathLst>
              <a:path h="7788308" w="5607582">
                <a:moveTo>
                  <a:pt x="0" y="0"/>
                </a:moveTo>
                <a:lnTo>
                  <a:pt x="5607582" y="0"/>
                </a:lnTo>
                <a:lnTo>
                  <a:pt x="5607582" y="7788308"/>
                </a:lnTo>
                <a:lnTo>
                  <a:pt x="0" y="77883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270438" y="1631672"/>
            <a:ext cx="5607582" cy="7788308"/>
          </a:xfrm>
          <a:custGeom>
            <a:avLst/>
            <a:gdLst/>
            <a:ahLst/>
            <a:cxnLst/>
            <a:rect r="r" b="b" t="t" l="l"/>
            <a:pathLst>
              <a:path h="7788308" w="5607582">
                <a:moveTo>
                  <a:pt x="0" y="0"/>
                </a:moveTo>
                <a:lnTo>
                  <a:pt x="5607582" y="0"/>
                </a:lnTo>
                <a:lnTo>
                  <a:pt x="5607582" y="7788308"/>
                </a:lnTo>
                <a:lnTo>
                  <a:pt x="0" y="77883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18225" y="7901295"/>
            <a:ext cx="3326620" cy="3302427"/>
          </a:xfrm>
          <a:custGeom>
            <a:avLst/>
            <a:gdLst/>
            <a:ahLst/>
            <a:cxnLst/>
            <a:rect r="r" b="b" t="t" l="l"/>
            <a:pathLst>
              <a:path h="3302427" w="3326620">
                <a:moveTo>
                  <a:pt x="0" y="0"/>
                </a:moveTo>
                <a:lnTo>
                  <a:pt x="3326620" y="0"/>
                </a:lnTo>
                <a:lnTo>
                  <a:pt x="3326620" y="3302426"/>
                </a:lnTo>
                <a:lnTo>
                  <a:pt x="0" y="33024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5184228" y="-841105"/>
            <a:ext cx="3721997" cy="3302427"/>
          </a:xfrm>
          <a:custGeom>
            <a:avLst/>
            <a:gdLst/>
            <a:ahLst/>
            <a:cxnLst/>
            <a:rect r="r" b="b" t="t" l="l"/>
            <a:pathLst>
              <a:path h="3302427" w="3721997">
                <a:moveTo>
                  <a:pt x="0" y="0"/>
                </a:moveTo>
                <a:lnTo>
                  <a:pt x="3721997" y="0"/>
                </a:lnTo>
                <a:lnTo>
                  <a:pt x="3721997" y="3302427"/>
                </a:lnTo>
                <a:lnTo>
                  <a:pt x="0" y="33024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3037259" y="8665279"/>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36970" y="-2493079"/>
            <a:ext cx="5287710" cy="4114800"/>
          </a:xfrm>
          <a:custGeom>
            <a:avLst/>
            <a:gdLst/>
            <a:ahLst/>
            <a:cxnLst/>
            <a:rect r="r" b="b" t="t" l="l"/>
            <a:pathLst>
              <a:path h="4114800" w="5287710">
                <a:moveTo>
                  <a:pt x="0" y="0"/>
                </a:moveTo>
                <a:lnTo>
                  <a:pt x="5287711" y="0"/>
                </a:lnTo>
                <a:lnTo>
                  <a:pt x="528771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5684637" y="1033861"/>
            <a:ext cx="6567351" cy="963893"/>
          </a:xfrm>
          <a:prstGeom prst="rect">
            <a:avLst/>
          </a:prstGeom>
        </p:spPr>
        <p:txBody>
          <a:bodyPr anchor="t" rtlCol="false" tIns="0" lIns="0" bIns="0" rIns="0">
            <a:spAutoFit/>
          </a:bodyPr>
          <a:lstStyle/>
          <a:p>
            <a:pPr algn="ctr">
              <a:lnSpc>
                <a:spcPts val="7200"/>
              </a:lnSpc>
            </a:pPr>
            <a:r>
              <a:rPr lang="en-US" sz="7200">
                <a:solidFill>
                  <a:srgbClr val="654C4C"/>
                </a:solidFill>
                <a:latin typeface="Marykate"/>
                <a:ea typeface="Marykate"/>
                <a:cs typeface="Marykate"/>
                <a:sym typeface="Marykate"/>
              </a:rPr>
              <a:t>Jenis Sel</a:t>
            </a:r>
          </a:p>
        </p:txBody>
      </p:sp>
      <p:sp>
        <p:nvSpPr>
          <p:cNvPr name="TextBox 10" id="10"/>
          <p:cNvSpPr txBox="true"/>
          <p:nvPr/>
        </p:nvSpPr>
        <p:spPr>
          <a:xfrm rot="0">
            <a:off x="1841823" y="4206087"/>
            <a:ext cx="6226419" cy="3347943"/>
          </a:xfrm>
          <a:prstGeom prst="rect">
            <a:avLst/>
          </a:prstGeom>
        </p:spPr>
        <p:txBody>
          <a:bodyPr anchor="t" rtlCol="false" tIns="0" lIns="0" bIns="0" rIns="0">
            <a:spAutoFit/>
          </a:bodyPr>
          <a:lstStyle/>
          <a:p>
            <a:pPr algn="l" marL="690881" indent="-345440" lvl="1">
              <a:lnSpc>
                <a:spcPts val="4480"/>
              </a:lnSpc>
              <a:buFont typeface="Arial"/>
              <a:buChar char="•"/>
            </a:pPr>
            <a:r>
              <a:rPr lang="en-US" sz="3200">
                <a:solidFill>
                  <a:srgbClr val="654C4C"/>
                </a:solidFill>
                <a:latin typeface="Handy Casual"/>
                <a:ea typeface="Handy Casual"/>
                <a:cs typeface="Handy Casual"/>
                <a:sym typeface="Handy Casual"/>
              </a:rPr>
              <a:t>Tidak memiliki membran inti</a:t>
            </a:r>
          </a:p>
          <a:p>
            <a:pPr algn="l" marL="690881" indent="-345440" lvl="1">
              <a:lnSpc>
                <a:spcPts val="4480"/>
              </a:lnSpc>
              <a:buFont typeface="Arial"/>
              <a:buChar char="•"/>
            </a:pPr>
            <a:r>
              <a:rPr lang="en-US" sz="3200">
                <a:solidFill>
                  <a:srgbClr val="654C4C"/>
                </a:solidFill>
                <a:latin typeface="Handy Casual"/>
                <a:ea typeface="Handy Casual"/>
                <a:cs typeface="Handy Casual"/>
                <a:sym typeface="Handy Casual"/>
              </a:rPr>
              <a:t>Materi genetik (DNA) mengambang di sitoplasma</a:t>
            </a:r>
          </a:p>
          <a:p>
            <a:pPr algn="l" marL="690881" indent="-345440" lvl="1">
              <a:lnSpc>
                <a:spcPts val="4480"/>
              </a:lnSpc>
              <a:buFont typeface="Arial"/>
              <a:buChar char="•"/>
            </a:pPr>
            <a:r>
              <a:rPr lang="en-US" sz="3200">
                <a:solidFill>
                  <a:srgbClr val="654C4C"/>
                </a:solidFill>
                <a:latin typeface="Handy Casual"/>
                <a:ea typeface="Handy Casual"/>
                <a:cs typeface="Handy Casual"/>
                <a:sym typeface="Handy Casual"/>
              </a:rPr>
              <a:t>Ukuran kecil dan struktur sederhana</a:t>
            </a:r>
          </a:p>
          <a:p>
            <a:pPr algn="l" marL="690881" indent="-345440" lvl="1">
              <a:lnSpc>
                <a:spcPts val="4480"/>
              </a:lnSpc>
              <a:buFont typeface="Arial"/>
              <a:buChar char="•"/>
            </a:pPr>
            <a:r>
              <a:rPr lang="en-US" sz="3200">
                <a:solidFill>
                  <a:srgbClr val="654C4C"/>
                </a:solidFill>
                <a:latin typeface="Handy Casual"/>
                <a:ea typeface="Handy Casual"/>
                <a:cs typeface="Handy Casual"/>
                <a:sym typeface="Handy Casual"/>
              </a:rPr>
              <a:t>Tidak memiliki organel bermembran</a:t>
            </a:r>
          </a:p>
          <a:p>
            <a:pPr algn="l" marL="690881" indent="-345440" lvl="1">
              <a:lnSpc>
                <a:spcPts val="4480"/>
              </a:lnSpc>
              <a:buFont typeface="Arial"/>
              <a:buChar char="•"/>
            </a:pPr>
            <a:r>
              <a:rPr lang="en-US" sz="3200">
                <a:solidFill>
                  <a:srgbClr val="654C4C"/>
                </a:solidFill>
                <a:latin typeface="Handy Casual"/>
                <a:ea typeface="Handy Casual"/>
                <a:cs typeface="Handy Casual"/>
                <a:sym typeface="Handy Casual"/>
              </a:rPr>
              <a:t>Contoh: bakteri, archaea</a:t>
            </a:r>
          </a:p>
        </p:txBody>
      </p:sp>
      <p:sp>
        <p:nvSpPr>
          <p:cNvPr name="TextBox 11" id="11"/>
          <p:cNvSpPr txBox="true"/>
          <p:nvPr/>
        </p:nvSpPr>
        <p:spPr>
          <a:xfrm rot="0">
            <a:off x="1841823" y="3388547"/>
            <a:ext cx="6226419" cy="655357"/>
          </a:xfrm>
          <a:prstGeom prst="rect">
            <a:avLst/>
          </a:prstGeom>
        </p:spPr>
        <p:txBody>
          <a:bodyPr anchor="t" rtlCol="false" tIns="0" lIns="0" bIns="0" rIns="0">
            <a:spAutoFit/>
          </a:bodyPr>
          <a:lstStyle/>
          <a:p>
            <a:pPr algn="ctr">
              <a:lnSpc>
                <a:spcPts val="4800"/>
              </a:lnSpc>
            </a:pPr>
            <a:r>
              <a:rPr lang="en-US" sz="4800">
                <a:solidFill>
                  <a:srgbClr val="654C4C"/>
                </a:solidFill>
                <a:latin typeface="Marykate"/>
                <a:ea typeface="Marykate"/>
                <a:cs typeface="Marykate"/>
                <a:sym typeface="Marykate"/>
              </a:rPr>
              <a:t>Sel Prokariotik</a:t>
            </a:r>
          </a:p>
        </p:txBody>
      </p:sp>
      <p:sp>
        <p:nvSpPr>
          <p:cNvPr name="TextBox 12" id="12"/>
          <p:cNvSpPr txBox="true"/>
          <p:nvPr/>
        </p:nvSpPr>
        <p:spPr>
          <a:xfrm rot="0">
            <a:off x="10053657" y="4206087"/>
            <a:ext cx="6226419" cy="3347943"/>
          </a:xfrm>
          <a:prstGeom prst="rect">
            <a:avLst/>
          </a:prstGeom>
        </p:spPr>
        <p:txBody>
          <a:bodyPr anchor="t" rtlCol="false" tIns="0" lIns="0" bIns="0" rIns="0">
            <a:spAutoFit/>
          </a:bodyPr>
          <a:lstStyle/>
          <a:p>
            <a:pPr algn="l" marL="690881" indent="-345440" lvl="1">
              <a:lnSpc>
                <a:spcPts val="4480"/>
              </a:lnSpc>
              <a:buFont typeface="Arial"/>
              <a:buChar char="•"/>
            </a:pPr>
            <a:r>
              <a:rPr lang="en-US" sz="3200">
                <a:solidFill>
                  <a:srgbClr val="654C4C"/>
                </a:solidFill>
                <a:latin typeface="Handy Casual"/>
                <a:ea typeface="Handy Casual"/>
                <a:cs typeface="Handy Casual"/>
                <a:sym typeface="Handy Casual"/>
              </a:rPr>
              <a:t>Memiliki membran inti sel</a:t>
            </a:r>
          </a:p>
          <a:p>
            <a:pPr algn="l" marL="690881" indent="-345440" lvl="1">
              <a:lnSpc>
                <a:spcPts val="4480"/>
              </a:lnSpc>
              <a:buFont typeface="Arial"/>
              <a:buChar char="•"/>
            </a:pPr>
            <a:r>
              <a:rPr lang="en-US" sz="3200">
                <a:solidFill>
                  <a:srgbClr val="654C4C"/>
                </a:solidFill>
                <a:latin typeface="Handy Casual"/>
                <a:ea typeface="Handy Casual"/>
                <a:cs typeface="Handy Casual"/>
                <a:sym typeface="Handy Casual"/>
              </a:rPr>
              <a:t>DNA tersimpan dalam nukleus</a:t>
            </a:r>
          </a:p>
          <a:p>
            <a:pPr algn="l" marL="690881" indent="-345440" lvl="1">
              <a:lnSpc>
                <a:spcPts val="4480"/>
              </a:lnSpc>
              <a:buFont typeface="Arial"/>
              <a:buChar char="•"/>
            </a:pPr>
            <a:r>
              <a:rPr lang="en-US" sz="3200">
                <a:solidFill>
                  <a:srgbClr val="654C4C"/>
                </a:solidFill>
                <a:latin typeface="Handy Casual"/>
                <a:ea typeface="Handy Casual"/>
                <a:cs typeface="Handy Casual"/>
                <a:sym typeface="Handy Casual"/>
              </a:rPr>
              <a:t>Ukuran lebih besar, struktur kompleks</a:t>
            </a:r>
          </a:p>
          <a:p>
            <a:pPr algn="l" marL="690881" indent="-345440" lvl="1">
              <a:lnSpc>
                <a:spcPts val="4480"/>
              </a:lnSpc>
              <a:buFont typeface="Arial"/>
              <a:buChar char="•"/>
            </a:pPr>
            <a:r>
              <a:rPr lang="en-US" sz="3200">
                <a:solidFill>
                  <a:srgbClr val="654C4C"/>
                </a:solidFill>
                <a:latin typeface="Handy Casual"/>
                <a:ea typeface="Handy Casual"/>
                <a:cs typeface="Handy Casual"/>
                <a:sym typeface="Handy Casual"/>
              </a:rPr>
              <a:t>Memiliki organel lengkap</a:t>
            </a:r>
          </a:p>
          <a:p>
            <a:pPr algn="l" marL="690881" indent="-345440" lvl="1">
              <a:lnSpc>
                <a:spcPts val="4480"/>
              </a:lnSpc>
              <a:buFont typeface="Arial"/>
              <a:buChar char="•"/>
            </a:pPr>
            <a:r>
              <a:rPr lang="en-US" sz="3200">
                <a:solidFill>
                  <a:srgbClr val="654C4C"/>
                </a:solidFill>
                <a:latin typeface="Handy Casual"/>
                <a:ea typeface="Handy Casual"/>
                <a:cs typeface="Handy Casual"/>
                <a:sym typeface="Handy Casual"/>
              </a:rPr>
              <a:t>Contoh: sel hewan, sel tumbuhan, protista, jamur</a:t>
            </a:r>
          </a:p>
        </p:txBody>
      </p:sp>
      <p:sp>
        <p:nvSpPr>
          <p:cNvPr name="TextBox 13" id="13"/>
          <p:cNvSpPr txBox="true"/>
          <p:nvPr/>
        </p:nvSpPr>
        <p:spPr>
          <a:xfrm rot="0">
            <a:off x="10053657" y="3388547"/>
            <a:ext cx="6226419" cy="655357"/>
          </a:xfrm>
          <a:prstGeom prst="rect">
            <a:avLst/>
          </a:prstGeom>
        </p:spPr>
        <p:txBody>
          <a:bodyPr anchor="t" rtlCol="false" tIns="0" lIns="0" bIns="0" rIns="0">
            <a:spAutoFit/>
          </a:bodyPr>
          <a:lstStyle/>
          <a:p>
            <a:pPr algn="ctr">
              <a:lnSpc>
                <a:spcPts val="4800"/>
              </a:lnSpc>
            </a:pPr>
            <a:r>
              <a:rPr lang="en-US" sz="4800">
                <a:solidFill>
                  <a:srgbClr val="654C4C"/>
                </a:solidFill>
                <a:latin typeface="Marykate"/>
                <a:ea typeface="Marykate"/>
                <a:cs typeface="Marykate"/>
                <a:sym typeface="Marykate"/>
              </a:rPr>
              <a:t>Sel Eukariotik</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AC0"/>
        </a:solidFill>
      </p:bgPr>
    </p:bg>
    <p:spTree>
      <p:nvGrpSpPr>
        <p:cNvPr id="1" name=""/>
        <p:cNvGrpSpPr/>
        <p:nvPr/>
      </p:nvGrpSpPr>
      <p:grpSpPr>
        <a:xfrm>
          <a:off x="0" y="0"/>
          <a:ext cx="0" cy="0"/>
          <a:chOff x="0" y="0"/>
          <a:chExt cx="0" cy="0"/>
        </a:xfrm>
      </p:grpSpPr>
      <p:sp>
        <p:nvSpPr>
          <p:cNvPr name="Freeform 2" id="2"/>
          <p:cNvSpPr/>
          <p:nvPr/>
        </p:nvSpPr>
        <p:spPr>
          <a:xfrm flipH="false" flipV="false" rot="0">
            <a:off x="6414584" y="2105619"/>
            <a:ext cx="5107457" cy="455028"/>
          </a:xfrm>
          <a:custGeom>
            <a:avLst/>
            <a:gdLst/>
            <a:ahLst/>
            <a:cxnLst/>
            <a:rect r="r" b="b" t="t" l="l"/>
            <a:pathLst>
              <a:path h="455028" w="5107457">
                <a:moveTo>
                  <a:pt x="0" y="0"/>
                </a:moveTo>
                <a:lnTo>
                  <a:pt x="5107457" y="0"/>
                </a:lnTo>
                <a:lnTo>
                  <a:pt x="5107457" y="455028"/>
                </a:lnTo>
                <a:lnTo>
                  <a:pt x="0" y="4550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5400000">
            <a:off x="325363" y="3485602"/>
            <a:ext cx="6512788" cy="5032609"/>
          </a:xfrm>
          <a:custGeom>
            <a:avLst/>
            <a:gdLst/>
            <a:ahLst/>
            <a:cxnLst/>
            <a:rect r="r" b="b" t="t" l="l"/>
            <a:pathLst>
              <a:path h="5032609" w="6512788">
                <a:moveTo>
                  <a:pt x="6512788" y="0"/>
                </a:moveTo>
                <a:lnTo>
                  <a:pt x="0" y="0"/>
                </a:lnTo>
                <a:lnTo>
                  <a:pt x="0" y="5032608"/>
                </a:lnTo>
                <a:lnTo>
                  <a:pt x="6512788" y="5032608"/>
                </a:lnTo>
                <a:lnTo>
                  <a:pt x="651278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5400000">
            <a:off x="5887606" y="3485602"/>
            <a:ext cx="6512788" cy="5032609"/>
          </a:xfrm>
          <a:custGeom>
            <a:avLst/>
            <a:gdLst/>
            <a:ahLst/>
            <a:cxnLst/>
            <a:rect r="r" b="b" t="t" l="l"/>
            <a:pathLst>
              <a:path h="5032609" w="6512788">
                <a:moveTo>
                  <a:pt x="6512788" y="0"/>
                </a:moveTo>
                <a:lnTo>
                  <a:pt x="0" y="0"/>
                </a:lnTo>
                <a:lnTo>
                  <a:pt x="0" y="5032608"/>
                </a:lnTo>
                <a:lnTo>
                  <a:pt x="6512788" y="5032608"/>
                </a:lnTo>
                <a:lnTo>
                  <a:pt x="651278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5400000">
            <a:off x="11449849" y="3485602"/>
            <a:ext cx="6512788" cy="5032609"/>
          </a:xfrm>
          <a:custGeom>
            <a:avLst/>
            <a:gdLst/>
            <a:ahLst/>
            <a:cxnLst/>
            <a:rect r="r" b="b" t="t" l="l"/>
            <a:pathLst>
              <a:path h="5032609" w="6512788">
                <a:moveTo>
                  <a:pt x="6512788" y="0"/>
                </a:moveTo>
                <a:lnTo>
                  <a:pt x="0" y="0"/>
                </a:lnTo>
                <a:lnTo>
                  <a:pt x="0" y="5032608"/>
                </a:lnTo>
                <a:lnTo>
                  <a:pt x="6512788" y="5032608"/>
                </a:lnTo>
                <a:lnTo>
                  <a:pt x="651278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071005" y="-608268"/>
            <a:ext cx="6755642" cy="4114800"/>
          </a:xfrm>
          <a:custGeom>
            <a:avLst/>
            <a:gdLst/>
            <a:ahLst/>
            <a:cxnLst/>
            <a:rect r="r" b="b" t="t" l="l"/>
            <a:pathLst>
              <a:path h="4114800" w="6755642">
                <a:moveTo>
                  <a:pt x="6755642" y="4114800"/>
                </a:moveTo>
                <a:lnTo>
                  <a:pt x="0" y="4114800"/>
                </a:lnTo>
                <a:lnTo>
                  <a:pt x="0" y="0"/>
                </a:lnTo>
                <a:lnTo>
                  <a:pt x="6755642" y="0"/>
                </a:lnTo>
                <a:lnTo>
                  <a:pt x="6755642"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751445" y="8627232"/>
            <a:ext cx="5287710" cy="2903434"/>
          </a:xfrm>
          <a:custGeom>
            <a:avLst/>
            <a:gdLst/>
            <a:ahLst/>
            <a:cxnLst/>
            <a:rect r="r" b="b" t="t" l="l"/>
            <a:pathLst>
              <a:path h="2903434" w="5287710">
                <a:moveTo>
                  <a:pt x="0" y="0"/>
                </a:moveTo>
                <a:lnTo>
                  <a:pt x="5287710" y="0"/>
                </a:lnTo>
                <a:lnTo>
                  <a:pt x="5287710" y="2903433"/>
                </a:lnTo>
                <a:lnTo>
                  <a:pt x="0" y="29034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5684637" y="1033861"/>
            <a:ext cx="6567351" cy="963893"/>
          </a:xfrm>
          <a:prstGeom prst="rect">
            <a:avLst/>
          </a:prstGeom>
        </p:spPr>
        <p:txBody>
          <a:bodyPr anchor="t" rtlCol="false" tIns="0" lIns="0" bIns="0" rIns="0">
            <a:spAutoFit/>
          </a:bodyPr>
          <a:lstStyle/>
          <a:p>
            <a:pPr algn="ctr">
              <a:lnSpc>
                <a:spcPts val="7200"/>
              </a:lnSpc>
            </a:pPr>
            <a:r>
              <a:rPr lang="en-US" sz="7200">
                <a:solidFill>
                  <a:srgbClr val="654C4C"/>
                </a:solidFill>
                <a:latin typeface="Marykate"/>
                <a:ea typeface="Marykate"/>
                <a:cs typeface="Marykate"/>
                <a:sym typeface="Marykate"/>
              </a:rPr>
              <a:t>Struktur Dasar Sel</a:t>
            </a:r>
          </a:p>
        </p:txBody>
      </p:sp>
      <p:sp>
        <p:nvSpPr>
          <p:cNvPr name="TextBox 9" id="9"/>
          <p:cNvSpPr txBox="true"/>
          <p:nvPr/>
        </p:nvSpPr>
        <p:spPr>
          <a:xfrm rot="0">
            <a:off x="1444449" y="4292806"/>
            <a:ext cx="4274617" cy="3347943"/>
          </a:xfrm>
          <a:prstGeom prst="rect">
            <a:avLst/>
          </a:prstGeom>
        </p:spPr>
        <p:txBody>
          <a:bodyPr anchor="t" rtlCol="false" tIns="0" lIns="0" bIns="0" rIns="0">
            <a:spAutoFit/>
          </a:bodyPr>
          <a:lstStyle/>
          <a:p>
            <a:pPr algn="l" marL="690881" indent="-345440" lvl="1">
              <a:lnSpc>
                <a:spcPts val="4480"/>
              </a:lnSpc>
              <a:buFont typeface="Arial"/>
              <a:buChar char="•"/>
            </a:pPr>
            <a:r>
              <a:rPr lang="en-US" sz="3200">
                <a:solidFill>
                  <a:srgbClr val="654C4C"/>
                </a:solidFill>
                <a:latin typeface="Handy Casual"/>
                <a:ea typeface="Handy Casual"/>
                <a:cs typeface="Handy Casual"/>
                <a:sym typeface="Handy Casual"/>
              </a:rPr>
              <a:t>Berfungsi sebagai pembungkus sel</a:t>
            </a:r>
          </a:p>
          <a:p>
            <a:pPr algn="l" marL="690881" indent="-345440" lvl="1">
              <a:lnSpc>
                <a:spcPts val="4480"/>
              </a:lnSpc>
              <a:buFont typeface="Arial"/>
              <a:buChar char="•"/>
            </a:pPr>
            <a:r>
              <a:rPr lang="en-US" sz="3200">
                <a:solidFill>
                  <a:srgbClr val="654C4C"/>
                </a:solidFill>
                <a:latin typeface="Handy Casual"/>
                <a:ea typeface="Handy Casual"/>
                <a:cs typeface="Handy Casual"/>
                <a:sym typeface="Handy Casual"/>
              </a:rPr>
              <a:t>Mengatur keluar masuknya zat</a:t>
            </a:r>
          </a:p>
          <a:p>
            <a:pPr algn="l" marL="690881" indent="-345440" lvl="1">
              <a:lnSpc>
                <a:spcPts val="4480"/>
              </a:lnSpc>
              <a:buFont typeface="Arial"/>
              <a:buChar char="•"/>
            </a:pPr>
            <a:r>
              <a:rPr lang="en-US" sz="3200">
                <a:solidFill>
                  <a:srgbClr val="654C4C"/>
                </a:solidFill>
                <a:latin typeface="Handy Casual"/>
                <a:ea typeface="Handy Casual"/>
                <a:cs typeface="Handy Casual"/>
                <a:sym typeface="Handy Casual"/>
              </a:rPr>
              <a:t>Tersusun atas lapisan fosfolipid dan protein</a:t>
            </a:r>
          </a:p>
        </p:txBody>
      </p:sp>
      <p:sp>
        <p:nvSpPr>
          <p:cNvPr name="TextBox 10" id="10"/>
          <p:cNvSpPr txBox="true"/>
          <p:nvPr/>
        </p:nvSpPr>
        <p:spPr>
          <a:xfrm rot="0">
            <a:off x="1444449" y="3475266"/>
            <a:ext cx="4274617" cy="655357"/>
          </a:xfrm>
          <a:prstGeom prst="rect">
            <a:avLst/>
          </a:prstGeom>
        </p:spPr>
        <p:txBody>
          <a:bodyPr anchor="t" rtlCol="false" tIns="0" lIns="0" bIns="0" rIns="0">
            <a:spAutoFit/>
          </a:bodyPr>
          <a:lstStyle/>
          <a:p>
            <a:pPr algn="ctr">
              <a:lnSpc>
                <a:spcPts val="4800"/>
              </a:lnSpc>
            </a:pPr>
            <a:r>
              <a:rPr lang="en-US" sz="4800">
                <a:solidFill>
                  <a:srgbClr val="654C4C"/>
                </a:solidFill>
                <a:latin typeface="Marykate"/>
                <a:ea typeface="Marykate"/>
                <a:cs typeface="Marykate"/>
                <a:sym typeface="Marykate"/>
              </a:rPr>
              <a:t>Membran Sel</a:t>
            </a:r>
          </a:p>
        </p:txBody>
      </p:sp>
      <p:sp>
        <p:nvSpPr>
          <p:cNvPr name="TextBox 11" id="11"/>
          <p:cNvSpPr txBox="true"/>
          <p:nvPr/>
        </p:nvSpPr>
        <p:spPr>
          <a:xfrm rot="0">
            <a:off x="6722394" y="4292806"/>
            <a:ext cx="4624522" cy="3909955"/>
          </a:xfrm>
          <a:prstGeom prst="rect">
            <a:avLst/>
          </a:prstGeom>
        </p:spPr>
        <p:txBody>
          <a:bodyPr anchor="t" rtlCol="false" tIns="0" lIns="0" bIns="0" rIns="0">
            <a:spAutoFit/>
          </a:bodyPr>
          <a:lstStyle/>
          <a:p>
            <a:pPr algn="l" marL="690881" indent="-345440" lvl="1">
              <a:lnSpc>
                <a:spcPts val="4480"/>
              </a:lnSpc>
              <a:buFont typeface="Arial"/>
              <a:buChar char="•"/>
            </a:pPr>
            <a:r>
              <a:rPr lang="en-US" sz="3200">
                <a:solidFill>
                  <a:srgbClr val="654C4C"/>
                </a:solidFill>
                <a:latin typeface="Handy Casual"/>
                <a:ea typeface="Handy Casual"/>
                <a:cs typeface="Handy Casual"/>
                <a:sym typeface="Handy Casual"/>
              </a:rPr>
              <a:t>Cairan di dalam sel yang mengisi ruang antara membran dan inti sel</a:t>
            </a:r>
          </a:p>
          <a:p>
            <a:pPr algn="l" marL="690881" indent="-345440" lvl="1">
              <a:lnSpc>
                <a:spcPts val="4480"/>
              </a:lnSpc>
              <a:buFont typeface="Arial"/>
              <a:buChar char="•"/>
            </a:pPr>
            <a:r>
              <a:rPr lang="en-US" sz="3200">
                <a:solidFill>
                  <a:srgbClr val="654C4C"/>
                </a:solidFill>
                <a:latin typeface="Handy Casual"/>
                <a:ea typeface="Handy Casual"/>
                <a:cs typeface="Handy Casual"/>
                <a:sym typeface="Handy Casual"/>
              </a:rPr>
              <a:t>Tempat berlangsungnya reaksi kimia seluler</a:t>
            </a:r>
          </a:p>
          <a:p>
            <a:pPr algn="l" marL="690881" indent="-345440" lvl="1">
              <a:lnSpc>
                <a:spcPts val="4480"/>
              </a:lnSpc>
              <a:buFont typeface="Arial"/>
              <a:buChar char="•"/>
            </a:pPr>
            <a:r>
              <a:rPr lang="en-US" sz="3200">
                <a:solidFill>
                  <a:srgbClr val="654C4C"/>
                </a:solidFill>
                <a:latin typeface="Handy Casual"/>
                <a:ea typeface="Handy Casual"/>
                <a:cs typeface="Handy Casual"/>
                <a:sym typeface="Handy Casual"/>
              </a:rPr>
              <a:t>Terdiri atas: Sitosol (cairan dasar) dan Organel (alat-alat)</a:t>
            </a:r>
          </a:p>
        </p:txBody>
      </p:sp>
      <p:sp>
        <p:nvSpPr>
          <p:cNvPr name="TextBox 12" id="12"/>
          <p:cNvSpPr txBox="true"/>
          <p:nvPr/>
        </p:nvSpPr>
        <p:spPr>
          <a:xfrm rot="0">
            <a:off x="6722394" y="3475266"/>
            <a:ext cx="4624522" cy="655357"/>
          </a:xfrm>
          <a:prstGeom prst="rect">
            <a:avLst/>
          </a:prstGeom>
        </p:spPr>
        <p:txBody>
          <a:bodyPr anchor="t" rtlCol="false" tIns="0" lIns="0" bIns="0" rIns="0">
            <a:spAutoFit/>
          </a:bodyPr>
          <a:lstStyle/>
          <a:p>
            <a:pPr algn="ctr">
              <a:lnSpc>
                <a:spcPts val="4800"/>
              </a:lnSpc>
            </a:pPr>
            <a:r>
              <a:rPr lang="en-US" sz="4800">
                <a:solidFill>
                  <a:srgbClr val="654C4C"/>
                </a:solidFill>
                <a:latin typeface="Marykate"/>
                <a:ea typeface="Marykate"/>
                <a:cs typeface="Marykate"/>
                <a:sym typeface="Marykate"/>
              </a:rPr>
              <a:t>Sitoplasma</a:t>
            </a:r>
          </a:p>
        </p:txBody>
      </p:sp>
      <p:sp>
        <p:nvSpPr>
          <p:cNvPr name="TextBox 13" id="13"/>
          <p:cNvSpPr txBox="true"/>
          <p:nvPr/>
        </p:nvSpPr>
        <p:spPr>
          <a:xfrm rot="0">
            <a:off x="12568935" y="4292806"/>
            <a:ext cx="4274617" cy="3909955"/>
          </a:xfrm>
          <a:prstGeom prst="rect">
            <a:avLst/>
          </a:prstGeom>
        </p:spPr>
        <p:txBody>
          <a:bodyPr anchor="t" rtlCol="false" tIns="0" lIns="0" bIns="0" rIns="0">
            <a:spAutoFit/>
          </a:bodyPr>
          <a:lstStyle/>
          <a:p>
            <a:pPr algn="l" marL="690881" indent="-345440" lvl="1">
              <a:lnSpc>
                <a:spcPts val="4480"/>
              </a:lnSpc>
              <a:buFont typeface="Arial"/>
              <a:buChar char="•"/>
            </a:pPr>
            <a:r>
              <a:rPr lang="en-US" sz="3200">
                <a:solidFill>
                  <a:srgbClr val="654C4C"/>
                </a:solidFill>
                <a:latin typeface="Handy Casual"/>
                <a:ea typeface="Handy Casual"/>
                <a:cs typeface="Handy Casual"/>
                <a:sym typeface="Handy Casual"/>
              </a:rPr>
              <a:t>(Pusat kendali) aktivitas sel</a:t>
            </a:r>
          </a:p>
          <a:p>
            <a:pPr algn="l" marL="690881" indent="-345440" lvl="1">
              <a:lnSpc>
                <a:spcPts val="4480"/>
              </a:lnSpc>
              <a:buFont typeface="Arial"/>
              <a:buChar char="•"/>
            </a:pPr>
            <a:r>
              <a:rPr lang="en-US" sz="3200">
                <a:solidFill>
                  <a:srgbClr val="654C4C"/>
                </a:solidFill>
                <a:latin typeface="Handy Casual"/>
                <a:ea typeface="Handy Casual"/>
                <a:cs typeface="Handy Casual"/>
                <a:sym typeface="Handy Casual"/>
              </a:rPr>
              <a:t>Mengandung DNA (materi genetik)</a:t>
            </a:r>
          </a:p>
          <a:p>
            <a:pPr algn="l" marL="690881" indent="-345440" lvl="1">
              <a:lnSpc>
                <a:spcPts val="4480"/>
              </a:lnSpc>
              <a:buFont typeface="Arial"/>
              <a:buChar char="•"/>
            </a:pPr>
            <a:r>
              <a:rPr lang="en-US" sz="3200">
                <a:solidFill>
                  <a:srgbClr val="654C4C"/>
                </a:solidFill>
                <a:latin typeface="Handy Casual"/>
                <a:ea typeface="Handy Casual"/>
                <a:cs typeface="Handy Casual"/>
                <a:sym typeface="Handy Casual"/>
              </a:rPr>
              <a:t>Mengatur sintesis protein, pertumbuhan, dan pembelahan sel</a:t>
            </a:r>
          </a:p>
        </p:txBody>
      </p:sp>
      <p:sp>
        <p:nvSpPr>
          <p:cNvPr name="TextBox 14" id="14"/>
          <p:cNvSpPr txBox="true"/>
          <p:nvPr/>
        </p:nvSpPr>
        <p:spPr>
          <a:xfrm rot="0">
            <a:off x="12568935" y="3475266"/>
            <a:ext cx="4274617" cy="655357"/>
          </a:xfrm>
          <a:prstGeom prst="rect">
            <a:avLst/>
          </a:prstGeom>
        </p:spPr>
        <p:txBody>
          <a:bodyPr anchor="t" rtlCol="false" tIns="0" lIns="0" bIns="0" rIns="0">
            <a:spAutoFit/>
          </a:bodyPr>
          <a:lstStyle/>
          <a:p>
            <a:pPr algn="ctr">
              <a:lnSpc>
                <a:spcPts val="4800"/>
              </a:lnSpc>
            </a:pPr>
            <a:r>
              <a:rPr lang="en-US" sz="4800">
                <a:solidFill>
                  <a:srgbClr val="654C4C"/>
                </a:solidFill>
                <a:latin typeface="Marykate"/>
                <a:ea typeface="Marykate"/>
                <a:cs typeface="Marykate"/>
                <a:sym typeface="Marykate"/>
              </a:rPr>
              <a:t>Nukleus</a:t>
            </a:r>
          </a:p>
        </p:txBody>
      </p:sp>
      <p:sp>
        <p:nvSpPr>
          <p:cNvPr name="Freeform 15" id="15"/>
          <p:cNvSpPr/>
          <p:nvPr/>
        </p:nvSpPr>
        <p:spPr>
          <a:xfrm flipH="false" flipV="false" rot="0">
            <a:off x="12821582" y="1065963"/>
            <a:ext cx="7315200" cy="931025"/>
          </a:xfrm>
          <a:custGeom>
            <a:avLst/>
            <a:gdLst/>
            <a:ahLst/>
            <a:cxnLst/>
            <a:rect r="r" b="b" t="t" l="l"/>
            <a:pathLst>
              <a:path h="931025" w="7315200">
                <a:moveTo>
                  <a:pt x="0" y="0"/>
                </a:moveTo>
                <a:lnTo>
                  <a:pt x="7315200" y="0"/>
                </a:lnTo>
                <a:lnTo>
                  <a:pt x="7315200" y="931025"/>
                </a:lnTo>
                <a:lnTo>
                  <a:pt x="0" y="93102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1848782" y="9558945"/>
            <a:ext cx="7315200" cy="931025"/>
          </a:xfrm>
          <a:custGeom>
            <a:avLst/>
            <a:gdLst/>
            <a:ahLst/>
            <a:cxnLst/>
            <a:rect r="r" b="b" t="t" l="l"/>
            <a:pathLst>
              <a:path h="931025" w="7315200">
                <a:moveTo>
                  <a:pt x="0" y="0"/>
                </a:moveTo>
                <a:lnTo>
                  <a:pt x="7315200" y="0"/>
                </a:lnTo>
                <a:lnTo>
                  <a:pt x="7315200" y="931026"/>
                </a:lnTo>
                <a:lnTo>
                  <a:pt x="0" y="9310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AC0"/>
        </a:solidFill>
      </p:bgPr>
    </p:bg>
    <p:spTree>
      <p:nvGrpSpPr>
        <p:cNvPr id="1" name=""/>
        <p:cNvGrpSpPr/>
        <p:nvPr/>
      </p:nvGrpSpPr>
      <p:grpSpPr>
        <a:xfrm>
          <a:off x="0" y="0"/>
          <a:ext cx="0" cy="0"/>
          <a:chOff x="0" y="0"/>
          <a:chExt cx="0" cy="0"/>
        </a:xfrm>
      </p:grpSpPr>
      <p:sp>
        <p:nvSpPr>
          <p:cNvPr name="Freeform 2" id="2"/>
          <p:cNvSpPr/>
          <p:nvPr/>
        </p:nvSpPr>
        <p:spPr>
          <a:xfrm flipH="false" flipV="false" rot="0">
            <a:off x="6414584" y="2105619"/>
            <a:ext cx="5107457" cy="455028"/>
          </a:xfrm>
          <a:custGeom>
            <a:avLst/>
            <a:gdLst/>
            <a:ahLst/>
            <a:cxnLst/>
            <a:rect r="r" b="b" t="t" l="l"/>
            <a:pathLst>
              <a:path h="455028" w="5107457">
                <a:moveTo>
                  <a:pt x="0" y="0"/>
                </a:moveTo>
                <a:lnTo>
                  <a:pt x="5107457" y="0"/>
                </a:lnTo>
                <a:lnTo>
                  <a:pt x="5107457" y="455028"/>
                </a:lnTo>
                <a:lnTo>
                  <a:pt x="0" y="4550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3196358" y="2101157"/>
            <a:ext cx="2901934" cy="4030464"/>
          </a:xfrm>
          <a:custGeom>
            <a:avLst/>
            <a:gdLst/>
            <a:ahLst/>
            <a:cxnLst/>
            <a:rect r="r" b="b" t="t" l="l"/>
            <a:pathLst>
              <a:path h="4030464" w="2901934">
                <a:moveTo>
                  <a:pt x="0" y="0"/>
                </a:moveTo>
                <a:lnTo>
                  <a:pt x="2901933" y="0"/>
                </a:lnTo>
                <a:lnTo>
                  <a:pt x="2901933" y="4030463"/>
                </a:lnTo>
                <a:lnTo>
                  <a:pt x="0" y="40304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211552" y="5251642"/>
            <a:ext cx="2901934" cy="4030464"/>
          </a:xfrm>
          <a:custGeom>
            <a:avLst/>
            <a:gdLst/>
            <a:ahLst/>
            <a:cxnLst/>
            <a:rect r="r" b="b" t="t" l="l"/>
            <a:pathLst>
              <a:path h="4030464" w="2901934">
                <a:moveTo>
                  <a:pt x="0" y="0"/>
                </a:moveTo>
                <a:lnTo>
                  <a:pt x="2901934" y="0"/>
                </a:lnTo>
                <a:lnTo>
                  <a:pt x="2901934" y="4030464"/>
                </a:lnTo>
                <a:lnTo>
                  <a:pt x="0" y="40304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7517345" y="2101157"/>
            <a:ext cx="2901934" cy="4030464"/>
          </a:xfrm>
          <a:custGeom>
            <a:avLst/>
            <a:gdLst/>
            <a:ahLst/>
            <a:cxnLst/>
            <a:rect r="r" b="b" t="t" l="l"/>
            <a:pathLst>
              <a:path h="4030464" w="2901934">
                <a:moveTo>
                  <a:pt x="0" y="0"/>
                </a:moveTo>
                <a:lnTo>
                  <a:pt x="2901934" y="0"/>
                </a:lnTo>
                <a:lnTo>
                  <a:pt x="2901934" y="4030463"/>
                </a:lnTo>
                <a:lnTo>
                  <a:pt x="0" y="40304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400000">
            <a:off x="5532539" y="5251642"/>
            <a:ext cx="2901934" cy="4030464"/>
          </a:xfrm>
          <a:custGeom>
            <a:avLst/>
            <a:gdLst/>
            <a:ahLst/>
            <a:cxnLst/>
            <a:rect r="r" b="b" t="t" l="l"/>
            <a:pathLst>
              <a:path h="4030464" w="2901934">
                <a:moveTo>
                  <a:pt x="0" y="0"/>
                </a:moveTo>
                <a:lnTo>
                  <a:pt x="2901934" y="0"/>
                </a:lnTo>
                <a:lnTo>
                  <a:pt x="2901934" y="4030464"/>
                </a:lnTo>
                <a:lnTo>
                  <a:pt x="0" y="40304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5400000">
            <a:off x="11838333" y="2101157"/>
            <a:ext cx="2901934" cy="4030464"/>
          </a:xfrm>
          <a:custGeom>
            <a:avLst/>
            <a:gdLst/>
            <a:ahLst/>
            <a:cxnLst/>
            <a:rect r="r" b="b" t="t" l="l"/>
            <a:pathLst>
              <a:path h="4030464" w="2901934">
                <a:moveTo>
                  <a:pt x="0" y="0"/>
                </a:moveTo>
                <a:lnTo>
                  <a:pt x="2901934" y="0"/>
                </a:lnTo>
                <a:lnTo>
                  <a:pt x="2901934" y="4030463"/>
                </a:lnTo>
                <a:lnTo>
                  <a:pt x="0" y="40304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9853527" y="5251642"/>
            <a:ext cx="2901934" cy="4030464"/>
          </a:xfrm>
          <a:custGeom>
            <a:avLst/>
            <a:gdLst/>
            <a:ahLst/>
            <a:cxnLst/>
            <a:rect r="r" b="b" t="t" l="l"/>
            <a:pathLst>
              <a:path h="4030464" w="2901934">
                <a:moveTo>
                  <a:pt x="0" y="0"/>
                </a:moveTo>
                <a:lnTo>
                  <a:pt x="2901934" y="0"/>
                </a:lnTo>
                <a:lnTo>
                  <a:pt x="2901934" y="4030464"/>
                </a:lnTo>
                <a:lnTo>
                  <a:pt x="0" y="40304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5400000">
            <a:off x="14174514" y="5251642"/>
            <a:ext cx="2901934" cy="4030464"/>
          </a:xfrm>
          <a:custGeom>
            <a:avLst/>
            <a:gdLst/>
            <a:ahLst/>
            <a:cxnLst/>
            <a:rect r="r" b="b" t="t" l="l"/>
            <a:pathLst>
              <a:path h="4030464" w="2901934">
                <a:moveTo>
                  <a:pt x="0" y="0"/>
                </a:moveTo>
                <a:lnTo>
                  <a:pt x="2901934" y="0"/>
                </a:lnTo>
                <a:lnTo>
                  <a:pt x="2901934" y="4030464"/>
                </a:lnTo>
                <a:lnTo>
                  <a:pt x="0" y="40304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5400000">
            <a:off x="3983688" y="2580217"/>
            <a:ext cx="1327273" cy="2333889"/>
          </a:xfrm>
          <a:custGeom>
            <a:avLst/>
            <a:gdLst/>
            <a:ahLst/>
            <a:cxnLst/>
            <a:rect r="r" b="b" t="t" l="l"/>
            <a:pathLst>
              <a:path h="2333889" w="1327273">
                <a:moveTo>
                  <a:pt x="0" y="2333889"/>
                </a:moveTo>
                <a:lnTo>
                  <a:pt x="1327273" y="2333889"/>
                </a:lnTo>
                <a:lnTo>
                  <a:pt x="1327273" y="0"/>
                </a:lnTo>
                <a:lnTo>
                  <a:pt x="0" y="0"/>
                </a:lnTo>
                <a:lnTo>
                  <a:pt x="0" y="2333889"/>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951540" y="6070658"/>
            <a:ext cx="1593836" cy="1544572"/>
          </a:xfrm>
          <a:custGeom>
            <a:avLst/>
            <a:gdLst/>
            <a:ahLst/>
            <a:cxnLst/>
            <a:rect r="r" b="b" t="t" l="l"/>
            <a:pathLst>
              <a:path h="1544572" w="1593836">
                <a:moveTo>
                  <a:pt x="0" y="0"/>
                </a:moveTo>
                <a:lnTo>
                  <a:pt x="1593836" y="0"/>
                </a:lnTo>
                <a:lnTo>
                  <a:pt x="1593836" y="1544572"/>
                </a:lnTo>
                <a:lnTo>
                  <a:pt x="0" y="15445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5127766" y="5990641"/>
            <a:ext cx="995430" cy="1624589"/>
          </a:xfrm>
          <a:custGeom>
            <a:avLst/>
            <a:gdLst/>
            <a:ahLst/>
            <a:cxnLst/>
            <a:rect r="r" b="b" t="t" l="l"/>
            <a:pathLst>
              <a:path h="1624589" w="995430">
                <a:moveTo>
                  <a:pt x="0" y="0"/>
                </a:moveTo>
                <a:lnTo>
                  <a:pt x="995431" y="0"/>
                </a:lnTo>
                <a:lnTo>
                  <a:pt x="995431" y="1624589"/>
                </a:lnTo>
                <a:lnTo>
                  <a:pt x="0" y="162458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true" rot="0">
            <a:off x="12029989" y="2915184"/>
            <a:ext cx="2518621" cy="1382952"/>
          </a:xfrm>
          <a:custGeom>
            <a:avLst/>
            <a:gdLst/>
            <a:ahLst/>
            <a:cxnLst/>
            <a:rect r="r" b="b" t="t" l="l"/>
            <a:pathLst>
              <a:path h="1382952" w="2518621">
                <a:moveTo>
                  <a:pt x="0" y="1382952"/>
                </a:moveTo>
                <a:lnTo>
                  <a:pt x="2518621" y="1382952"/>
                </a:lnTo>
                <a:lnTo>
                  <a:pt x="2518621" y="0"/>
                </a:lnTo>
                <a:lnTo>
                  <a:pt x="0" y="0"/>
                </a:lnTo>
                <a:lnTo>
                  <a:pt x="0" y="1382952"/>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6152653" y="6070658"/>
            <a:ext cx="1661706" cy="1528770"/>
          </a:xfrm>
          <a:custGeom>
            <a:avLst/>
            <a:gdLst/>
            <a:ahLst/>
            <a:cxnLst/>
            <a:rect r="r" b="b" t="t" l="l"/>
            <a:pathLst>
              <a:path h="1528770" w="1661706">
                <a:moveTo>
                  <a:pt x="0" y="0"/>
                </a:moveTo>
                <a:lnTo>
                  <a:pt x="1661706" y="0"/>
                </a:lnTo>
                <a:lnTo>
                  <a:pt x="1661706" y="1528770"/>
                </a:lnTo>
                <a:lnTo>
                  <a:pt x="0" y="152877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0357000" y="5990641"/>
            <a:ext cx="1894987" cy="1746834"/>
          </a:xfrm>
          <a:custGeom>
            <a:avLst/>
            <a:gdLst/>
            <a:ahLst/>
            <a:cxnLst/>
            <a:rect r="r" b="b" t="t" l="l"/>
            <a:pathLst>
              <a:path h="1746834" w="1894987">
                <a:moveTo>
                  <a:pt x="0" y="0"/>
                </a:moveTo>
                <a:lnTo>
                  <a:pt x="1894988" y="0"/>
                </a:lnTo>
                <a:lnTo>
                  <a:pt x="1894988" y="1746834"/>
                </a:lnTo>
                <a:lnTo>
                  <a:pt x="0" y="174683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8120503" y="2915184"/>
            <a:ext cx="1695618" cy="1695618"/>
          </a:xfrm>
          <a:custGeom>
            <a:avLst/>
            <a:gdLst/>
            <a:ahLst/>
            <a:cxnLst/>
            <a:rect r="r" b="b" t="t" l="l"/>
            <a:pathLst>
              <a:path h="1695618" w="1695618">
                <a:moveTo>
                  <a:pt x="0" y="0"/>
                </a:moveTo>
                <a:lnTo>
                  <a:pt x="1695618" y="0"/>
                </a:lnTo>
                <a:lnTo>
                  <a:pt x="1695618" y="1695618"/>
                </a:lnTo>
                <a:lnTo>
                  <a:pt x="0" y="169561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7" id="17"/>
          <p:cNvSpPr txBox="true"/>
          <p:nvPr/>
        </p:nvSpPr>
        <p:spPr>
          <a:xfrm rot="0">
            <a:off x="5684637" y="1033861"/>
            <a:ext cx="6567351" cy="963893"/>
          </a:xfrm>
          <a:prstGeom prst="rect">
            <a:avLst/>
          </a:prstGeom>
        </p:spPr>
        <p:txBody>
          <a:bodyPr anchor="t" rtlCol="false" tIns="0" lIns="0" bIns="0" rIns="0">
            <a:spAutoFit/>
          </a:bodyPr>
          <a:lstStyle/>
          <a:p>
            <a:pPr algn="ctr">
              <a:lnSpc>
                <a:spcPts val="7200"/>
              </a:lnSpc>
            </a:pPr>
            <a:r>
              <a:rPr lang="en-US" sz="7200">
                <a:solidFill>
                  <a:srgbClr val="654C4C"/>
                </a:solidFill>
                <a:latin typeface="Marykate"/>
                <a:ea typeface="Marykate"/>
                <a:cs typeface="Marykate"/>
                <a:sym typeface="Marykate"/>
              </a:rPr>
              <a:t>Organel Sel</a:t>
            </a:r>
          </a:p>
        </p:txBody>
      </p:sp>
      <p:sp>
        <p:nvSpPr>
          <p:cNvPr name="TextBox 18" id="18"/>
          <p:cNvSpPr txBox="true"/>
          <p:nvPr/>
        </p:nvSpPr>
        <p:spPr>
          <a:xfrm rot="0">
            <a:off x="2775800" y="4534602"/>
            <a:ext cx="3743050" cy="712544"/>
          </a:xfrm>
          <a:prstGeom prst="rect">
            <a:avLst/>
          </a:prstGeom>
        </p:spPr>
        <p:txBody>
          <a:bodyPr anchor="t" rtlCol="false" tIns="0" lIns="0" bIns="0" rIns="0">
            <a:spAutoFit/>
          </a:bodyPr>
          <a:lstStyle/>
          <a:p>
            <a:pPr algn="ctr">
              <a:lnSpc>
                <a:spcPts val="5880"/>
              </a:lnSpc>
            </a:pPr>
            <a:r>
              <a:rPr lang="en-US" sz="4200">
                <a:solidFill>
                  <a:srgbClr val="654C4C"/>
                </a:solidFill>
                <a:latin typeface="Marykate"/>
                <a:ea typeface="Marykate"/>
                <a:cs typeface="Marykate"/>
                <a:sym typeface="Marykate"/>
              </a:rPr>
              <a:t>Mitokondria</a:t>
            </a:r>
          </a:p>
        </p:txBody>
      </p:sp>
      <p:sp>
        <p:nvSpPr>
          <p:cNvPr name="TextBox 19" id="19"/>
          <p:cNvSpPr txBox="true"/>
          <p:nvPr/>
        </p:nvSpPr>
        <p:spPr>
          <a:xfrm rot="0">
            <a:off x="7096787" y="4534602"/>
            <a:ext cx="3743050" cy="712544"/>
          </a:xfrm>
          <a:prstGeom prst="rect">
            <a:avLst/>
          </a:prstGeom>
        </p:spPr>
        <p:txBody>
          <a:bodyPr anchor="t" rtlCol="false" tIns="0" lIns="0" bIns="0" rIns="0">
            <a:spAutoFit/>
          </a:bodyPr>
          <a:lstStyle/>
          <a:p>
            <a:pPr algn="ctr">
              <a:lnSpc>
                <a:spcPts val="5880"/>
              </a:lnSpc>
            </a:pPr>
            <a:r>
              <a:rPr lang="en-US" sz="4200">
                <a:solidFill>
                  <a:srgbClr val="654C4C"/>
                </a:solidFill>
                <a:latin typeface="Marykate"/>
                <a:ea typeface="Marykate"/>
                <a:cs typeface="Marykate"/>
                <a:sym typeface="Marykate"/>
              </a:rPr>
              <a:t>Ribosom</a:t>
            </a:r>
          </a:p>
        </p:txBody>
      </p:sp>
      <p:sp>
        <p:nvSpPr>
          <p:cNvPr name="TextBox 20" id="20"/>
          <p:cNvSpPr txBox="true"/>
          <p:nvPr/>
        </p:nvSpPr>
        <p:spPr>
          <a:xfrm rot="0">
            <a:off x="11417775" y="4267414"/>
            <a:ext cx="3743050" cy="1097206"/>
          </a:xfrm>
          <a:prstGeom prst="rect">
            <a:avLst/>
          </a:prstGeom>
        </p:spPr>
        <p:txBody>
          <a:bodyPr anchor="t" rtlCol="false" tIns="0" lIns="0" bIns="0" rIns="0">
            <a:spAutoFit/>
          </a:bodyPr>
          <a:lstStyle/>
          <a:p>
            <a:pPr algn="ctr">
              <a:lnSpc>
                <a:spcPts val="4200"/>
              </a:lnSpc>
            </a:pPr>
            <a:r>
              <a:rPr lang="en-US" sz="4200">
                <a:solidFill>
                  <a:srgbClr val="654C4C"/>
                </a:solidFill>
                <a:latin typeface="Marykate"/>
                <a:ea typeface="Marykate"/>
                <a:cs typeface="Marykate"/>
                <a:sym typeface="Marykate"/>
              </a:rPr>
              <a:t>Retikulum Endoplasma</a:t>
            </a:r>
          </a:p>
        </p:txBody>
      </p:sp>
      <p:sp>
        <p:nvSpPr>
          <p:cNvPr name="TextBox 21" id="21"/>
          <p:cNvSpPr txBox="true"/>
          <p:nvPr/>
        </p:nvSpPr>
        <p:spPr>
          <a:xfrm rot="0">
            <a:off x="790994" y="7539030"/>
            <a:ext cx="3743050" cy="712544"/>
          </a:xfrm>
          <a:prstGeom prst="rect">
            <a:avLst/>
          </a:prstGeom>
        </p:spPr>
        <p:txBody>
          <a:bodyPr anchor="t" rtlCol="false" tIns="0" lIns="0" bIns="0" rIns="0">
            <a:spAutoFit/>
          </a:bodyPr>
          <a:lstStyle/>
          <a:p>
            <a:pPr algn="ctr">
              <a:lnSpc>
                <a:spcPts val="5880"/>
              </a:lnSpc>
            </a:pPr>
            <a:r>
              <a:rPr lang="en-US" sz="4200">
                <a:solidFill>
                  <a:srgbClr val="654C4C"/>
                </a:solidFill>
                <a:latin typeface="Marykate"/>
                <a:ea typeface="Marykate"/>
                <a:cs typeface="Marykate"/>
                <a:sym typeface="Marykate"/>
              </a:rPr>
              <a:t>Kompleks Golgi</a:t>
            </a:r>
          </a:p>
        </p:txBody>
      </p:sp>
      <p:sp>
        <p:nvSpPr>
          <p:cNvPr name="TextBox 22" id="22"/>
          <p:cNvSpPr txBox="true"/>
          <p:nvPr/>
        </p:nvSpPr>
        <p:spPr>
          <a:xfrm rot="0">
            <a:off x="5111981" y="7539030"/>
            <a:ext cx="3743050" cy="712544"/>
          </a:xfrm>
          <a:prstGeom prst="rect">
            <a:avLst/>
          </a:prstGeom>
        </p:spPr>
        <p:txBody>
          <a:bodyPr anchor="t" rtlCol="false" tIns="0" lIns="0" bIns="0" rIns="0">
            <a:spAutoFit/>
          </a:bodyPr>
          <a:lstStyle/>
          <a:p>
            <a:pPr algn="ctr">
              <a:lnSpc>
                <a:spcPts val="5880"/>
              </a:lnSpc>
            </a:pPr>
            <a:r>
              <a:rPr lang="en-US" sz="4200">
                <a:solidFill>
                  <a:srgbClr val="654C4C"/>
                </a:solidFill>
                <a:latin typeface="Marykate"/>
                <a:ea typeface="Marykate"/>
                <a:cs typeface="Marykate"/>
                <a:sym typeface="Marykate"/>
              </a:rPr>
              <a:t>Lisosom</a:t>
            </a:r>
          </a:p>
        </p:txBody>
      </p:sp>
      <p:sp>
        <p:nvSpPr>
          <p:cNvPr name="TextBox 23" id="23"/>
          <p:cNvSpPr txBox="true"/>
          <p:nvPr/>
        </p:nvSpPr>
        <p:spPr>
          <a:xfrm rot="0">
            <a:off x="9432969" y="7539030"/>
            <a:ext cx="3743050" cy="712544"/>
          </a:xfrm>
          <a:prstGeom prst="rect">
            <a:avLst/>
          </a:prstGeom>
        </p:spPr>
        <p:txBody>
          <a:bodyPr anchor="t" rtlCol="false" tIns="0" lIns="0" bIns="0" rIns="0">
            <a:spAutoFit/>
          </a:bodyPr>
          <a:lstStyle/>
          <a:p>
            <a:pPr algn="ctr">
              <a:lnSpc>
                <a:spcPts val="5880"/>
              </a:lnSpc>
            </a:pPr>
            <a:r>
              <a:rPr lang="en-US" sz="4200">
                <a:solidFill>
                  <a:srgbClr val="654C4C"/>
                </a:solidFill>
                <a:latin typeface="Marykate"/>
                <a:ea typeface="Marykate"/>
                <a:cs typeface="Marykate"/>
                <a:sym typeface="Marykate"/>
              </a:rPr>
              <a:t>Vakuola</a:t>
            </a:r>
          </a:p>
        </p:txBody>
      </p:sp>
      <p:sp>
        <p:nvSpPr>
          <p:cNvPr name="TextBox 24" id="24"/>
          <p:cNvSpPr txBox="true"/>
          <p:nvPr/>
        </p:nvSpPr>
        <p:spPr>
          <a:xfrm rot="0">
            <a:off x="13753956" y="7539030"/>
            <a:ext cx="3743050" cy="712544"/>
          </a:xfrm>
          <a:prstGeom prst="rect">
            <a:avLst/>
          </a:prstGeom>
        </p:spPr>
        <p:txBody>
          <a:bodyPr anchor="t" rtlCol="false" tIns="0" lIns="0" bIns="0" rIns="0">
            <a:spAutoFit/>
          </a:bodyPr>
          <a:lstStyle/>
          <a:p>
            <a:pPr algn="ctr">
              <a:lnSpc>
                <a:spcPts val="5880"/>
              </a:lnSpc>
            </a:pPr>
            <a:r>
              <a:rPr lang="en-US" sz="4200">
                <a:solidFill>
                  <a:srgbClr val="654C4C"/>
                </a:solidFill>
                <a:latin typeface="Marykate"/>
                <a:ea typeface="Marykate"/>
                <a:cs typeface="Marykate"/>
                <a:sym typeface="Marykate"/>
              </a:rPr>
              <a:t>Kloroplas</a:t>
            </a:r>
          </a:p>
        </p:txBody>
      </p:sp>
      <p:sp>
        <p:nvSpPr>
          <p:cNvPr name="Freeform 25" id="25"/>
          <p:cNvSpPr/>
          <p:nvPr/>
        </p:nvSpPr>
        <p:spPr>
          <a:xfrm flipH="false" flipV="false" rot="5400000">
            <a:off x="-1800679" y="1179915"/>
            <a:ext cx="4835856" cy="3939025"/>
          </a:xfrm>
          <a:custGeom>
            <a:avLst/>
            <a:gdLst/>
            <a:ahLst/>
            <a:cxnLst/>
            <a:rect r="r" b="b" t="t" l="l"/>
            <a:pathLst>
              <a:path h="3939025" w="4835856">
                <a:moveTo>
                  <a:pt x="0" y="0"/>
                </a:moveTo>
                <a:lnTo>
                  <a:pt x="4835857" y="0"/>
                </a:lnTo>
                <a:lnTo>
                  <a:pt x="4835857" y="3939025"/>
                </a:lnTo>
                <a:lnTo>
                  <a:pt x="0" y="3939025"/>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6" id="26"/>
          <p:cNvSpPr/>
          <p:nvPr/>
        </p:nvSpPr>
        <p:spPr>
          <a:xfrm flipH="true" flipV="true" rot="5400000">
            <a:off x="15252822" y="526898"/>
            <a:ext cx="4835856" cy="3939025"/>
          </a:xfrm>
          <a:custGeom>
            <a:avLst/>
            <a:gdLst/>
            <a:ahLst/>
            <a:cxnLst/>
            <a:rect r="r" b="b" t="t" l="l"/>
            <a:pathLst>
              <a:path h="3939025" w="4835856">
                <a:moveTo>
                  <a:pt x="4835857" y="3939024"/>
                </a:moveTo>
                <a:lnTo>
                  <a:pt x="0" y="3939024"/>
                </a:lnTo>
                <a:lnTo>
                  <a:pt x="0" y="0"/>
                </a:lnTo>
                <a:lnTo>
                  <a:pt x="4835857" y="0"/>
                </a:lnTo>
                <a:lnTo>
                  <a:pt x="4835857" y="3939024"/>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7" id="27"/>
          <p:cNvSpPr/>
          <p:nvPr/>
        </p:nvSpPr>
        <p:spPr>
          <a:xfrm flipH="false" flipV="false" rot="0">
            <a:off x="2030416" y="8865179"/>
            <a:ext cx="4430604" cy="2843642"/>
          </a:xfrm>
          <a:custGeom>
            <a:avLst/>
            <a:gdLst/>
            <a:ahLst/>
            <a:cxnLst/>
            <a:rect r="r" b="b" t="t" l="l"/>
            <a:pathLst>
              <a:path h="2843642" w="4430604">
                <a:moveTo>
                  <a:pt x="0" y="0"/>
                </a:moveTo>
                <a:lnTo>
                  <a:pt x="4430603" y="0"/>
                </a:lnTo>
                <a:lnTo>
                  <a:pt x="4430603" y="2843642"/>
                </a:lnTo>
                <a:lnTo>
                  <a:pt x="0" y="2843642"/>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28" id="28"/>
          <p:cNvSpPr/>
          <p:nvPr/>
        </p:nvSpPr>
        <p:spPr>
          <a:xfrm flipH="false" flipV="false" rot="0">
            <a:off x="11826981" y="8865179"/>
            <a:ext cx="4430604" cy="2843642"/>
          </a:xfrm>
          <a:custGeom>
            <a:avLst/>
            <a:gdLst/>
            <a:ahLst/>
            <a:cxnLst/>
            <a:rect r="r" b="b" t="t" l="l"/>
            <a:pathLst>
              <a:path h="2843642" w="4430604">
                <a:moveTo>
                  <a:pt x="0" y="0"/>
                </a:moveTo>
                <a:lnTo>
                  <a:pt x="4430603" y="0"/>
                </a:lnTo>
                <a:lnTo>
                  <a:pt x="4430603" y="2843642"/>
                </a:lnTo>
                <a:lnTo>
                  <a:pt x="0" y="2843642"/>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AC0"/>
        </a:solidFill>
      </p:bgPr>
    </p:bg>
    <p:spTree>
      <p:nvGrpSpPr>
        <p:cNvPr id="1" name=""/>
        <p:cNvGrpSpPr/>
        <p:nvPr/>
      </p:nvGrpSpPr>
      <p:grpSpPr>
        <a:xfrm>
          <a:off x="0" y="0"/>
          <a:ext cx="0" cy="0"/>
          <a:chOff x="0" y="0"/>
          <a:chExt cx="0" cy="0"/>
        </a:xfrm>
      </p:grpSpPr>
      <p:sp>
        <p:nvSpPr>
          <p:cNvPr name="Freeform 2" id="2"/>
          <p:cNvSpPr/>
          <p:nvPr/>
        </p:nvSpPr>
        <p:spPr>
          <a:xfrm flipH="false" flipV="false" rot="0">
            <a:off x="6414584" y="2059456"/>
            <a:ext cx="5107457" cy="455028"/>
          </a:xfrm>
          <a:custGeom>
            <a:avLst/>
            <a:gdLst/>
            <a:ahLst/>
            <a:cxnLst/>
            <a:rect r="r" b="b" t="t" l="l"/>
            <a:pathLst>
              <a:path h="455028" w="5107457">
                <a:moveTo>
                  <a:pt x="0" y="0"/>
                </a:moveTo>
                <a:lnTo>
                  <a:pt x="5107457" y="0"/>
                </a:lnTo>
                <a:lnTo>
                  <a:pt x="5107457" y="455028"/>
                </a:lnTo>
                <a:lnTo>
                  <a:pt x="0" y="4550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87441" y="2771659"/>
            <a:ext cx="7816585" cy="6040089"/>
          </a:xfrm>
          <a:custGeom>
            <a:avLst/>
            <a:gdLst/>
            <a:ahLst/>
            <a:cxnLst/>
            <a:rect r="r" b="b" t="t" l="l"/>
            <a:pathLst>
              <a:path h="6040089" w="7816585">
                <a:moveTo>
                  <a:pt x="0" y="0"/>
                </a:moveTo>
                <a:lnTo>
                  <a:pt x="7816586" y="0"/>
                </a:lnTo>
                <a:lnTo>
                  <a:pt x="7816586" y="6040089"/>
                </a:lnTo>
                <a:lnTo>
                  <a:pt x="0" y="60400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9383973" y="2771659"/>
            <a:ext cx="7816585" cy="6040089"/>
          </a:xfrm>
          <a:custGeom>
            <a:avLst/>
            <a:gdLst/>
            <a:ahLst/>
            <a:cxnLst/>
            <a:rect r="r" b="b" t="t" l="l"/>
            <a:pathLst>
              <a:path h="6040089" w="7816585">
                <a:moveTo>
                  <a:pt x="0" y="6040089"/>
                </a:moveTo>
                <a:lnTo>
                  <a:pt x="7816586" y="6040089"/>
                </a:lnTo>
                <a:lnTo>
                  <a:pt x="7816586" y="0"/>
                </a:lnTo>
                <a:lnTo>
                  <a:pt x="0" y="0"/>
                </a:lnTo>
                <a:lnTo>
                  <a:pt x="0" y="604008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3948309" y="3847187"/>
            <a:ext cx="2527818" cy="3015834"/>
          </a:xfrm>
          <a:custGeom>
            <a:avLst/>
            <a:gdLst/>
            <a:ahLst/>
            <a:cxnLst/>
            <a:rect r="r" b="b" t="t" l="l"/>
            <a:pathLst>
              <a:path h="3015834" w="2527818">
                <a:moveTo>
                  <a:pt x="0" y="0"/>
                </a:moveTo>
                <a:lnTo>
                  <a:pt x="2527817" y="0"/>
                </a:lnTo>
                <a:lnTo>
                  <a:pt x="2527817" y="3015834"/>
                </a:lnTo>
                <a:lnTo>
                  <a:pt x="0" y="30158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2115601" y="4164599"/>
            <a:ext cx="2461571" cy="2381011"/>
          </a:xfrm>
          <a:custGeom>
            <a:avLst/>
            <a:gdLst/>
            <a:ahLst/>
            <a:cxnLst/>
            <a:rect r="r" b="b" t="t" l="l"/>
            <a:pathLst>
              <a:path h="2381011" w="2461571">
                <a:moveTo>
                  <a:pt x="0" y="0"/>
                </a:moveTo>
                <a:lnTo>
                  <a:pt x="2461572" y="0"/>
                </a:lnTo>
                <a:lnTo>
                  <a:pt x="2461572" y="2381011"/>
                </a:lnTo>
                <a:lnTo>
                  <a:pt x="0" y="238101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511938" y="-1310873"/>
            <a:ext cx="3797537" cy="3825357"/>
          </a:xfrm>
          <a:custGeom>
            <a:avLst/>
            <a:gdLst/>
            <a:ahLst/>
            <a:cxnLst/>
            <a:rect r="r" b="b" t="t" l="l"/>
            <a:pathLst>
              <a:path h="3825357" w="3797537">
                <a:moveTo>
                  <a:pt x="0" y="0"/>
                </a:moveTo>
                <a:lnTo>
                  <a:pt x="3797537" y="0"/>
                </a:lnTo>
                <a:lnTo>
                  <a:pt x="3797537" y="3825357"/>
                </a:lnTo>
                <a:lnTo>
                  <a:pt x="0" y="382535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true" rot="0">
            <a:off x="13978525" y="-1310873"/>
            <a:ext cx="3797537" cy="3825357"/>
          </a:xfrm>
          <a:custGeom>
            <a:avLst/>
            <a:gdLst/>
            <a:ahLst/>
            <a:cxnLst/>
            <a:rect r="r" b="b" t="t" l="l"/>
            <a:pathLst>
              <a:path h="3825357" w="3797537">
                <a:moveTo>
                  <a:pt x="0" y="3825357"/>
                </a:moveTo>
                <a:lnTo>
                  <a:pt x="3797537" y="3825357"/>
                </a:lnTo>
                <a:lnTo>
                  <a:pt x="3797537" y="0"/>
                </a:lnTo>
                <a:lnTo>
                  <a:pt x="0" y="0"/>
                </a:lnTo>
                <a:lnTo>
                  <a:pt x="0" y="3825357"/>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5684637" y="987699"/>
            <a:ext cx="6567351" cy="963893"/>
          </a:xfrm>
          <a:prstGeom prst="rect">
            <a:avLst/>
          </a:prstGeom>
        </p:spPr>
        <p:txBody>
          <a:bodyPr anchor="t" rtlCol="false" tIns="0" lIns="0" bIns="0" rIns="0">
            <a:spAutoFit/>
          </a:bodyPr>
          <a:lstStyle/>
          <a:p>
            <a:pPr algn="ctr">
              <a:lnSpc>
                <a:spcPts val="7200"/>
              </a:lnSpc>
            </a:pPr>
            <a:r>
              <a:rPr lang="en-US" sz="7200">
                <a:solidFill>
                  <a:srgbClr val="654C4C"/>
                </a:solidFill>
                <a:latin typeface="Marykate"/>
                <a:ea typeface="Marykate"/>
                <a:cs typeface="Marykate"/>
                <a:sym typeface="Marykate"/>
              </a:rPr>
              <a:t>Perbedaan</a:t>
            </a:r>
          </a:p>
        </p:txBody>
      </p:sp>
      <p:sp>
        <p:nvSpPr>
          <p:cNvPr name="TextBox 10" id="10"/>
          <p:cNvSpPr txBox="true"/>
          <p:nvPr/>
        </p:nvSpPr>
        <p:spPr>
          <a:xfrm rot="0">
            <a:off x="2290156" y="3254480"/>
            <a:ext cx="5844123" cy="655357"/>
          </a:xfrm>
          <a:prstGeom prst="rect">
            <a:avLst/>
          </a:prstGeom>
        </p:spPr>
        <p:txBody>
          <a:bodyPr anchor="t" rtlCol="false" tIns="0" lIns="0" bIns="0" rIns="0">
            <a:spAutoFit/>
          </a:bodyPr>
          <a:lstStyle/>
          <a:p>
            <a:pPr algn="ctr">
              <a:lnSpc>
                <a:spcPts val="4800"/>
              </a:lnSpc>
            </a:pPr>
            <a:r>
              <a:rPr lang="en-US" sz="4800">
                <a:solidFill>
                  <a:srgbClr val="654C4C"/>
                </a:solidFill>
                <a:latin typeface="Marykate"/>
                <a:ea typeface="Marykate"/>
                <a:cs typeface="Marykate"/>
                <a:sym typeface="Marykate"/>
              </a:rPr>
              <a:t>Sel Tumbuhan</a:t>
            </a:r>
          </a:p>
        </p:txBody>
      </p:sp>
      <p:sp>
        <p:nvSpPr>
          <p:cNvPr name="TextBox 11" id="11"/>
          <p:cNvSpPr txBox="true"/>
          <p:nvPr/>
        </p:nvSpPr>
        <p:spPr>
          <a:xfrm rot="0">
            <a:off x="2290156" y="6743221"/>
            <a:ext cx="5844123" cy="1661907"/>
          </a:xfrm>
          <a:prstGeom prst="rect">
            <a:avLst/>
          </a:prstGeom>
        </p:spPr>
        <p:txBody>
          <a:bodyPr anchor="t" rtlCol="false" tIns="0" lIns="0" bIns="0" rIns="0">
            <a:spAutoFit/>
          </a:bodyPr>
          <a:lstStyle/>
          <a:p>
            <a:pPr algn="ctr">
              <a:lnSpc>
                <a:spcPts val="4480"/>
              </a:lnSpc>
            </a:pPr>
            <a:r>
              <a:rPr lang="en-US" sz="3200">
                <a:solidFill>
                  <a:srgbClr val="654C4C"/>
                </a:solidFill>
                <a:latin typeface="Handy Casual"/>
                <a:ea typeface="Handy Casual"/>
                <a:cs typeface="Handy Casual"/>
                <a:sym typeface="Handy Casual"/>
              </a:rPr>
              <a:t>Sel tumbuhan adalah sel yang memiliki dinding sel, kloroplas, dan vakuola besar untuk fotosintesis dan menyimpan air.</a:t>
            </a:r>
          </a:p>
        </p:txBody>
      </p:sp>
      <p:sp>
        <p:nvSpPr>
          <p:cNvPr name="TextBox 12" id="12"/>
          <p:cNvSpPr txBox="true"/>
          <p:nvPr/>
        </p:nvSpPr>
        <p:spPr>
          <a:xfrm rot="0">
            <a:off x="10337818" y="3254480"/>
            <a:ext cx="6304150" cy="655357"/>
          </a:xfrm>
          <a:prstGeom prst="rect">
            <a:avLst/>
          </a:prstGeom>
        </p:spPr>
        <p:txBody>
          <a:bodyPr anchor="t" rtlCol="false" tIns="0" lIns="0" bIns="0" rIns="0">
            <a:spAutoFit/>
          </a:bodyPr>
          <a:lstStyle/>
          <a:p>
            <a:pPr algn="ctr">
              <a:lnSpc>
                <a:spcPts val="4800"/>
              </a:lnSpc>
            </a:pPr>
            <a:r>
              <a:rPr lang="en-US" sz="4800">
                <a:solidFill>
                  <a:srgbClr val="654C4C"/>
                </a:solidFill>
                <a:latin typeface="Marykate"/>
                <a:ea typeface="Marykate"/>
                <a:cs typeface="Marykate"/>
                <a:sym typeface="Marykate"/>
              </a:rPr>
              <a:t>Sel Hewan</a:t>
            </a:r>
          </a:p>
        </p:txBody>
      </p:sp>
      <p:sp>
        <p:nvSpPr>
          <p:cNvPr name="TextBox 13" id="13"/>
          <p:cNvSpPr txBox="true"/>
          <p:nvPr/>
        </p:nvSpPr>
        <p:spPr>
          <a:xfrm rot="0">
            <a:off x="10337818" y="6743221"/>
            <a:ext cx="6304150" cy="1661907"/>
          </a:xfrm>
          <a:prstGeom prst="rect">
            <a:avLst/>
          </a:prstGeom>
        </p:spPr>
        <p:txBody>
          <a:bodyPr anchor="t" rtlCol="false" tIns="0" lIns="0" bIns="0" rIns="0">
            <a:spAutoFit/>
          </a:bodyPr>
          <a:lstStyle/>
          <a:p>
            <a:pPr algn="ctr">
              <a:lnSpc>
                <a:spcPts val="4480"/>
              </a:lnSpc>
            </a:pPr>
            <a:r>
              <a:rPr lang="en-US" sz="3200">
                <a:solidFill>
                  <a:srgbClr val="654C4C"/>
                </a:solidFill>
                <a:latin typeface="Handy Casual"/>
                <a:ea typeface="Handy Casual"/>
                <a:cs typeface="Handy Casual"/>
                <a:sym typeface="Handy Casual"/>
              </a:rPr>
              <a:t>Sel hewan adalah sel yang tidak memiliki dinding sel dan kloroplas, bentuknya fleksibel, serta memiliki vakuola kecil dan sentriol.</a:t>
            </a:r>
          </a:p>
        </p:txBody>
      </p:sp>
      <p:sp>
        <p:nvSpPr>
          <p:cNvPr name="Freeform 14" id="14"/>
          <p:cNvSpPr/>
          <p:nvPr/>
        </p:nvSpPr>
        <p:spPr>
          <a:xfrm flipH="false" flipV="false" rot="0">
            <a:off x="-1546292" y="9068631"/>
            <a:ext cx="4803710" cy="1214028"/>
          </a:xfrm>
          <a:custGeom>
            <a:avLst/>
            <a:gdLst/>
            <a:ahLst/>
            <a:cxnLst/>
            <a:rect r="r" b="b" t="t" l="l"/>
            <a:pathLst>
              <a:path h="1214028" w="4803710">
                <a:moveTo>
                  <a:pt x="0" y="0"/>
                </a:moveTo>
                <a:lnTo>
                  <a:pt x="4803709" y="0"/>
                </a:lnTo>
                <a:lnTo>
                  <a:pt x="4803709" y="1214029"/>
                </a:lnTo>
                <a:lnTo>
                  <a:pt x="0" y="121402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15030583" y="9068631"/>
            <a:ext cx="4803710" cy="1214028"/>
          </a:xfrm>
          <a:custGeom>
            <a:avLst/>
            <a:gdLst/>
            <a:ahLst/>
            <a:cxnLst/>
            <a:rect r="r" b="b" t="t" l="l"/>
            <a:pathLst>
              <a:path h="1214028" w="4803710">
                <a:moveTo>
                  <a:pt x="0" y="0"/>
                </a:moveTo>
                <a:lnTo>
                  <a:pt x="4803709" y="0"/>
                </a:lnTo>
                <a:lnTo>
                  <a:pt x="4803709" y="1214029"/>
                </a:lnTo>
                <a:lnTo>
                  <a:pt x="0" y="121402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AC0"/>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617176" y="245133"/>
            <a:ext cx="7053649" cy="9796734"/>
          </a:xfrm>
          <a:custGeom>
            <a:avLst/>
            <a:gdLst/>
            <a:ahLst/>
            <a:cxnLst/>
            <a:rect r="r" b="b" t="t" l="l"/>
            <a:pathLst>
              <a:path h="9796734" w="7053649">
                <a:moveTo>
                  <a:pt x="0" y="0"/>
                </a:moveTo>
                <a:lnTo>
                  <a:pt x="7053648" y="0"/>
                </a:lnTo>
                <a:lnTo>
                  <a:pt x="7053648" y="9796734"/>
                </a:lnTo>
                <a:lnTo>
                  <a:pt x="0" y="97967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874618" y="3832738"/>
            <a:ext cx="4538765" cy="404363"/>
          </a:xfrm>
          <a:custGeom>
            <a:avLst/>
            <a:gdLst/>
            <a:ahLst/>
            <a:cxnLst/>
            <a:rect r="r" b="b" t="t" l="l"/>
            <a:pathLst>
              <a:path h="404363" w="4538765">
                <a:moveTo>
                  <a:pt x="0" y="0"/>
                </a:moveTo>
                <a:lnTo>
                  <a:pt x="4538764" y="0"/>
                </a:lnTo>
                <a:lnTo>
                  <a:pt x="4538764" y="404362"/>
                </a:lnTo>
                <a:lnTo>
                  <a:pt x="0" y="4043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973886" y="4432890"/>
            <a:ext cx="6487991" cy="7024400"/>
          </a:xfrm>
          <a:custGeom>
            <a:avLst/>
            <a:gdLst/>
            <a:ahLst/>
            <a:cxnLst/>
            <a:rect r="r" b="b" t="t" l="l"/>
            <a:pathLst>
              <a:path h="7024400" w="6487991">
                <a:moveTo>
                  <a:pt x="0" y="0"/>
                </a:moveTo>
                <a:lnTo>
                  <a:pt x="6487991" y="0"/>
                </a:lnTo>
                <a:lnTo>
                  <a:pt x="6487991" y="7024400"/>
                </a:lnTo>
                <a:lnTo>
                  <a:pt x="0" y="7024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773895" y="-1170290"/>
            <a:ext cx="6487991" cy="7024400"/>
          </a:xfrm>
          <a:custGeom>
            <a:avLst/>
            <a:gdLst/>
            <a:ahLst/>
            <a:cxnLst/>
            <a:rect r="r" b="b" t="t" l="l"/>
            <a:pathLst>
              <a:path h="7024400" w="6487991">
                <a:moveTo>
                  <a:pt x="0" y="0"/>
                </a:moveTo>
                <a:lnTo>
                  <a:pt x="6487991" y="0"/>
                </a:lnTo>
                <a:lnTo>
                  <a:pt x="6487991" y="7024400"/>
                </a:lnTo>
                <a:lnTo>
                  <a:pt x="0" y="7024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228820" y="-1345752"/>
            <a:ext cx="4679446" cy="5582853"/>
          </a:xfrm>
          <a:custGeom>
            <a:avLst/>
            <a:gdLst/>
            <a:ahLst/>
            <a:cxnLst/>
            <a:rect r="r" b="b" t="t" l="l"/>
            <a:pathLst>
              <a:path h="5582853" w="4679446">
                <a:moveTo>
                  <a:pt x="0" y="0"/>
                </a:moveTo>
                <a:lnTo>
                  <a:pt x="4679445" y="0"/>
                </a:lnTo>
                <a:lnTo>
                  <a:pt x="4679445" y="5582852"/>
                </a:lnTo>
                <a:lnTo>
                  <a:pt x="0" y="55828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968537" y="6385026"/>
            <a:ext cx="4556812" cy="4407680"/>
          </a:xfrm>
          <a:custGeom>
            <a:avLst/>
            <a:gdLst/>
            <a:ahLst/>
            <a:cxnLst/>
            <a:rect r="r" b="b" t="t" l="l"/>
            <a:pathLst>
              <a:path h="4407680" w="4556812">
                <a:moveTo>
                  <a:pt x="0" y="0"/>
                </a:moveTo>
                <a:lnTo>
                  <a:pt x="4556812" y="0"/>
                </a:lnTo>
                <a:lnTo>
                  <a:pt x="4556812" y="4407680"/>
                </a:lnTo>
                <a:lnTo>
                  <a:pt x="0" y="44076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4630400" y="7051656"/>
            <a:ext cx="7315200" cy="3458095"/>
          </a:xfrm>
          <a:custGeom>
            <a:avLst/>
            <a:gdLst/>
            <a:ahLst/>
            <a:cxnLst/>
            <a:rect r="r" b="b" t="t" l="l"/>
            <a:pathLst>
              <a:path h="3458095" w="7315200">
                <a:moveTo>
                  <a:pt x="0" y="0"/>
                </a:moveTo>
                <a:lnTo>
                  <a:pt x="7315200" y="0"/>
                </a:lnTo>
                <a:lnTo>
                  <a:pt x="7315200" y="3458095"/>
                </a:lnTo>
                <a:lnTo>
                  <a:pt x="0" y="34580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3657600" y="-222751"/>
            <a:ext cx="7315200" cy="3458095"/>
          </a:xfrm>
          <a:custGeom>
            <a:avLst/>
            <a:gdLst/>
            <a:ahLst/>
            <a:cxnLst/>
            <a:rect r="r" b="b" t="t" l="l"/>
            <a:pathLst>
              <a:path h="3458095" w="7315200">
                <a:moveTo>
                  <a:pt x="0" y="0"/>
                </a:moveTo>
                <a:lnTo>
                  <a:pt x="7315200" y="0"/>
                </a:lnTo>
                <a:lnTo>
                  <a:pt x="7315200" y="3458095"/>
                </a:lnTo>
                <a:lnTo>
                  <a:pt x="0" y="34580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2049134" y="-996741"/>
            <a:ext cx="3216933" cy="3216933"/>
          </a:xfrm>
          <a:custGeom>
            <a:avLst/>
            <a:gdLst/>
            <a:ahLst/>
            <a:cxnLst/>
            <a:rect r="r" b="b" t="t" l="l"/>
            <a:pathLst>
              <a:path h="3216933" w="3216933">
                <a:moveTo>
                  <a:pt x="0" y="0"/>
                </a:moveTo>
                <a:lnTo>
                  <a:pt x="3216932" y="0"/>
                </a:lnTo>
                <a:lnTo>
                  <a:pt x="3216932" y="3216933"/>
                </a:lnTo>
                <a:lnTo>
                  <a:pt x="0" y="321693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12142245" y="8060260"/>
            <a:ext cx="4976310" cy="2732447"/>
          </a:xfrm>
          <a:custGeom>
            <a:avLst/>
            <a:gdLst/>
            <a:ahLst/>
            <a:cxnLst/>
            <a:rect r="r" b="b" t="t" l="l"/>
            <a:pathLst>
              <a:path h="2732447" w="4976310">
                <a:moveTo>
                  <a:pt x="0" y="0"/>
                </a:moveTo>
                <a:lnTo>
                  <a:pt x="4976310" y="0"/>
                </a:lnTo>
                <a:lnTo>
                  <a:pt x="4976310" y="2732446"/>
                </a:lnTo>
                <a:lnTo>
                  <a:pt x="0" y="273244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2" id="12"/>
          <p:cNvSpPr txBox="true"/>
          <p:nvPr/>
        </p:nvSpPr>
        <p:spPr>
          <a:xfrm rot="0">
            <a:off x="5104293" y="4448847"/>
            <a:ext cx="8079414" cy="2223919"/>
          </a:xfrm>
          <a:prstGeom prst="rect">
            <a:avLst/>
          </a:prstGeom>
        </p:spPr>
        <p:txBody>
          <a:bodyPr anchor="t" rtlCol="false" tIns="0" lIns="0" bIns="0" rIns="0">
            <a:spAutoFit/>
          </a:bodyPr>
          <a:lstStyle/>
          <a:p>
            <a:pPr algn="ctr">
              <a:lnSpc>
                <a:spcPts val="4480"/>
              </a:lnSpc>
            </a:pPr>
            <a:r>
              <a:rPr lang="en-US" sz="3200">
                <a:solidFill>
                  <a:srgbClr val="654C4C"/>
                </a:solidFill>
                <a:latin typeface="Handy Casual"/>
                <a:ea typeface="Handy Casual"/>
                <a:cs typeface="Handy Casual"/>
                <a:sym typeface="Handy Casual"/>
              </a:rPr>
              <a:t>Sel adalah unit dasar kehidupan yang menyusun tubuh makhluk hidup dan menjalankan semua fungsi kehidupan. Setiap sel memiliki struktur dan organel yang bekerja sama sesuai dengan fungsinya.</a:t>
            </a:r>
          </a:p>
        </p:txBody>
      </p:sp>
      <p:sp>
        <p:nvSpPr>
          <p:cNvPr name="TextBox 13" id="13"/>
          <p:cNvSpPr txBox="true"/>
          <p:nvPr/>
        </p:nvSpPr>
        <p:spPr>
          <a:xfrm rot="0">
            <a:off x="5104293" y="2725872"/>
            <a:ext cx="8079414" cy="963893"/>
          </a:xfrm>
          <a:prstGeom prst="rect">
            <a:avLst/>
          </a:prstGeom>
        </p:spPr>
        <p:txBody>
          <a:bodyPr anchor="t" rtlCol="false" tIns="0" lIns="0" bIns="0" rIns="0">
            <a:spAutoFit/>
          </a:bodyPr>
          <a:lstStyle/>
          <a:p>
            <a:pPr algn="ctr">
              <a:lnSpc>
                <a:spcPts val="7200"/>
              </a:lnSpc>
            </a:pPr>
            <a:r>
              <a:rPr lang="en-US" sz="7200">
                <a:solidFill>
                  <a:srgbClr val="654C4C"/>
                </a:solidFill>
                <a:latin typeface="Marykate"/>
                <a:ea typeface="Marykate"/>
                <a:cs typeface="Marykate"/>
                <a:sym typeface="Marykate"/>
              </a:rPr>
              <a:t>Kesimpulan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AC0"/>
        </a:solidFill>
      </p:bgPr>
    </p:bg>
    <p:spTree>
      <p:nvGrpSpPr>
        <p:cNvPr id="1" name=""/>
        <p:cNvGrpSpPr/>
        <p:nvPr/>
      </p:nvGrpSpPr>
      <p:grpSpPr>
        <a:xfrm>
          <a:off x="0" y="0"/>
          <a:ext cx="0" cy="0"/>
          <a:chOff x="0" y="0"/>
          <a:chExt cx="0" cy="0"/>
        </a:xfrm>
      </p:grpSpPr>
      <p:sp>
        <p:nvSpPr>
          <p:cNvPr name="Freeform 2" id="2"/>
          <p:cNvSpPr/>
          <p:nvPr/>
        </p:nvSpPr>
        <p:spPr>
          <a:xfrm flipH="true" flipV="false" rot="0">
            <a:off x="400573" y="480258"/>
            <a:ext cx="11854581" cy="9160358"/>
          </a:xfrm>
          <a:custGeom>
            <a:avLst/>
            <a:gdLst/>
            <a:ahLst/>
            <a:cxnLst/>
            <a:rect r="r" b="b" t="t" l="l"/>
            <a:pathLst>
              <a:path h="9160358" w="11854581">
                <a:moveTo>
                  <a:pt x="11854581" y="0"/>
                </a:moveTo>
                <a:lnTo>
                  <a:pt x="0" y="0"/>
                </a:lnTo>
                <a:lnTo>
                  <a:pt x="0" y="9160358"/>
                </a:lnTo>
                <a:lnTo>
                  <a:pt x="11854581" y="9160358"/>
                </a:lnTo>
                <a:lnTo>
                  <a:pt x="1185458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327864" y="1266328"/>
            <a:ext cx="9343789" cy="7220201"/>
          </a:xfrm>
          <a:custGeom>
            <a:avLst/>
            <a:gdLst/>
            <a:ahLst/>
            <a:cxnLst/>
            <a:rect r="r" b="b" t="t" l="l"/>
            <a:pathLst>
              <a:path h="7220201" w="9343789">
                <a:moveTo>
                  <a:pt x="0" y="0"/>
                </a:moveTo>
                <a:lnTo>
                  <a:pt x="9343789" y="0"/>
                </a:lnTo>
                <a:lnTo>
                  <a:pt x="9343789" y="7220201"/>
                </a:lnTo>
                <a:lnTo>
                  <a:pt x="0" y="72202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730376" y="2651292"/>
            <a:ext cx="4538765" cy="404363"/>
          </a:xfrm>
          <a:custGeom>
            <a:avLst/>
            <a:gdLst/>
            <a:ahLst/>
            <a:cxnLst/>
            <a:rect r="r" b="b" t="t" l="l"/>
            <a:pathLst>
              <a:path h="404363" w="4538765">
                <a:moveTo>
                  <a:pt x="0" y="0"/>
                </a:moveTo>
                <a:lnTo>
                  <a:pt x="4538764" y="0"/>
                </a:lnTo>
                <a:lnTo>
                  <a:pt x="4538764" y="404363"/>
                </a:lnTo>
                <a:lnTo>
                  <a:pt x="0" y="4043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2897549" y="-2182838"/>
            <a:ext cx="3797537" cy="3825357"/>
          </a:xfrm>
          <a:custGeom>
            <a:avLst/>
            <a:gdLst/>
            <a:ahLst/>
            <a:cxnLst/>
            <a:rect r="r" b="b" t="t" l="l"/>
            <a:pathLst>
              <a:path h="3825357" w="3797537">
                <a:moveTo>
                  <a:pt x="0" y="3825357"/>
                </a:moveTo>
                <a:lnTo>
                  <a:pt x="3797537" y="3825357"/>
                </a:lnTo>
                <a:lnTo>
                  <a:pt x="3797537" y="0"/>
                </a:lnTo>
                <a:lnTo>
                  <a:pt x="0" y="0"/>
                </a:lnTo>
                <a:lnTo>
                  <a:pt x="0" y="3825357"/>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646096" y="-1156092"/>
            <a:ext cx="5597528" cy="6678178"/>
          </a:xfrm>
          <a:custGeom>
            <a:avLst/>
            <a:gdLst/>
            <a:ahLst/>
            <a:cxnLst/>
            <a:rect r="r" b="b" t="t" l="l"/>
            <a:pathLst>
              <a:path h="6678178" w="5597528">
                <a:moveTo>
                  <a:pt x="0" y="0"/>
                </a:moveTo>
                <a:lnTo>
                  <a:pt x="5597528" y="0"/>
                </a:lnTo>
                <a:lnTo>
                  <a:pt x="5597528" y="6678178"/>
                </a:lnTo>
                <a:lnTo>
                  <a:pt x="0" y="667817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499403" y="5313749"/>
            <a:ext cx="5450834" cy="5272443"/>
          </a:xfrm>
          <a:custGeom>
            <a:avLst/>
            <a:gdLst/>
            <a:ahLst/>
            <a:cxnLst/>
            <a:rect r="r" b="b" t="t" l="l"/>
            <a:pathLst>
              <a:path h="5272443" w="5450834">
                <a:moveTo>
                  <a:pt x="0" y="0"/>
                </a:moveTo>
                <a:lnTo>
                  <a:pt x="5450835" y="0"/>
                </a:lnTo>
                <a:lnTo>
                  <a:pt x="5450835" y="5272444"/>
                </a:lnTo>
                <a:lnTo>
                  <a:pt x="0" y="527244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0">
            <a:off x="7155961" y="632658"/>
            <a:ext cx="11854581" cy="9160358"/>
          </a:xfrm>
          <a:custGeom>
            <a:avLst/>
            <a:gdLst/>
            <a:ahLst/>
            <a:cxnLst/>
            <a:rect r="r" b="b" t="t" l="l"/>
            <a:pathLst>
              <a:path h="9160358" w="11854581">
                <a:moveTo>
                  <a:pt x="11854581" y="0"/>
                </a:moveTo>
                <a:lnTo>
                  <a:pt x="0" y="0"/>
                </a:lnTo>
                <a:lnTo>
                  <a:pt x="0" y="9160358"/>
                </a:lnTo>
                <a:lnTo>
                  <a:pt x="11854581" y="9160358"/>
                </a:lnTo>
                <a:lnTo>
                  <a:pt x="1185458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083252" y="7709605"/>
            <a:ext cx="6340634" cy="3862022"/>
          </a:xfrm>
          <a:custGeom>
            <a:avLst/>
            <a:gdLst/>
            <a:ahLst/>
            <a:cxnLst/>
            <a:rect r="r" b="b" t="t" l="l"/>
            <a:pathLst>
              <a:path h="3862022" w="6340634">
                <a:moveTo>
                  <a:pt x="0" y="0"/>
                </a:moveTo>
                <a:lnTo>
                  <a:pt x="6340634" y="0"/>
                </a:lnTo>
                <a:lnTo>
                  <a:pt x="6340634" y="3862022"/>
                </a:lnTo>
                <a:lnTo>
                  <a:pt x="0" y="386202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0" id="10"/>
          <p:cNvSpPr/>
          <p:nvPr/>
        </p:nvSpPr>
        <p:spPr>
          <a:xfrm flipH="false" flipV="false" rot="0">
            <a:off x="16756943" y="2959547"/>
            <a:ext cx="4336139" cy="4367906"/>
          </a:xfrm>
          <a:custGeom>
            <a:avLst/>
            <a:gdLst/>
            <a:ahLst/>
            <a:cxnLst/>
            <a:rect r="r" b="b" t="t" l="l"/>
            <a:pathLst>
              <a:path h="4367906" w="4336139">
                <a:moveTo>
                  <a:pt x="0" y="0"/>
                </a:moveTo>
                <a:lnTo>
                  <a:pt x="4336139" y="0"/>
                </a:lnTo>
                <a:lnTo>
                  <a:pt x="4336139" y="4367906"/>
                </a:lnTo>
                <a:lnTo>
                  <a:pt x="0" y="43679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4240054" y="7327453"/>
            <a:ext cx="1544601" cy="2716041"/>
          </a:xfrm>
          <a:custGeom>
            <a:avLst/>
            <a:gdLst/>
            <a:ahLst/>
            <a:cxnLst/>
            <a:rect r="r" b="b" t="t" l="l"/>
            <a:pathLst>
              <a:path h="2716041" w="1544601">
                <a:moveTo>
                  <a:pt x="0" y="0"/>
                </a:moveTo>
                <a:lnTo>
                  <a:pt x="1544601" y="0"/>
                </a:lnTo>
                <a:lnTo>
                  <a:pt x="1544601" y="2716041"/>
                </a:lnTo>
                <a:lnTo>
                  <a:pt x="0" y="271604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false" flipV="true" rot="0">
            <a:off x="15936187" y="-1042868"/>
            <a:ext cx="3487699" cy="3379897"/>
          </a:xfrm>
          <a:custGeom>
            <a:avLst/>
            <a:gdLst/>
            <a:ahLst/>
            <a:cxnLst/>
            <a:rect r="r" b="b" t="t" l="l"/>
            <a:pathLst>
              <a:path h="3379897" w="3487699">
                <a:moveTo>
                  <a:pt x="0" y="3379897"/>
                </a:moveTo>
                <a:lnTo>
                  <a:pt x="3487699" y="3379897"/>
                </a:lnTo>
                <a:lnTo>
                  <a:pt x="3487699" y="0"/>
                </a:lnTo>
                <a:lnTo>
                  <a:pt x="0" y="0"/>
                </a:lnTo>
                <a:lnTo>
                  <a:pt x="0" y="3379897"/>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3" id="13"/>
          <p:cNvSpPr/>
          <p:nvPr/>
        </p:nvSpPr>
        <p:spPr>
          <a:xfrm flipH="false" flipV="false" rot="-5400000">
            <a:off x="5183624" y="-2827694"/>
            <a:ext cx="8387709" cy="16100496"/>
          </a:xfrm>
          <a:custGeom>
            <a:avLst/>
            <a:gdLst/>
            <a:ahLst/>
            <a:cxnLst/>
            <a:rect r="r" b="b" t="t" l="l"/>
            <a:pathLst>
              <a:path h="16100496" w="8387709">
                <a:moveTo>
                  <a:pt x="0" y="0"/>
                </a:moveTo>
                <a:lnTo>
                  <a:pt x="8387709" y="0"/>
                </a:lnTo>
                <a:lnTo>
                  <a:pt x="8387709" y="16100497"/>
                </a:lnTo>
                <a:lnTo>
                  <a:pt x="0" y="16100497"/>
                </a:lnTo>
                <a:lnTo>
                  <a:pt x="0" y="0"/>
                </a:lnTo>
                <a:close/>
              </a:path>
            </a:pathLst>
          </a:custGeom>
          <a:blipFill>
            <a:blip r:embed="rId20"/>
            <a:stretch>
              <a:fillRect l="-7631" t="-11369" r="-14569" b="-1807"/>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AC0"/>
        </a:solidFill>
      </p:bgPr>
    </p:bg>
    <p:spTree>
      <p:nvGrpSpPr>
        <p:cNvPr id="1" name=""/>
        <p:cNvGrpSpPr/>
        <p:nvPr/>
      </p:nvGrpSpPr>
      <p:grpSpPr>
        <a:xfrm>
          <a:off x="0" y="0"/>
          <a:ext cx="0" cy="0"/>
          <a:chOff x="0" y="0"/>
          <a:chExt cx="0" cy="0"/>
        </a:xfrm>
      </p:grpSpPr>
      <p:sp>
        <p:nvSpPr>
          <p:cNvPr name="Freeform 2" id="2"/>
          <p:cNvSpPr/>
          <p:nvPr/>
        </p:nvSpPr>
        <p:spPr>
          <a:xfrm flipH="true" flipV="false" rot="0">
            <a:off x="400573" y="1266328"/>
            <a:ext cx="10919382" cy="8437704"/>
          </a:xfrm>
          <a:custGeom>
            <a:avLst/>
            <a:gdLst/>
            <a:ahLst/>
            <a:cxnLst/>
            <a:rect r="r" b="b" t="t" l="l"/>
            <a:pathLst>
              <a:path h="8437704" w="10919382">
                <a:moveTo>
                  <a:pt x="10919382" y="0"/>
                </a:moveTo>
                <a:lnTo>
                  <a:pt x="0" y="0"/>
                </a:lnTo>
                <a:lnTo>
                  <a:pt x="0" y="8437704"/>
                </a:lnTo>
                <a:lnTo>
                  <a:pt x="10919382" y="8437704"/>
                </a:lnTo>
                <a:lnTo>
                  <a:pt x="1091938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327864" y="1266328"/>
            <a:ext cx="9343789" cy="7220201"/>
          </a:xfrm>
          <a:custGeom>
            <a:avLst/>
            <a:gdLst/>
            <a:ahLst/>
            <a:cxnLst/>
            <a:rect r="r" b="b" t="t" l="l"/>
            <a:pathLst>
              <a:path h="7220201" w="9343789">
                <a:moveTo>
                  <a:pt x="0" y="0"/>
                </a:moveTo>
                <a:lnTo>
                  <a:pt x="9343789" y="0"/>
                </a:lnTo>
                <a:lnTo>
                  <a:pt x="9343789" y="7220201"/>
                </a:lnTo>
                <a:lnTo>
                  <a:pt x="0" y="72202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730376" y="2651292"/>
            <a:ext cx="4538765" cy="404363"/>
          </a:xfrm>
          <a:custGeom>
            <a:avLst/>
            <a:gdLst/>
            <a:ahLst/>
            <a:cxnLst/>
            <a:rect r="r" b="b" t="t" l="l"/>
            <a:pathLst>
              <a:path h="404363" w="4538765">
                <a:moveTo>
                  <a:pt x="0" y="0"/>
                </a:moveTo>
                <a:lnTo>
                  <a:pt x="4538764" y="0"/>
                </a:lnTo>
                <a:lnTo>
                  <a:pt x="4538764" y="404363"/>
                </a:lnTo>
                <a:lnTo>
                  <a:pt x="0" y="4043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2897549" y="-2182838"/>
            <a:ext cx="3797537" cy="3825357"/>
          </a:xfrm>
          <a:custGeom>
            <a:avLst/>
            <a:gdLst/>
            <a:ahLst/>
            <a:cxnLst/>
            <a:rect r="r" b="b" t="t" l="l"/>
            <a:pathLst>
              <a:path h="3825357" w="3797537">
                <a:moveTo>
                  <a:pt x="0" y="3825357"/>
                </a:moveTo>
                <a:lnTo>
                  <a:pt x="3797537" y="3825357"/>
                </a:lnTo>
                <a:lnTo>
                  <a:pt x="3797537" y="0"/>
                </a:lnTo>
                <a:lnTo>
                  <a:pt x="0" y="0"/>
                </a:lnTo>
                <a:lnTo>
                  <a:pt x="0" y="3825357"/>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646096" y="-1156092"/>
            <a:ext cx="5597528" cy="6678178"/>
          </a:xfrm>
          <a:custGeom>
            <a:avLst/>
            <a:gdLst/>
            <a:ahLst/>
            <a:cxnLst/>
            <a:rect r="r" b="b" t="t" l="l"/>
            <a:pathLst>
              <a:path h="6678178" w="5597528">
                <a:moveTo>
                  <a:pt x="0" y="0"/>
                </a:moveTo>
                <a:lnTo>
                  <a:pt x="5597528" y="0"/>
                </a:lnTo>
                <a:lnTo>
                  <a:pt x="5597528" y="6678178"/>
                </a:lnTo>
                <a:lnTo>
                  <a:pt x="0" y="667817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499403" y="5313749"/>
            <a:ext cx="5450834" cy="5272443"/>
          </a:xfrm>
          <a:custGeom>
            <a:avLst/>
            <a:gdLst/>
            <a:ahLst/>
            <a:cxnLst/>
            <a:rect r="r" b="b" t="t" l="l"/>
            <a:pathLst>
              <a:path h="5272443" w="5450834">
                <a:moveTo>
                  <a:pt x="0" y="0"/>
                </a:moveTo>
                <a:lnTo>
                  <a:pt x="5450835" y="0"/>
                </a:lnTo>
                <a:lnTo>
                  <a:pt x="5450835" y="5272444"/>
                </a:lnTo>
                <a:lnTo>
                  <a:pt x="0" y="527244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0">
            <a:off x="6623034" y="1406705"/>
            <a:ext cx="10919382" cy="8437704"/>
          </a:xfrm>
          <a:custGeom>
            <a:avLst/>
            <a:gdLst/>
            <a:ahLst/>
            <a:cxnLst/>
            <a:rect r="r" b="b" t="t" l="l"/>
            <a:pathLst>
              <a:path h="8437704" w="10919382">
                <a:moveTo>
                  <a:pt x="10919382" y="0"/>
                </a:moveTo>
                <a:lnTo>
                  <a:pt x="0" y="0"/>
                </a:lnTo>
                <a:lnTo>
                  <a:pt x="0" y="8437705"/>
                </a:lnTo>
                <a:lnTo>
                  <a:pt x="10919382" y="8437705"/>
                </a:lnTo>
                <a:lnTo>
                  <a:pt x="1091938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083252" y="7709605"/>
            <a:ext cx="6340634" cy="3862022"/>
          </a:xfrm>
          <a:custGeom>
            <a:avLst/>
            <a:gdLst/>
            <a:ahLst/>
            <a:cxnLst/>
            <a:rect r="r" b="b" t="t" l="l"/>
            <a:pathLst>
              <a:path h="3862022" w="6340634">
                <a:moveTo>
                  <a:pt x="0" y="0"/>
                </a:moveTo>
                <a:lnTo>
                  <a:pt x="6340634" y="0"/>
                </a:lnTo>
                <a:lnTo>
                  <a:pt x="6340634" y="3862022"/>
                </a:lnTo>
                <a:lnTo>
                  <a:pt x="0" y="386202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0" id="10"/>
          <p:cNvSpPr/>
          <p:nvPr/>
        </p:nvSpPr>
        <p:spPr>
          <a:xfrm flipH="false" flipV="false" rot="0">
            <a:off x="16756943" y="2959547"/>
            <a:ext cx="4336139" cy="4367906"/>
          </a:xfrm>
          <a:custGeom>
            <a:avLst/>
            <a:gdLst/>
            <a:ahLst/>
            <a:cxnLst/>
            <a:rect r="r" b="b" t="t" l="l"/>
            <a:pathLst>
              <a:path h="4367906" w="4336139">
                <a:moveTo>
                  <a:pt x="0" y="0"/>
                </a:moveTo>
                <a:lnTo>
                  <a:pt x="4336139" y="0"/>
                </a:lnTo>
                <a:lnTo>
                  <a:pt x="4336139" y="4367906"/>
                </a:lnTo>
                <a:lnTo>
                  <a:pt x="0" y="43679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4240054" y="7327453"/>
            <a:ext cx="1544601" cy="2716041"/>
          </a:xfrm>
          <a:custGeom>
            <a:avLst/>
            <a:gdLst/>
            <a:ahLst/>
            <a:cxnLst/>
            <a:rect r="r" b="b" t="t" l="l"/>
            <a:pathLst>
              <a:path h="2716041" w="1544601">
                <a:moveTo>
                  <a:pt x="0" y="0"/>
                </a:moveTo>
                <a:lnTo>
                  <a:pt x="1544601" y="0"/>
                </a:lnTo>
                <a:lnTo>
                  <a:pt x="1544601" y="2716041"/>
                </a:lnTo>
                <a:lnTo>
                  <a:pt x="0" y="271604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false" flipV="true" rot="0">
            <a:off x="15936187" y="-1042868"/>
            <a:ext cx="3487699" cy="3379897"/>
          </a:xfrm>
          <a:custGeom>
            <a:avLst/>
            <a:gdLst/>
            <a:ahLst/>
            <a:cxnLst/>
            <a:rect r="r" b="b" t="t" l="l"/>
            <a:pathLst>
              <a:path h="3379897" w="3487699">
                <a:moveTo>
                  <a:pt x="0" y="3379897"/>
                </a:moveTo>
                <a:lnTo>
                  <a:pt x="3487699" y="3379897"/>
                </a:lnTo>
                <a:lnTo>
                  <a:pt x="3487699" y="0"/>
                </a:lnTo>
                <a:lnTo>
                  <a:pt x="0" y="0"/>
                </a:lnTo>
                <a:lnTo>
                  <a:pt x="0" y="3379897"/>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3" id="13"/>
          <p:cNvSpPr/>
          <p:nvPr/>
        </p:nvSpPr>
        <p:spPr>
          <a:xfrm flipH="false" flipV="false" rot="-5400000">
            <a:off x="5844990" y="-2560739"/>
            <a:ext cx="7303015" cy="16091838"/>
          </a:xfrm>
          <a:custGeom>
            <a:avLst/>
            <a:gdLst/>
            <a:ahLst/>
            <a:cxnLst/>
            <a:rect r="r" b="b" t="t" l="l"/>
            <a:pathLst>
              <a:path h="16091838" w="7303015">
                <a:moveTo>
                  <a:pt x="0" y="0"/>
                </a:moveTo>
                <a:lnTo>
                  <a:pt x="7303014" y="0"/>
                </a:lnTo>
                <a:lnTo>
                  <a:pt x="7303014" y="16091838"/>
                </a:lnTo>
                <a:lnTo>
                  <a:pt x="0" y="16091838"/>
                </a:lnTo>
                <a:lnTo>
                  <a:pt x="0" y="0"/>
                </a:lnTo>
                <a:close/>
              </a:path>
            </a:pathLst>
          </a:custGeom>
          <a:blipFill>
            <a:blip r:embed="rId20"/>
            <a:stretch>
              <a:fillRect l="-12597" t="-8033" r="-27641" b="-5113"/>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AC0"/>
        </a:solidFill>
      </p:bgPr>
    </p:bg>
    <p:spTree>
      <p:nvGrpSpPr>
        <p:cNvPr id="1" name=""/>
        <p:cNvGrpSpPr/>
        <p:nvPr/>
      </p:nvGrpSpPr>
      <p:grpSpPr>
        <a:xfrm>
          <a:off x="0" y="0"/>
          <a:ext cx="0" cy="0"/>
          <a:chOff x="0" y="0"/>
          <a:chExt cx="0" cy="0"/>
        </a:xfrm>
      </p:grpSpPr>
      <p:sp>
        <p:nvSpPr>
          <p:cNvPr name="Freeform 2" id="2"/>
          <p:cNvSpPr/>
          <p:nvPr/>
        </p:nvSpPr>
        <p:spPr>
          <a:xfrm flipH="true" flipV="false" rot="0">
            <a:off x="6070405" y="1067383"/>
            <a:ext cx="9858706" cy="7618091"/>
          </a:xfrm>
          <a:custGeom>
            <a:avLst/>
            <a:gdLst/>
            <a:ahLst/>
            <a:cxnLst/>
            <a:rect r="r" b="b" t="t" l="l"/>
            <a:pathLst>
              <a:path h="7618091" w="9858706">
                <a:moveTo>
                  <a:pt x="9858706" y="0"/>
                </a:moveTo>
                <a:lnTo>
                  <a:pt x="0" y="0"/>
                </a:lnTo>
                <a:lnTo>
                  <a:pt x="0" y="7618091"/>
                </a:lnTo>
                <a:lnTo>
                  <a:pt x="9858706" y="7618091"/>
                </a:lnTo>
                <a:lnTo>
                  <a:pt x="985870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327864" y="1266328"/>
            <a:ext cx="9343789" cy="7220201"/>
          </a:xfrm>
          <a:custGeom>
            <a:avLst/>
            <a:gdLst/>
            <a:ahLst/>
            <a:cxnLst/>
            <a:rect r="r" b="b" t="t" l="l"/>
            <a:pathLst>
              <a:path h="7220201" w="9343789">
                <a:moveTo>
                  <a:pt x="0" y="0"/>
                </a:moveTo>
                <a:lnTo>
                  <a:pt x="9343789" y="0"/>
                </a:lnTo>
                <a:lnTo>
                  <a:pt x="9343789" y="7220201"/>
                </a:lnTo>
                <a:lnTo>
                  <a:pt x="0" y="72202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7441524" y="3017825"/>
            <a:ext cx="7116467" cy="3756511"/>
          </a:xfrm>
          <a:prstGeom prst="rect">
            <a:avLst/>
          </a:prstGeom>
        </p:spPr>
        <p:txBody>
          <a:bodyPr anchor="t" rtlCol="false" tIns="0" lIns="0" bIns="0" rIns="0">
            <a:spAutoFit/>
          </a:bodyPr>
          <a:lstStyle/>
          <a:p>
            <a:pPr algn="ctr">
              <a:lnSpc>
                <a:spcPts val="14400"/>
              </a:lnSpc>
            </a:pPr>
            <a:r>
              <a:rPr lang="en-US" sz="14400">
                <a:solidFill>
                  <a:srgbClr val="654C4C"/>
                </a:solidFill>
                <a:latin typeface="Marykate"/>
                <a:ea typeface="Marykate"/>
                <a:cs typeface="Marykate"/>
                <a:sym typeface="Marykate"/>
              </a:rPr>
              <a:t>Terima Kasih</a:t>
            </a:r>
          </a:p>
        </p:txBody>
      </p:sp>
      <p:sp>
        <p:nvSpPr>
          <p:cNvPr name="Freeform 5" id="5"/>
          <p:cNvSpPr/>
          <p:nvPr/>
        </p:nvSpPr>
        <p:spPr>
          <a:xfrm flipH="false" flipV="false" rot="0">
            <a:off x="8730376" y="2651292"/>
            <a:ext cx="4538765" cy="404363"/>
          </a:xfrm>
          <a:custGeom>
            <a:avLst/>
            <a:gdLst/>
            <a:ahLst/>
            <a:cxnLst/>
            <a:rect r="r" b="b" t="t" l="l"/>
            <a:pathLst>
              <a:path h="404363" w="4538765">
                <a:moveTo>
                  <a:pt x="0" y="0"/>
                </a:moveTo>
                <a:lnTo>
                  <a:pt x="4538764" y="0"/>
                </a:lnTo>
                <a:lnTo>
                  <a:pt x="4538764" y="404363"/>
                </a:lnTo>
                <a:lnTo>
                  <a:pt x="0" y="4043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true" rot="0">
            <a:off x="2897549" y="-2182838"/>
            <a:ext cx="3797537" cy="3825357"/>
          </a:xfrm>
          <a:custGeom>
            <a:avLst/>
            <a:gdLst/>
            <a:ahLst/>
            <a:cxnLst/>
            <a:rect r="r" b="b" t="t" l="l"/>
            <a:pathLst>
              <a:path h="3825357" w="3797537">
                <a:moveTo>
                  <a:pt x="0" y="3825357"/>
                </a:moveTo>
                <a:lnTo>
                  <a:pt x="3797537" y="3825357"/>
                </a:lnTo>
                <a:lnTo>
                  <a:pt x="3797537" y="0"/>
                </a:lnTo>
                <a:lnTo>
                  <a:pt x="0" y="0"/>
                </a:lnTo>
                <a:lnTo>
                  <a:pt x="0" y="3825357"/>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646096" y="-1156092"/>
            <a:ext cx="5597528" cy="6678178"/>
          </a:xfrm>
          <a:custGeom>
            <a:avLst/>
            <a:gdLst/>
            <a:ahLst/>
            <a:cxnLst/>
            <a:rect r="r" b="b" t="t" l="l"/>
            <a:pathLst>
              <a:path h="6678178" w="5597528">
                <a:moveTo>
                  <a:pt x="0" y="0"/>
                </a:moveTo>
                <a:lnTo>
                  <a:pt x="5597528" y="0"/>
                </a:lnTo>
                <a:lnTo>
                  <a:pt x="5597528" y="6678178"/>
                </a:lnTo>
                <a:lnTo>
                  <a:pt x="0" y="667817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499403" y="5313749"/>
            <a:ext cx="5450834" cy="5272443"/>
          </a:xfrm>
          <a:custGeom>
            <a:avLst/>
            <a:gdLst/>
            <a:ahLst/>
            <a:cxnLst/>
            <a:rect r="r" b="b" t="t" l="l"/>
            <a:pathLst>
              <a:path h="5272443" w="5450834">
                <a:moveTo>
                  <a:pt x="0" y="0"/>
                </a:moveTo>
                <a:lnTo>
                  <a:pt x="5450835" y="0"/>
                </a:lnTo>
                <a:lnTo>
                  <a:pt x="5450835" y="5272444"/>
                </a:lnTo>
                <a:lnTo>
                  <a:pt x="0" y="527244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13083252" y="7709605"/>
            <a:ext cx="6340634" cy="3862022"/>
          </a:xfrm>
          <a:custGeom>
            <a:avLst/>
            <a:gdLst/>
            <a:ahLst/>
            <a:cxnLst/>
            <a:rect r="r" b="b" t="t" l="l"/>
            <a:pathLst>
              <a:path h="3862022" w="6340634">
                <a:moveTo>
                  <a:pt x="0" y="0"/>
                </a:moveTo>
                <a:lnTo>
                  <a:pt x="6340634" y="0"/>
                </a:lnTo>
                <a:lnTo>
                  <a:pt x="6340634" y="3862022"/>
                </a:lnTo>
                <a:lnTo>
                  <a:pt x="0" y="386202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0" id="10"/>
          <p:cNvSpPr/>
          <p:nvPr/>
        </p:nvSpPr>
        <p:spPr>
          <a:xfrm flipH="false" flipV="false" rot="0">
            <a:off x="16756943" y="2959547"/>
            <a:ext cx="4336139" cy="4367906"/>
          </a:xfrm>
          <a:custGeom>
            <a:avLst/>
            <a:gdLst/>
            <a:ahLst/>
            <a:cxnLst/>
            <a:rect r="r" b="b" t="t" l="l"/>
            <a:pathLst>
              <a:path h="4367906" w="4336139">
                <a:moveTo>
                  <a:pt x="0" y="0"/>
                </a:moveTo>
                <a:lnTo>
                  <a:pt x="4336139" y="0"/>
                </a:lnTo>
                <a:lnTo>
                  <a:pt x="4336139" y="4367906"/>
                </a:lnTo>
                <a:lnTo>
                  <a:pt x="0" y="43679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4240054" y="7327453"/>
            <a:ext cx="1544601" cy="2716041"/>
          </a:xfrm>
          <a:custGeom>
            <a:avLst/>
            <a:gdLst/>
            <a:ahLst/>
            <a:cxnLst/>
            <a:rect r="r" b="b" t="t" l="l"/>
            <a:pathLst>
              <a:path h="2716041" w="1544601">
                <a:moveTo>
                  <a:pt x="0" y="0"/>
                </a:moveTo>
                <a:lnTo>
                  <a:pt x="1544601" y="0"/>
                </a:lnTo>
                <a:lnTo>
                  <a:pt x="1544601" y="2716041"/>
                </a:lnTo>
                <a:lnTo>
                  <a:pt x="0" y="271604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false" flipV="true" rot="0">
            <a:off x="15936187" y="-1042868"/>
            <a:ext cx="3487699" cy="3379897"/>
          </a:xfrm>
          <a:custGeom>
            <a:avLst/>
            <a:gdLst/>
            <a:ahLst/>
            <a:cxnLst/>
            <a:rect r="r" b="b" t="t" l="l"/>
            <a:pathLst>
              <a:path h="3379897" w="3487699">
                <a:moveTo>
                  <a:pt x="0" y="3379897"/>
                </a:moveTo>
                <a:lnTo>
                  <a:pt x="3487699" y="3379897"/>
                </a:lnTo>
                <a:lnTo>
                  <a:pt x="3487699" y="0"/>
                </a:lnTo>
                <a:lnTo>
                  <a:pt x="0" y="0"/>
                </a:lnTo>
                <a:lnTo>
                  <a:pt x="0" y="3379897"/>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3" id="13"/>
          <p:cNvSpPr txBox="true"/>
          <p:nvPr/>
        </p:nvSpPr>
        <p:spPr>
          <a:xfrm rot="0">
            <a:off x="7819301" y="1820675"/>
            <a:ext cx="6360914" cy="821092"/>
          </a:xfrm>
          <a:prstGeom prst="rect">
            <a:avLst/>
          </a:prstGeom>
        </p:spPr>
        <p:txBody>
          <a:bodyPr anchor="t" rtlCol="false" tIns="0" lIns="0" bIns="0" rIns="0">
            <a:spAutoFit/>
          </a:bodyPr>
          <a:lstStyle/>
          <a:p>
            <a:pPr algn="ctr">
              <a:lnSpc>
                <a:spcPts val="6719"/>
              </a:lnSpc>
            </a:pPr>
            <a:r>
              <a:rPr lang="en-US" sz="4800">
                <a:solidFill>
                  <a:srgbClr val="654C4C"/>
                </a:solidFill>
                <a:latin typeface="Handy Casual"/>
                <a:ea typeface="Handy Casual"/>
                <a:cs typeface="Handy Casual"/>
                <a:sym typeface="Handy Casual"/>
              </a:rPr>
              <a:t>Disusun oleh: Ketut Susilo</a:t>
            </a:r>
          </a:p>
        </p:txBody>
      </p:sp>
      <p:sp>
        <p:nvSpPr>
          <p:cNvPr name="TextBox 14" id="14"/>
          <p:cNvSpPr txBox="true"/>
          <p:nvPr/>
        </p:nvSpPr>
        <p:spPr>
          <a:xfrm rot="0">
            <a:off x="7819301" y="6990985"/>
            <a:ext cx="6360914" cy="537882"/>
          </a:xfrm>
          <a:prstGeom prst="rect">
            <a:avLst/>
          </a:prstGeom>
        </p:spPr>
        <p:txBody>
          <a:bodyPr anchor="t" rtlCol="false" tIns="0" lIns="0" bIns="0" rIns="0">
            <a:spAutoFit/>
          </a:bodyPr>
          <a:lstStyle/>
          <a:p>
            <a:pPr algn="ctr">
              <a:lnSpc>
                <a:spcPts val="4480"/>
              </a:lnSpc>
            </a:pPr>
            <a:r>
              <a:rPr lang="en-US" sz="3200">
                <a:solidFill>
                  <a:srgbClr val="654C4C"/>
                </a:solidFill>
                <a:latin typeface="Handy Casual"/>
                <a:ea typeface="Handy Casual"/>
                <a:cs typeface="Handy Casual"/>
                <a:sym typeface="Handy Casual"/>
              </a:rPr>
              <a:t>Sampai bertemu di pembelajaran berikutnya.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DAGugnY1OKM</dc:identifier>
  <dcterms:modified xsi:type="dcterms:W3CDTF">2011-08-01T06:04:30Z</dcterms:modified>
  <cp:revision>1</cp:revision>
  <dc:title>Menjelajah Sel Presentasi Pendidikan Warna-Warni Gambar Tangan dan Abstrak</dc:title>
</cp:coreProperties>
</file>