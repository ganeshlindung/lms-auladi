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DM Sans" panose="020B0604020202020204" charset="0"/>
      <p:regular r:id="rId12"/>
    </p:embeddedFont>
    <p:embeddedFont>
      <p:font typeface="Chewy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4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5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16.pn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2.svg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24" Type="http://schemas.openxmlformats.org/officeDocument/2006/relationships/image" Target="../media/image12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5.png"/><Relationship Id="rId19" Type="http://schemas.openxmlformats.org/officeDocument/2006/relationships/image" Target="../media/image18.sv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3500171" y="1334784"/>
            <a:ext cx="11859303" cy="2581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07"/>
              </a:lnSpc>
            </a:pPr>
            <a:r>
              <a:rPr lang="en-US" sz="14862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CHAPTER 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15824" y="4124722"/>
            <a:ext cx="13256353" cy="2392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332"/>
              </a:lnSpc>
            </a:pPr>
            <a:r>
              <a:rPr lang="en-US" sz="13808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C’MON, GUYS!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708084" y="1668593"/>
            <a:ext cx="9358974" cy="7558170"/>
            <a:chOff x="0" y="0"/>
            <a:chExt cx="1006457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6457" cy="812800"/>
            </a:xfrm>
            <a:custGeom>
              <a:avLst/>
              <a:gdLst/>
              <a:ahLst/>
              <a:cxnLst/>
              <a:rect l="l" t="t" r="r" b="b"/>
              <a:pathLst>
                <a:path w="1006457" h="812800">
                  <a:moveTo>
                    <a:pt x="82722" y="0"/>
                  </a:moveTo>
                  <a:lnTo>
                    <a:pt x="923735" y="0"/>
                  </a:lnTo>
                  <a:cubicBezTo>
                    <a:pt x="969421" y="0"/>
                    <a:pt x="1006457" y="37036"/>
                    <a:pt x="1006457" y="82722"/>
                  </a:cubicBezTo>
                  <a:lnTo>
                    <a:pt x="1006457" y="730078"/>
                  </a:lnTo>
                  <a:cubicBezTo>
                    <a:pt x="1006457" y="752017"/>
                    <a:pt x="997742" y="773058"/>
                    <a:pt x="982228" y="788571"/>
                  </a:cubicBezTo>
                  <a:cubicBezTo>
                    <a:pt x="966715" y="804085"/>
                    <a:pt x="945674" y="812800"/>
                    <a:pt x="923735" y="812800"/>
                  </a:cubicBezTo>
                  <a:lnTo>
                    <a:pt x="82722" y="812800"/>
                  </a:lnTo>
                  <a:cubicBezTo>
                    <a:pt x="37036" y="812800"/>
                    <a:pt x="0" y="775764"/>
                    <a:pt x="0" y="730078"/>
                  </a:cubicBezTo>
                  <a:lnTo>
                    <a:pt x="0" y="82722"/>
                  </a:lnTo>
                  <a:cubicBezTo>
                    <a:pt x="0" y="37036"/>
                    <a:pt x="37036" y="0"/>
                    <a:pt x="82722" y="0"/>
                  </a:cubicBezTo>
                  <a:close/>
                </a:path>
              </a:pathLst>
            </a:custGeom>
            <a:blipFill>
              <a:blip r:embed="rId28"/>
              <a:stretch>
                <a:fillRect l="-9272" r="-9272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915687" y="2182323"/>
            <a:ext cx="7490177" cy="4954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871"/>
              </a:lnSpc>
            </a:pPr>
            <a:r>
              <a:rPr lang="en-US" sz="7051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In what situations do people make request and ask for permission?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34216" y="2749876"/>
            <a:ext cx="14397058" cy="3410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604"/>
              </a:lnSpc>
            </a:pPr>
            <a:r>
              <a:rPr lang="en-US" sz="9717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MAKING REQUEST AND ASKING FOR PERMISSION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673448" y="1814523"/>
            <a:ext cx="7492821" cy="749282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03324" y="0"/>
                  </a:moveTo>
                  <a:lnTo>
                    <a:pt x="709475" y="0"/>
                  </a:lnTo>
                  <a:cubicBezTo>
                    <a:pt x="766540" y="0"/>
                    <a:pt x="812800" y="46260"/>
                    <a:pt x="812800" y="103324"/>
                  </a:cubicBezTo>
                  <a:lnTo>
                    <a:pt x="812800" y="709475"/>
                  </a:lnTo>
                  <a:cubicBezTo>
                    <a:pt x="812800" y="766540"/>
                    <a:pt x="766540" y="812800"/>
                    <a:pt x="709475" y="812800"/>
                  </a:cubicBezTo>
                  <a:lnTo>
                    <a:pt x="103324" y="812800"/>
                  </a:lnTo>
                  <a:cubicBezTo>
                    <a:pt x="46260" y="812800"/>
                    <a:pt x="0" y="766540"/>
                    <a:pt x="0" y="709475"/>
                  </a:cubicBezTo>
                  <a:lnTo>
                    <a:pt x="0" y="103324"/>
                  </a:lnTo>
                  <a:cubicBezTo>
                    <a:pt x="0" y="46260"/>
                    <a:pt x="46260" y="0"/>
                    <a:pt x="103324" y="0"/>
                  </a:cubicBezTo>
                  <a:close/>
                </a:path>
              </a:pathLst>
            </a:custGeom>
            <a:blipFill>
              <a:blip r:embed="rId28"/>
              <a:stretch>
                <a:fillRect l="-24906" r="-24906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8505821" y="3131965"/>
            <a:ext cx="9373384" cy="4724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39"/>
              </a:lnSpc>
            </a:pPr>
            <a:r>
              <a:rPr lang="en-US" sz="6742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What specific language do you use when you make request or  ask for permission?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659945" y="1549481"/>
            <a:ext cx="13907663" cy="7708819"/>
          </a:xfrm>
          <a:custGeom>
            <a:avLst/>
            <a:gdLst/>
            <a:ahLst/>
            <a:cxnLst/>
            <a:rect l="l" t="t" r="r" b="b"/>
            <a:pathLst>
              <a:path w="13907663" h="7708819">
                <a:moveTo>
                  <a:pt x="0" y="0"/>
                </a:moveTo>
                <a:lnTo>
                  <a:pt x="13907663" y="0"/>
                </a:lnTo>
                <a:lnTo>
                  <a:pt x="13907663" y="7708819"/>
                </a:lnTo>
                <a:lnTo>
                  <a:pt x="0" y="77088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A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98828">
            <a:off x="-1947298" y="7537983"/>
            <a:ext cx="4782489" cy="4175521"/>
          </a:xfrm>
          <a:custGeom>
            <a:avLst/>
            <a:gdLst/>
            <a:ahLst/>
            <a:cxnLst/>
            <a:rect l="l" t="t" r="r" b="b"/>
            <a:pathLst>
              <a:path w="4782489" h="4175521">
                <a:moveTo>
                  <a:pt x="0" y="0"/>
                </a:moveTo>
                <a:lnTo>
                  <a:pt x="4782489" y="0"/>
                </a:lnTo>
                <a:lnTo>
                  <a:pt x="4782489" y="4175521"/>
                </a:lnTo>
                <a:lnTo>
                  <a:pt x="0" y="417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1609696">
            <a:off x="-1674379" y="-1674379"/>
            <a:ext cx="5406158" cy="5406158"/>
          </a:xfrm>
          <a:custGeom>
            <a:avLst/>
            <a:gdLst/>
            <a:ahLst/>
            <a:cxnLst/>
            <a:rect l="l" t="t" r="r" b="b"/>
            <a:pathLst>
              <a:path w="5406158" h="5406158">
                <a:moveTo>
                  <a:pt x="0" y="0"/>
                </a:moveTo>
                <a:lnTo>
                  <a:pt x="5406158" y="0"/>
                </a:lnTo>
                <a:lnTo>
                  <a:pt x="5406158" y="5406158"/>
                </a:lnTo>
                <a:lnTo>
                  <a:pt x="0" y="54061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847506">
            <a:off x="14754389" y="6286837"/>
            <a:ext cx="6249632" cy="7157001"/>
          </a:xfrm>
          <a:custGeom>
            <a:avLst/>
            <a:gdLst/>
            <a:ahLst/>
            <a:cxnLst/>
            <a:rect l="l" t="t" r="r" b="b"/>
            <a:pathLst>
              <a:path w="6249632" h="7157001">
                <a:moveTo>
                  <a:pt x="0" y="0"/>
                </a:moveTo>
                <a:lnTo>
                  <a:pt x="6249632" y="0"/>
                </a:lnTo>
                <a:lnTo>
                  <a:pt x="6249632" y="7157001"/>
                </a:lnTo>
                <a:lnTo>
                  <a:pt x="0" y="7157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3515182">
            <a:off x="15727961" y="8996119"/>
            <a:ext cx="3062679" cy="2581762"/>
          </a:xfrm>
          <a:custGeom>
            <a:avLst/>
            <a:gdLst/>
            <a:ahLst/>
            <a:cxnLst/>
            <a:rect l="l" t="t" r="r" b="b"/>
            <a:pathLst>
              <a:path w="3062679" h="2581762">
                <a:moveTo>
                  <a:pt x="0" y="0"/>
                </a:moveTo>
                <a:lnTo>
                  <a:pt x="3062678" y="0"/>
                </a:lnTo>
                <a:lnTo>
                  <a:pt x="3062678" y="2581762"/>
                </a:lnTo>
                <a:lnTo>
                  <a:pt x="0" y="258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3141733">
            <a:off x="13708720" y="-4464758"/>
            <a:ext cx="7086196" cy="8115023"/>
          </a:xfrm>
          <a:custGeom>
            <a:avLst/>
            <a:gdLst/>
            <a:ahLst/>
            <a:cxnLst/>
            <a:rect l="l" t="t" r="r" b="b"/>
            <a:pathLst>
              <a:path w="7086196" h="8115023">
                <a:moveTo>
                  <a:pt x="0" y="0"/>
                </a:moveTo>
                <a:lnTo>
                  <a:pt x="7086196" y="0"/>
                </a:lnTo>
                <a:lnTo>
                  <a:pt x="7086196" y="8115023"/>
                </a:lnTo>
                <a:lnTo>
                  <a:pt x="0" y="811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452149">
            <a:off x="15073455" y="-1975675"/>
            <a:ext cx="4051343" cy="4613289"/>
          </a:xfrm>
          <a:custGeom>
            <a:avLst/>
            <a:gdLst/>
            <a:ahLst/>
            <a:cxnLst/>
            <a:rect l="l" t="t" r="r" b="b"/>
            <a:pathLst>
              <a:path w="4051343" h="4613289">
                <a:moveTo>
                  <a:pt x="0" y="0"/>
                </a:moveTo>
                <a:lnTo>
                  <a:pt x="4051343" y="0"/>
                </a:lnTo>
                <a:lnTo>
                  <a:pt x="4051343" y="4613289"/>
                </a:lnTo>
                <a:lnTo>
                  <a:pt x="0" y="46132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22249" y="8307290"/>
            <a:ext cx="5901899" cy="5143500"/>
          </a:xfrm>
          <a:custGeom>
            <a:avLst/>
            <a:gdLst/>
            <a:ahLst/>
            <a:cxnLst/>
            <a:rect l="l" t="t" r="r" b="b"/>
            <a:pathLst>
              <a:path w="5901899" h="5143500">
                <a:moveTo>
                  <a:pt x="0" y="0"/>
                </a:moveTo>
                <a:lnTo>
                  <a:pt x="5901898" y="0"/>
                </a:lnTo>
                <a:lnTo>
                  <a:pt x="5901898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xmlns="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542292" y="5447679"/>
            <a:ext cx="2733548" cy="2503838"/>
          </a:xfrm>
          <a:custGeom>
            <a:avLst/>
            <a:gdLst/>
            <a:ahLst/>
            <a:cxnLst/>
            <a:rect l="l" t="t" r="r" b="b"/>
            <a:pathLst>
              <a:path w="2733548" h="2503838">
                <a:moveTo>
                  <a:pt x="0" y="0"/>
                </a:moveTo>
                <a:lnTo>
                  <a:pt x="2733548" y="0"/>
                </a:lnTo>
                <a:lnTo>
                  <a:pt x="2733548" y="2503838"/>
                </a:lnTo>
                <a:lnTo>
                  <a:pt x="0" y="250383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xmlns="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374776" y="9028750"/>
            <a:ext cx="4572000" cy="4114800"/>
          </a:xfrm>
          <a:custGeom>
            <a:avLst/>
            <a:gdLst/>
            <a:ahLst/>
            <a:cxnLst/>
            <a:rect l="l" t="t" r="r" b="b"/>
            <a:pathLst>
              <a:path w="4572000" h="4114800">
                <a:moveTo>
                  <a:pt x="0" y="0"/>
                </a:moveTo>
                <a:lnTo>
                  <a:pt x="4572000" y="0"/>
                </a:lnTo>
                <a:lnTo>
                  <a:pt x="45720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xmlns="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1818680">
            <a:off x="17320334" y="4133278"/>
            <a:ext cx="1935332" cy="2628801"/>
          </a:xfrm>
          <a:custGeom>
            <a:avLst/>
            <a:gdLst/>
            <a:ahLst/>
            <a:cxnLst/>
            <a:rect l="l" t="t" r="r" b="b"/>
            <a:pathLst>
              <a:path w="1935332" h="2628801">
                <a:moveTo>
                  <a:pt x="0" y="0"/>
                </a:moveTo>
                <a:lnTo>
                  <a:pt x="1935332" y="0"/>
                </a:lnTo>
                <a:lnTo>
                  <a:pt x="1935332" y="2628801"/>
                </a:lnTo>
                <a:lnTo>
                  <a:pt x="0" y="262880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xmlns="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922491" y="-2959697"/>
            <a:ext cx="4294383" cy="4114800"/>
          </a:xfrm>
          <a:custGeom>
            <a:avLst/>
            <a:gdLst/>
            <a:ahLst/>
            <a:cxnLst/>
            <a:rect l="l" t="t" r="r" b="b"/>
            <a:pathLst>
              <a:path w="4294383" h="4114800">
                <a:moveTo>
                  <a:pt x="0" y="0"/>
                </a:moveTo>
                <a:lnTo>
                  <a:pt x="4294384" y="0"/>
                </a:lnTo>
                <a:lnTo>
                  <a:pt x="42943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xmlns="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8844704">
            <a:off x="-650104" y="-2363480"/>
            <a:ext cx="3357608" cy="3912467"/>
          </a:xfrm>
          <a:custGeom>
            <a:avLst/>
            <a:gdLst/>
            <a:ahLst/>
            <a:cxnLst/>
            <a:rect l="l" t="t" r="r" b="b"/>
            <a:pathLst>
              <a:path w="3357608" h="3912467">
                <a:moveTo>
                  <a:pt x="0" y="0"/>
                </a:moveTo>
                <a:lnTo>
                  <a:pt x="3357608" y="0"/>
                </a:lnTo>
                <a:lnTo>
                  <a:pt x="3357608" y="3912467"/>
                </a:lnTo>
                <a:lnTo>
                  <a:pt x="0" y="391246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xmlns="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535988" y="9028750"/>
            <a:ext cx="4656667" cy="4114800"/>
          </a:xfrm>
          <a:custGeom>
            <a:avLst/>
            <a:gdLst/>
            <a:ahLst/>
            <a:cxnLst/>
            <a:rect l="l" t="t" r="r" b="b"/>
            <a:pathLst>
              <a:path w="4656667" h="4114800">
                <a:moveTo>
                  <a:pt x="0" y="0"/>
                </a:moveTo>
                <a:lnTo>
                  <a:pt x="4656667" y="0"/>
                </a:lnTo>
                <a:lnTo>
                  <a:pt x="46566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xmlns="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2316904">
            <a:off x="7708348" y="-2464647"/>
            <a:ext cx="4778736" cy="4114800"/>
          </a:xfrm>
          <a:custGeom>
            <a:avLst/>
            <a:gdLst/>
            <a:ahLst/>
            <a:cxnLst/>
            <a:rect l="l" t="t" r="r" b="b"/>
            <a:pathLst>
              <a:path w="4778736" h="4114800">
                <a:moveTo>
                  <a:pt x="0" y="0"/>
                </a:moveTo>
                <a:lnTo>
                  <a:pt x="4778737" y="0"/>
                </a:lnTo>
                <a:lnTo>
                  <a:pt x="4778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xmlns="" r:embed="rId27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36130" y="2752877"/>
            <a:ext cx="6599410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Yes, please do.</a:t>
            </a:r>
            <a:endParaRPr lang="en-US" sz="4587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Sure, go ahead.</a:t>
            </a:r>
            <a:endParaRPr lang="en-US" sz="4587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Sure</a:t>
            </a:r>
            <a:endParaRPr lang="en-US" sz="4587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No problem</a:t>
            </a:r>
          </a:p>
          <a:p>
            <a:pPr marL="990405" lvl="1" indent="-495203" algn="l">
              <a:lnSpc>
                <a:spcPts val="6422"/>
              </a:lnSpc>
              <a:buFont typeface="Arial"/>
              <a:buChar char="•"/>
            </a:pPr>
            <a:r>
              <a:rPr lang="en-US" sz="4587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Please feel free</a:t>
            </a:r>
            <a:endParaRPr lang="en-US" sz="4587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6422"/>
              </a:lnSpc>
            </a:pPr>
            <a:endParaRPr lang="en-US" sz="4587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431977" y="1649551"/>
            <a:ext cx="7673242" cy="1088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23"/>
              </a:lnSpc>
            </a:pPr>
            <a:r>
              <a:rPr lang="en-US" sz="4800" u="sng" dirty="0" smtClean="0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REFUSING TO GIVE PERMISSION</a:t>
            </a:r>
            <a:endParaRPr lang="en-US" sz="4800" u="sng" dirty="0">
              <a:solidFill>
                <a:srgbClr val="46513D"/>
              </a:solidFill>
              <a:latin typeface="Chewy"/>
              <a:ea typeface="Chewy"/>
              <a:cs typeface="Chewy"/>
              <a:sym typeface="Chewy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87940" y="2752877"/>
            <a:ext cx="8115191" cy="442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No, please don’t </a:t>
            </a:r>
            <a:endParaRPr lang="en-US" sz="4916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I’m sorry, but that’s not possible</a:t>
            </a:r>
            <a:endParaRPr lang="en-US" sz="4916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061449" lvl="1" indent="-530725" algn="l">
              <a:lnSpc>
                <a:spcPts val="6882"/>
              </a:lnSpc>
              <a:buFont typeface="Arial"/>
              <a:buChar char="•"/>
            </a:pPr>
            <a:r>
              <a:rPr lang="en-US" sz="4916" dirty="0" smtClean="0">
                <a:solidFill>
                  <a:srgbClr val="46513D"/>
                </a:solidFill>
                <a:latin typeface="DM Sans"/>
                <a:ea typeface="DM Sans"/>
                <a:cs typeface="DM Sans"/>
                <a:sym typeface="DM Sans"/>
              </a:rPr>
              <a:t>I’m afraid, but you can’t</a:t>
            </a:r>
            <a:endParaRPr lang="en-US" sz="4916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algn="l">
              <a:lnSpc>
                <a:spcPts val="6882"/>
              </a:lnSpc>
            </a:pPr>
            <a:endParaRPr lang="en-US" sz="4916" dirty="0">
              <a:solidFill>
                <a:srgbClr val="46513D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388530" y="1730678"/>
            <a:ext cx="6129174" cy="1088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23"/>
              </a:lnSpc>
            </a:pPr>
            <a:r>
              <a:rPr lang="en-US" sz="4800" u="sng" dirty="0" smtClean="0">
                <a:solidFill>
                  <a:srgbClr val="46513D"/>
                </a:solidFill>
                <a:latin typeface="Chewy"/>
                <a:ea typeface="Chewy"/>
                <a:cs typeface="Chewy"/>
                <a:sym typeface="Chewy"/>
              </a:rPr>
              <a:t>GIVING PERMISSION</a:t>
            </a:r>
            <a:endParaRPr lang="en-US" sz="4800" u="sng" dirty="0">
              <a:solidFill>
                <a:srgbClr val="46513D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78</Words>
  <Application>Microsoft Office PowerPoint</Application>
  <PresentationFormat>Custom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DM Sans</vt:lpstr>
      <vt:lpstr>Chewy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Krem Hijau Abstrak Ilustrasi Presentasi Tugas Kelompok</dc:title>
  <dc:creator>User</dc:creator>
  <cp:lastModifiedBy>User</cp:lastModifiedBy>
  <cp:revision>6</cp:revision>
  <dcterms:created xsi:type="dcterms:W3CDTF">2006-08-16T00:00:00Z</dcterms:created>
  <dcterms:modified xsi:type="dcterms:W3CDTF">2025-10-10T03:57:02Z</dcterms:modified>
  <dc:identifier>DAG1WlyHnDM</dc:identifier>
</cp:coreProperties>
</file>