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</p:sldIdLst>
  <p:sldSz cx="18288000" cy="10287000"/>
  <p:notesSz cx="6858000" cy="9144000"/>
  <p:embeddedFontLst>
    <p:embeddedFont>
      <p:font typeface="One Little Font Bold" charset="1" panose="00000800000000000000"/>
      <p:regular r:id="rId41"/>
    </p:embeddedFont>
    <p:embeddedFont>
      <p:font typeface="Antio" charset="1" panose="00000500000000000000"/>
      <p:regular r:id="rId42"/>
    </p:embeddedFont>
    <p:embeddedFont>
      <p:font typeface="Gidole" charset="1" panose="02000503000000000000"/>
      <p:regular r:id="rId43"/>
    </p:embeddedFont>
    <p:embeddedFont>
      <p:font typeface="One Little Font" charset="1" panose="00000500000000000000"/>
      <p:regular r:id="rId4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fonts/font41.fntdata" Type="http://schemas.openxmlformats.org/officeDocument/2006/relationships/font"/><Relationship Id="rId42" Target="fonts/font42.fntdata" Type="http://schemas.openxmlformats.org/officeDocument/2006/relationships/font"/><Relationship Id="rId43" Target="fonts/font43.fntdata" Type="http://schemas.openxmlformats.org/officeDocument/2006/relationships/font"/><Relationship Id="rId44" Target="fonts/font44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27B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1130" y="486490"/>
            <a:ext cx="17265740" cy="9314020"/>
            <a:chOff x="0" y="0"/>
            <a:chExt cx="4547355" cy="24530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47355" cy="2453075"/>
            </a:xfrm>
            <a:custGeom>
              <a:avLst/>
              <a:gdLst/>
              <a:ahLst/>
              <a:cxnLst/>
              <a:rect r="r" b="b" t="t" l="l"/>
              <a:pathLst>
                <a:path h="2453075" w="4547355">
                  <a:moveTo>
                    <a:pt x="22868" y="0"/>
                  </a:moveTo>
                  <a:lnTo>
                    <a:pt x="4524487" y="0"/>
                  </a:lnTo>
                  <a:cubicBezTo>
                    <a:pt x="4530552" y="0"/>
                    <a:pt x="4536369" y="2409"/>
                    <a:pt x="4540657" y="6698"/>
                  </a:cubicBezTo>
                  <a:cubicBezTo>
                    <a:pt x="4544946" y="10987"/>
                    <a:pt x="4547355" y="16803"/>
                    <a:pt x="4547355" y="22868"/>
                  </a:cubicBezTo>
                  <a:lnTo>
                    <a:pt x="4547355" y="2430207"/>
                  </a:lnTo>
                  <a:cubicBezTo>
                    <a:pt x="4547355" y="2436272"/>
                    <a:pt x="4544946" y="2442089"/>
                    <a:pt x="4540657" y="2446377"/>
                  </a:cubicBezTo>
                  <a:cubicBezTo>
                    <a:pt x="4536369" y="2450666"/>
                    <a:pt x="4530552" y="2453075"/>
                    <a:pt x="4524487" y="2453075"/>
                  </a:cubicBezTo>
                  <a:lnTo>
                    <a:pt x="22868" y="2453075"/>
                  </a:lnTo>
                  <a:cubicBezTo>
                    <a:pt x="16803" y="2453075"/>
                    <a:pt x="10987" y="2450666"/>
                    <a:pt x="6698" y="2446377"/>
                  </a:cubicBezTo>
                  <a:cubicBezTo>
                    <a:pt x="2409" y="2442089"/>
                    <a:pt x="0" y="2436272"/>
                    <a:pt x="0" y="2430207"/>
                  </a:cubicBezTo>
                  <a:lnTo>
                    <a:pt x="0" y="22868"/>
                  </a:lnTo>
                  <a:cubicBezTo>
                    <a:pt x="0" y="16803"/>
                    <a:pt x="2409" y="10987"/>
                    <a:pt x="6698" y="6698"/>
                  </a:cubicBezTo>
                  <a:cubicBezTo>
                    <a:pt x="10987" y="2409"/>
                    <a:pt x="16803" y="0"/>
                    <a:pt x="22868" y="0"/>
                  </a:cubicBezTo>
                  <a:close/>
                </a:path>
              </a:pathLst>
            </a:custGeom>
            <a:solidFill>
              <a:srgbClr val="4B444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47355" cy="2491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4748493">
            <a:off x="13683602" y="9127163"/>
            <a:ext cx="561536" cy="1002636"/>
          </a:xfrm>
          <a:custGeom>
            <a:avLst/>
            <a:gdLst/>
            <a:ahLst/>
            <a:cxnLst/>
            <a:rect r="r" b="b" t="t" l="l"/>
            <a:pathLst>
              <a:path h="1002636" w="561536">
                <a:moveTo>
                  <a:pt x="0" y="0"/>
                </a:moveTo>
                <a:lnTo>
                  <a:pt x="561537" y="0"/>
                </a:lnTo>
                <a:lnTo>
                  <a:pt x="561537" y="1002636"/>
                </a:lnTo>
                <a:lnTo>
                  <a:pt x="0" y="10026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487053">
            <a:off x="14387513" y="8074963"/>
            <a:ext cx="3496605" cy="2366673"/>
          </a:xfrm>
          <a:custGeom>
            <a:avLst/>
            <a:gdLst/>
            <a:ahLst/>
            <a:cxnLst/>
            <a:rect r="r" b="b" t="t" l="l"/>
            <a:pathLst>
              <a:path h="2366673" w="3496605">
                <a:moveTo>
                  <a:pt x="0" y="0"/>
                </a:moveTo>
                <a:lnTo>
                  <a:pt x="3496605" y="0"/>
                </a:lnTo>
                <a:lnTo>
                  <a:pt x="3496605" y="2366674"/>
                </a:lnTo>
                <a:lnTo>
                  <a:pt x="0" y="23666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36051" y="7463340"/>
            <a:ext cx="1839532" cy="3132329"/>
          </a:xfrm>
          <a:custGeom>
            <a:avLst/>
            <a:gdLst/>
            <a:ahLst/>
            <a:cxnLst/>
            <a:rect r="r" b="b" t="t" l="l"/>
            <a:pathLst>
              <a:path h="3132329" w="1839532">
                <a:moveTo>
                  <a:pt x="0" y="0"/>
                </a:moveTo>
                <a:lnTo>
                  <a:pt x="1839532" y="0"/>
                </a:lnTo>
                <a:lnTo>
                  <a:pt x="1839532" y="3132329"/>
                </a:lnTo>
                <a:lnTo>
                  <a:pt x="0" y="31323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355817" y="3380242"/>
            <a:ext cx="13576365" cy="1825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991"/>
              </a:lnSpc>
            </a:pPr>
            <a:r>
              <a:rPr lang="en-US" b="true" sz="10708">
                <a:solidFill>
                  <a:srgbClr val="FFA3C1"/>
                </a:solidFill>
                <a:latin typeface="One Little Font Bold"/>
                <a:ea typeface="One Little Font Bold"/>
                <a:cs typeface="One Little Font Bold"/>
                <a:sym typeface="One Little Font Bold"/>
              </a:rPr>
              <a:t>RELASI  &amp;  FUNGSI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60111" y="1557980"/>
            <a:ext cx="2940336" cy="1235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1"/>
              </a:lnSpc>
            </a:pPr>
            <a:r>
              <a:rPr lang="en-US" sz="3501" spc="731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mATEMATIKA Kelas VIII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673832" y="5571699"/>
            <a:ext cx="2940336" cy="616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1"/>
              </a:lnSpc>
            </a:pPr>
            <a:r>
              <a:rPr lang="en-US" sz="3501" spc="731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Bagian 2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27B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1130" y="486490"/>
            <a:ext cx="17265740" cy="9314020"/>
            <a:chOff x="0" y="0"/>
            <a:chExt cx="4547355" cy="24530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47355" cy="2453075"/>
            </a:xfrm>
            <a:custGeom>
              <a:avLst/>
              <a:gdLst/>
              <a:ahLst/>
              <a:cxnLst/>
              <a:rect r="r" b="b" t="t" l="l"/>
              <a:pathLst>
                <a:path h="2453075" w="4547355">
                  <a:moveTo>
                    <a:pt x="22868" y="0"/>
                  </a:moveTo>
                  <a:lnTo>
                    <a:pt x="4524487" y="0"/>
                  </a:lnTo>
                  <a:cubicBezTo>
                    <a:pt x="4530552" y="0"/>
                    <a:pt x="4536369" y="2409"/>
                    <a:pt x="4540657" y="6698"/>
                  </a:cubicBezTo>
                  <a:cubicBezTo>
                    <a:pt x="4544946" y="10987"/>
                    <a:pt x="4547355" y="16803"/>
                    <a:pt x="4547355" y="22868"/>
                  </a:cubicBezTo>
                  <a:lnTo>
                    <a:pt x="4547355" y="2430207"/>
                  </a:lnTo>
                  <a:cubicBezTo>
                    <a:pt x="4547355" y="2436272"/>
                    <a:pt x="4544946" y="2442089"/>
                    <a:pt x="4540657" y="2446377"/>
                  </a:cubicBezTo>
                  <a:cubicBezTo>
                    <a:pt x="4536369" y="2450666"/>
                    <a:pt x="4530552" y="2453075"/>
                    <a:pt x="4524487" y="2453075"/>
                  </a:cubicBezTo>
                  <a:lnTo>
                    <a:pt x="22868" y="2453075"/>
                  </a:lnTo>
                  <a:cubicBezTo>
                    <a:pt x="16803" y="2453075"/>
                    <a:pt x="10987" y="2450666"/>
                    <a:pt x="6698" y="2446377"/>
                  </a:cubicBezTo>
                  <a:cubicBezTo>
                    <a:pt x="2409" y="2442089"/>
                    <a:pt x="0" y="2436272"/>
                    <a:pt x="0" y="2430207"/>
                  </a:cubicBezTo>
                  <a:lnTo>
                    <a:pt x="0" y="22868"/>
                  </a:lnTo>
                  <a:cubicBezTo>
                    <a:pt x="0" y="16803"/>
                    <a:pt x="2409" y="10987"/>
                    <a:pt x="6698" y="6698"/>
                  </a:cubicBezTo>
                  <a:cubicBezTo>
                    <a:pt x="10987" y="2409"/>
                    <a:pt x="16803" y="0"/>
                    <a:pt x="22868" y="0"/>
                  </a:cubicBezTo>
                  <a:close/>
                </a:path>
              </a:pathLst>
            </a:custGeom>
            <a:solidFill>
              <a:srgbClr val="4B444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47355" cy="2491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4748493">
            <a:off x="13490128" y="9480494"/>
            <a:ext cx="561536" cy="1002636"/>
          </a:xfrm>
          <a:custGeom>
            <a:avLst/>
            <a:gdLst/>
            <a:ahLst/>
            <a:cxnLst/>
            <a:rect r="r" b="b" t="t" l="l"/>
            <a:pathLst>
              <a:path h="1002636" w="561536">
                <a:moveTo>
                  <a:pt x="0" y="0"/>
                </a:moveTo>
                <a:lnTo>
                  <a:pt x="561536" y="0"/>
                </a:lnTo>
                <a:lnTo>
                  <a:pt x="561536" y="1002636"/>
                </a:lnTo>
                <a:lnTo>
                  <a:pt x="0" y="10026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355817" y="885825"/>
            <a:ext cx="13576365" cy="1236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b="true" sz="7200">
                <a:solidFill>
                  <a:srgbClr val="FFA3C1"/>
                </a:solidFill>
                <a:latin typeface="One Little Font Bold"/>
                <a:ea typeface="One Little Font Bold"/>
                <a:cs typeface="One Little Font Bold"/>
                <a:sym typeface="One Little Font Bold"/>
              </a:rPr>
              <a:t>Tujuan Pembelajaran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2781244" y="1697623"/>
            <a:ext cx="1534886" cy="849094"/>
            <a:chOff x="0" y="0"/>
            <a:chExt cx="2046515" cy="1132126"/>
          </a:xfrm>
        </p:grpSpPr>
        <p:sp>
          <p:nvSpPr>
            <p:cNvPr name="Freeform 8" id="8"/>
            <p:cNvSpPr/>
            <p:nvPr/>
          </p:nvSpPr>
          <p:spPr>
            <a:xfrm flipH="false" flipV="false" rot="-1311898">
              <a:off x="-5176" y="331932"/>
              <a:ext cx="1846075" cy="328789"/>
            </a:xfrm>
            <a:custGeom>
              <a:avLst/>
              <a:gdLst/>
              <a:ahLst/>
              <a:cxnLst/>
              <a:rect r="r" b="b" t="t" l="l"/>
              <a:pathLst>
                <a:path h="328789" w="1846075">
                  <a:moveTo>
                    <a:pt x="0" y="0"/>
                  </a:moveTo>
                  <a:lnTo>
                    <a:pt x="1846076" y="0"/>
                  </a:lnTo>
                  <a:lnTo>
                    <a:pt x="1846076" y="328789"/>
                  </a:lnTo>
                  <a:lnTo>
                    <a:pt x="0" y="3287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-1311898">
              <a:off x="447277" y="558140"/>
              <a:ext cx="1603734" cy="285628"/>
            </a:xfrm>
            <a:custGeom>
              <a:avLst/>
              <a:gdLst/>
              <a:ahLst/>
              <a:cxnLst/>
              <a:rect r="r" b="b" t="t" l="l"/>
              <a:pathLst>
                <a:path h="285628" w="1603734">
                  <a:moveTo>
                    <a:pt x="0" y="0"/>
                  </a:moveTo>
                  <a:lnTo>
                    <a:pt x="1603734" y="0"/>
                  </a:lnTo>
                  <a:lnTo>
                    <a:pt x="1603734" y="285628"/>
                  </a:lnTo>
                  <a:lnTo>
                    <a:pt x="0" y="2856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811001" y="9513286"/>
            <a:ext cx="2658043" cy="838707"/>
            <a:chOff x="0" y="0"/>
            <a:chExt cx="3544058" cy="1118275"/>
          </a:xfrm>
        </p:grpSpPr>
        <p:grpSp>
          <p:nvGrpSpPr>
            <p:cNvPr name="Group 11" id="11"/>
            <p:cNvGrpSpPr/>
            <p:nvPr/>
          </p:nvGrpSpPr>
          <p:grpSpPr>
            <a:xfrm rot="117060">
              <a:off x="27116" y="59305"/>
              <a:ext cx="3500940" cy="999666"/>
              <a:chOff x="0" y="0"/>
              <a:chExt cx="1753351" cy="500655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753351" cy="500655"/>
              </a:xfrm>
              <a:custGeom>
                <a:avLst/>
                <a:gdLst/>
                <a:ahLst/>
                <a:cxnLst/>
                <a:rect r="r" b="b" t="t" l="l"/>
                <a:pathLst>
                  <a:path h="500655" w="1753351">
                    <a:moveTo>
                      <a:pt x="0" y="0"/>
                    </a:moveTo>
                    <a:lnTo>
                      <a:pt x="1753351" y="0"/>
                    </a:lnTo>
                    <a:lnTo>
                      <a:pt x="1753351" y="500655"/>
                    </a:lnTo>
                    <a:lnTo>
                      <a:pt x="0" y="500655"/>
                    </a:lnTo>
                    <a:close/>
                  </a:path>
                </a:pathLst>
              </a:custGeom>
              <a:solidFill>
                <a:srgbClr val="868383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1753351" cy="538755"/>
              </a:xfrm>
              <a:prstGeom prst="rect">
                <a:avLst/>
              </a:prstGeom>
            </p:spPr>
            <p:txBody>
              <a:bodyPr anchor="ctr" rtlCol="false" tIns="30924" lIns="30924" bIns="30924" rIns="30924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14" id="14"/>
            <p:cNvSpPr/>
            <p:nvPr/>
          </p:nvSpPr>
          <p:spPr>
            <a:xfrm flipH="false" flipV="false" rot="0">
              <a:off x="0" y="19781"/>
              <a:ext cx="3518253" cy="1062256"/>
            </a:xfrm>
            <a:custGeom>
              <a:avLst/>
              <a:gdLst/>
              <a:ahLst/>
              <a:cxnLst/>
              <a:rect r="r" b="b" t="t" l="l"/>
              <a:pathLst>
                <a:path h="1062256" w="3518253">
                  <a:moveTo>
                    <a:pt x="0" y="0"/>
                  </a:moveTo>
                  <a:lnTo>
                    <a:pt x="3518253" y="0"/>
                  </a:lnTo>
                  <a:lnTo>
                    <a:pt x="3518253" y="1062256"/>
                  </a:lnTo>
                  <a:lnTo>
                    <a:pt x="0" y="10622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2915735" y="3369310"/>
            <a:ext cx="13855758" cy="615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Menjelaskan nilai fungsi dan grafik fungsi pada koordinat Cartesius.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43493" y="3242945"/>
            <a:ext cx="823030" cy="840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4800" spc="1003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1.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915735" y="4331970"/>
            <a:ext cx="13665135" cy="615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Menyajikan hasil penyelesaian masalah yang terkait relasi dan fungsi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43493" y="4303395"/>
            <a:ext cx="823030" cy="840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4800" spc="1003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2.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43493" y="6667993"/>
            <a:ext cx="15001014" cy="1235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Kata kunci : relasi, fungsi, himpunan, domain, kodomain, range, grafik, formula, nilai fungsi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27B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1130" y="486490"/>
            <a:ext cx="17265740" cy="9314020"/>
            <a:chOff x="0" y="0"/>
            <a:chExt cx="4547355" cy="24530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47355" cy="2453075"/>
            </a:xfrm>
            <a:custGeom>
              <a:avLst/>
              <a:gdLst/>
              <a:ahLst/>
              <a:cxnLst/>
              <a:rect r="r" b="b" t="t" l="l"/>
              <a:pathLst>
                <a:path h="2453075" w="4547355">
                  <a:moveTo>
                    <a:pt x="22868" y="0"/>
                  </a:moveTo>
                  <a:lnTo>
                    <a:pt x="4524487" y="0"/>
                  </a:lnTo>
                  <a:cubicBezTo>
                    <a:pt x="4530552" y="0"/>
                    <a:pt x="4536369" y="2409"/>
                    <a:pt x="4540657" y="6698"/>
                  </a:cubicBezTo>
                  <a:cubicBezTo>
                    <a:pt x="4544946" y="10987"/>
                    <a:pt x="4547355" y="16803"/>
                    <a:pt x="4547355" y="22868"/>
                  </a:cubicBezTo>
                  <a:lnTo>
                    <a:pt x="4547355" y="2430207"/>
                  </a:lnTo>
                  <a:cubicBezTo>
                    <a:pt x="4547355" y="2436272"/>
                    <a:pt x="4544946" y="2442089"/>
                    <a:pt x="4540657" y="2446377"/>
                  </a:cubicBezTo>
                  <a:cubicBezTo>
                    <a:pt x="4536369" y="2450666"/>
                    <a:pt x="4530552" y="2453075"/>
                    <a:pt x="4524487" y="2453075"/>
                  </a:cubicBezTo>
                  <a:lnTo>
                    <a:pt x="22868" y="2453075"/>
                  </a:lnTo>
                  <a:cubicBezTo>
                    <a:pt x="16803" y="2453075"/>
                    <a:pt x="10987" y="2450666"/>
                    <a:pt x="6698" y="2446377"/>
                  </a:cubicBezTo>
                  <a:cubicBezTo>
                    <a:pt x="2409" y="2442089"/>
                    <a:pt x="0" y="2436272"/>
                    <a:pt x="0" y="2430207"/>
                  </a:cubicBezTo>
                  <a:lnTo>
                    <a:pt x="0" y="22868"/>
                  </a:lnTo>
                  <a:cubicBezTo>
                    <a:pt x="0" y="16803"/>
                    <a:pt x="2409" y="10987"/>
                    <a:pt x="6698" y="6698"/>
                  </a:cubicBezTo>
                  <a:cubicBezTo>
                    <a:pt x="10987" y="2409"/>
                    <a:pt x="16803" y="0"/>
                    <a:pt x="22868" y="0"/>
                  </a:cubicBezTo>
                  <a:close/>
                </a:path>
              </a:pathLst>
            </a:custGeom>
            <a:solidFill>
              <a:srgbClr val="4B444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47355" cy="2491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4748493">
            <a:off x="13490128" y="9480494"/>
            <a:ext cx="561536" cy="1002636"/>
          </a:xfrm>
          <a:custGeom>
            <a:avLst/>
            <a:gdLst/>
            <a:ahLst/>
            <a:cxnLst/>
            <a:rect r="r" b="b" t="t" l="l"/>
            <a:pathLst>
              <a:path h="1002636" w="561536">
                <a:moveTo>
                  <a:pt x="0" y="0"/>
                </a:moveTo>
                <a:lnTo>
                  <a:pt x="561536" y="0"/>
                </a:lnTo>
                <a:lnTo>
                  <a:pt x="561536" y="1002636"/>
                </a:lnTo>
                <a:lnTo>
                  <a:pt x="0" y="10026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3811001" y="9513286"/>
            <a:ext cx="2658043" cy="838707"/>
            <a:chOff x="0" y="0"/>
            <a:chExt cx="3544058" cy="1118275"/>
          </a:xfrm>
        </p:grpSpPr>
        <p:grpSp>
          <p:nvGrpSpPr>
            <p:cNvPr name="Group 7" id="7"/>
            <p:cNvGrpSpPr/>
            <p:nvPr/>
          </p:nvGrpSpPr>
          <p:grpSpPr>
            <a:xfrm rot="117060">
              <a:off x="27116" y="59305"/>
              <a:ext cx="3500940" cy="999666"/>
              <a:chOff x="0" y="0"/>
              <a:chExt cx="1753351" cy="500655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753351" cy="500655"/>
              </a:xfrm>
              <a:custGeom>
                <a:avLst/>
                <a:gdLst/>
                <a:ahLst/>
                <a:cxnLst/>
                <a:rect r="r" b="b" t="t" l="l"/>
                <a:pathLst>
                  <a:path h="500655" w="1753351">
                    <a:moveTo>
                      <a:pt x="0" y="0"/>
                    </a:moveTo>
                    <a:lnTo>
                      <a:pt x="1753351" y="0"/>
                    </a:lnTo>
                    <a:lnTo>
                      <a:pt x="1753351" y="500655"/>
                    </a:lnTo>
                    <a:lnTo>
                      <a:pt x="0" y="500655"/>
                    </a:lnTo>
                    <a:close/>
                  </a:path>
                </a:pathLst>
              </a:custGeom>
              <a:solidFill>
                <a:srgbClr val="868383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1753351" cy="538755"/>
              </a:xfrm>
              <a:prstGeom prst="rect">
                <a:avLst/>
              </a:prstGeom>
            </p:spPr>
            <p:txBody>
              <a:bodyPr anchor="ctr" rtlCol="false" tIns="30924" lIns="30924" bIns="30924" rIns="30924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10" id="10"/>
            <p:cNvSpPr/>
            <p:nvPr/>
          </p:nvSpPr>
          <p:spPr>
            <a:xfrm flipH="false" flipV="false" rot="0">
              <a:off x="0" y="19781"/>
              <a:ext cx="3518253" cy="1062256"/>
            </a:xfrm>
            <a:custGeom>
              <a:avLst/>
              <a:gdLst/>
              <a:ahLst/>
              <a:cxnLst/>
              <a:rect r="r" b="b" t="t" l="l"/>
              <a:pathLst>
                <a:path h="1062256" w="3518253">
                  <a:moveTo>
                    <a:pt x="0" y="0"/>
                  </a:moveTo>
                  <a:lnTo>
                    <a:pt x="3518253" y="0"/>
                  </a:lnTo>
                  <a:lnTo>
                    <a:pt x="3518253" y="1062256"/>
                  </a:lnTo>
                  <a:lnTo>
                    <a:pt x="0" y="10622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8256531" y="6781202"/>
            <a:ext cx="1774937" cy="1265486"/>
          </a:xfrm>
          <a:custGeom>
            <a:avLst/>
            <a:gdLst/>
            <a:ahLst/>
            <a:cxnLst/>
            <a:rect r="r" b="b" t="t" l="l"/>
            <a:pathLst>
              <a:path h="1265486" w="1774937">
                <a:moveTo>
                  <a:pt x="0" y="0"/>
                </a:moveTo>
                <a:lnTo>
                  <a:pt x="1774938" y="0"/>
                </a:lnTo>
                <a:lnTo>
                  <a:pt x="1774938" y="1265486"/>
                </a:lnTo>
                <a:lnTo>
                  <a:pt x="0" y="12654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355817" y="3642994"/>
            <a:ext cx="13576365" cy="1500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19"/>
              </a:lnSpc>
            </a:pPr>
            <a:r>
              <a:rPr lang="en-US" b="true" sz="8799">
                <a:solidFill>
                  <a:srgbClr val="FFA3C1"/>
                </a:solidFill>
                <a:latin typeface="One Little Font Bold"/>
                <a:ea typeface="One Little Font Bold"/>
                <a:cs typeface="One Little Font Bold"/>
                <a:sym typeface="One Little Font Bold"/>
              </a:rPr>
              <a:t>Ayo Kita Mulai!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673832" y="6165071"/>
            <a:ext cx="2940336" cy="615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1"/>
              </a:lnSpc>
            </a:pPr>
            <a:r>
              <a:rPr lang="en-US" sz="3501" spc="731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START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27B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1130" y="486490"/>
            <a:ext cx="17265740" cy="9314020"/>
            <a:chOff x="0" y="0"/>
            <a:chExt cx="4547355" cy="24530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47355" cy="2453075"/>
            </a:xfrm>
            <a:custGeom>
              <a:avLst/>
              <a:gdLst/>
              <a:ahLst/>
              <a:cxnLst/>
              <a:rect r="r" b="b" t="t" l="l"/>
              <a:pathLst>
                <a:path h="2453075" w="4547355">
                  <a:moveTo>
                    <a:pt x="22868" y="0"/>
                  </a:moveTo>
                  <a:lnTo>
                    <a:pt x="4524487" y="0"/>
                  </a:lnTo>
                  <a:cubicBezTo>
                    <a:pt x="4530552" y="0"/>
                    <a:pt x="4536369" y="2409"/>
                    <a:pt x="4540657" y="6698"/>
                  </a:cubicBezTo>
                  <a:cubicBezTo>
                    <a:pt x="4544946" y="10987"/>
                    <a:pt x="4547355" y="16803"/>
                    <a:pt x="4547355" y="22868"/>
                  </a:cubicBezTo>
                  <a:lnTo>
                    <a:pt x="4547355" y="2430207"/>
                  </a:lnTo>
                  <a:cubicBezTo>
                    <a:pt x="4547355" y="2436272"/>
                    <a:pt x="4544946" y="2442089"/>
                    <a:pt x="4540657" y="2446377"/>
                  </a:cubicBezTo>
                  <a:cubicBezTo>
                    <a:pt x="4536369" y="2450666"/>
                    <a:pt x="4530552" y="2453075"/>
                    <a:pt x="4524487" y="2453075"/>
                  </a:cubicBezTo>
                  <a:lnTo>
                    <a:pt x="22868" y="2453075"/>
                  </a:lnTo>
                  <a:cubicBezTo>
                    <a:pt x="16803" y="2453075"/>
                    <a:pt x="10987" y="2450666"/>
                    <a:pt x="6698" y="2446377"/>
                  </a:cubicBezTo>
                  <a:cubicBezTo>
                    <a:pt x="2409" y="2442089"/>
                    <a:pt x="0" y="2436272"/>
                    <a:pt x="0" y="2430207"/>
                  </a:cubicBezTo>
                  <a:lnTo>
                    <a:pt x="0" y="22868"/>
                  </a:lnTo>
                  <a:cubicBezTo>
                    <a:pt x="0" y="16803"/>
                    <a:pt x="2409" y="10987"/>
                    <a:pt x="6698" y="6698"/>
                  </a:cubicBezTo>
                  <a:cubicBezTo>
                    <a:pt x="10987" y="2409"/>
                    <a:pt x="16803" y="0"/>
                    <a:pt x="22868" y="0"/>
                  </a:cubicBezTo>
                  <a:close/>
                </a:path>
              </a:pathLst>
            </a:custGeom>
            <a:solidFill>
              <a:srgbClr val="4B444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47355" cy="2491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4748493">
            <a:off x="13490128" y="9480494"/>
            <a:ext cx="561536" cy="1002636"/>
          </a:xfrm>
          <a:custGeom>
            <a:avLst/>
            <a:gdLst/>
            <a:ahLst/>
            <a:cxnLst/>
            <a:rect r="r" b="b" t="t" l="l"/>
            <a:pathLst>
              <a:path h="1002636" w="561536">
                <a:moveTo>
                  <a:pt x="0" y="0"/>
                </a:moveTo>
                <a:lnTo>
                  <a:pt x="561536" y="0"/>
                </a:lnTo>
                <a:lnTo>
                  <a:pt x="561536" y="1002636"/>
                </a:lnTo>
                <a:lnTo>
                  <a:pt x="0" y="10026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209995" y="2711040"/>
            <a:ext cx="15868011" cy="1758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55"/>
              </a:lnSpc>
            </a:pPr>
            <a:r>
              <a:rPr lang="en-US" sz="4500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Pada pelajaran sebelumnya, kita telah mempelajari apa itu fungsi. Mari kita ingat kembali!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355817" y="885825"/>
            <a:ext cx="13576365" cy="1236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b="true" sz="7200">
                <a:solidFill>
                  <a:srgbClr val="FFA3C1"/>
                </a:solidFill>
                <a:latin typeface="One Little Font Bold"/>
                <a:ea typeface="One Little Font Bold"/>
                <a:cs typeface="One Little Font Bold"/>
                <a:sym typeface="One Little Font Bold"/>
              </a:rPr>
              <a:t>Definisi Fungsi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3811001" y="9513286"/>
            <a:ext cx="2658043" cy="838707"/>
            <a:chOff x="0" y="0"/>
            <a:chExt cx="3544058" cy="1118275"/>
          </a:xfrm>
        </p:grpSpPr>
        <p:grpSp>
          <p:nvGrpSpPr>
            <p:cNvPr name="Group 9" id="9"/>
            <p:cNvGrpSpPr/>
            <p:nvPr/>
          </p:nvGrpSpPr>
          <p:grpSpPr>
            <a:xfrm rot="117060">
              <a:off x="27116" y="59305"/>
              <a:ext cx="3500940" cy="999666"/>
              <a:chOff x="0" y="0"/>
              <a:chExt cx="1753351" cy="500655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753351" cy="500655"/>
              </a:xfrm>
              <a:custGeom>
                <a:avLst/>
                <a:gdLst/>
                <a:ahLst/>
                <a:cxnLst/>
                <a:rect r="r" b="b" t="t" l="l"/>
                <a:pathLst>
                  <a:path h="500655" w="1753351">
                    <a:moveTo>
                      <a:pt x="0" y="0"/>
                    </a:moveTo>
                    <a:lnTo>
                      <a:pt x="1753351" y="0"/>
                    </a:lnTo>
                    <a:lnTo>
                      <a:pt x="1753351" y="500655"/>
                    </a:lnTo>
                    <a:lnTo>
                      <a:pt x="0" y="500655"/>
                    </a:lnTo>
                    <a:close/>
                  </a:path>
                </a:pathLst>
              </a:custGeom>
              <a:solidFill>
                <a:srgbClr val="868383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1753351" cy="538755"/>
              </a:xfrm>
              <a:prstGeom prst="rect">
                <a:avLst/>
              </a:prstGeom>
            </p:spPr>
            <p:txBody>
              <a:bodyPr anchor="ctr" rtlCol="false" tIns="30924" lIns="30924" bIns="30924" rIns="30924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0">
              <a:off x="0" y="19781"/>
              <a:ext cx="3518253" cy="1062256"/>
            </a:xfrm>
            <a:custGeom>
              <a:avLst/>
              <a:gdLst/>
              <a:ahLst/>
              <a:cxnLst/>
              <a:rect r="r" b="b" t="t" l="l"/>
              <a:pathLst>
                <a:path h="1062256" w="3518253">
                  <a:moveTo>
                    <a:pt x="0" y="0"/>
                  </a:moveTo>
                  <a:lnTo>
                    <a:pt x="3518253" y="0"/>
                  </a:lnTo>
                  <a:lnTo>
                    <a:pt x="3518253" y="1062256"/>
                  </a:lnTo>
                  <a:lnTo>
                    <a:pt x="0" y="10622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209995" y="5426426"/>
            <a:ext cx="15868011" cy="1748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55"/>
              </a:lnSpc>
            </a:pPr>
            <a:r>
              <a:rPr lang="en-US" sz="4500">
                <a:solidFill>
                  <a:srgbClr val="FFA3C1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Fungsi adalah sebuah relasi khusus, di mana anggota domain-nya dipasangkan dengan tepat satu pasangan ke anggota kodomain.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27B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1130" y="486490"/>
            <a:ext cx="17265740" cy="9314020"/>
            <a:chOff x="0" y="0"/>
            <a:chExt cx="4547355" cy="24530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47355" cy="2453075"/>
            </a:xfrm>
            <a:custGeom>
              <a:avLst/>
              <a:gdLst/>
              <a:ahLst/>
              <a:cxnLst/>
              <a:rect r="r" b="b" t="t" l="l"/>
              <a:pathLst>
                <a:path h="2453075" w="4547355">
                  <a:moveTo>
                    <a:pt x="22868" y="0"/>
                  </a:moveTo>
                  <a:lnTo>
                    <a:pt x="4524487" y="0"/>
                  </a:lnTo>
                  <a:cubicBezTo>
                    <a:pt x="4530552" y="0"/>
                    <a:pt x="4536369" y="2409"/>
                    <a:pt x="4540657" y="6698"/>
                  </a:cubicBezTo>
                  <a:cubicBezTo>
                    <a:pt x="4544946" y="10987"/>
                    <a:pt x="4547355" y="16803"/>
                    <a:pt x="4547355" y="22868"/>
                  </a:cubicBezTo>
                  <a:lnTo>
                    <a:pt x="4547355" y="2430207"/>
                  </a:lnTo>
                  <a:cubicBezTo>
                    <a:pt x="4547355" y="2436272"/>
                    <a:pt x="4544946" y="2442089"/>
                    <a:pt x="4540657" y="2446377"/>
                  </a:cubicBezTo>
                  <a:cubicBezTo>
                    <a:pt x="4536369" y="2450666"/>
                    <a:pt x="4530552" y="2453075"/>
                    <a:pt x="4524487" y="2453075"/>
                  </a:cubicBezTo>
                  <a:lnTo>
                    <a:pt x="22868" y="2453075"/>
                  </a:lnTo>
                  <a:cubicBezTo>
                    <a:pt x="16803" y="2453075"/>
                    <a:pt x="10987" y="2450666"/>
                    <a:pt x="6698" y="2446377"/>
                  </a:cubicBezTo>
                  <a:cubicBezTo>
                    <a:pt x="2409" y="2442089"/>
                    <a:pt x="0" y="2436272"/>
                    <a:pt x="0" y="2430207"/>
                  </a:cubicBezTo>
                  <a:lnTo>
                    <a:pt x="0" y="22868"/>
                  </a:lnTo>
                  <a:cubicBezTo>
                    <a:pt x="0" y="16803"/>
                    <a:pt x="2409" y="10987"/>
                    <a:pt x="6698" y="6698"/>
                  </a:cubicBezTo>
                  <a:cubicBezTo>
                    <a:pt x="10987" y="2409"/>
                    <a:pt x="16803" y="0"/>
                    <a:pt x="22868" y="0"/>
                  </a:cubicBezTo>
                  <a:close/>
                </a:path>
              </a:pathLst>
            </a:custGeom>
            <a:solidFill>
              <a:srgbClr val="4B444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47355" cy="2491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4748493">
            <a:off x="13490128" y="9480494"/>
            <a:ext cx="561536" cy="1002636"/>
          </a:xfrm>
          <a:custGeom>
            <a:avLst/>
            <a:gdLst/>
            <a:ahLst/>
            <a:cxnLst/>
            <a:rect r="r" b="b" t="t" l="l"/>
            <a:pathLst>
              <a:path h="1002636" w="561536">
                <a:moveTo>
                  <a:pt x="0" y="0"/>
                </a:moveTo>
                <a:lnTo>
                  <a:pt x="561536" y="0"/>
                </a:lnTo>
                <a:lnTo>
                  <a:pt x="561536" y="1002636"/>
                </a:lnTo>
                <a:lnTo>
                  <a:pt x="0" y="10026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209995" y="2711040"/>
            <a:ext cx="15868011" cy="853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55"/>
              </a:lnSpc>
            </a:pPr>
            <a:r>
              <a:rPr lang="en-US" sz="4500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Jadi ada 2 karakteristik fungsi 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355817" y="885825"/>
            <a:ext cx="13576365" cy="1236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b="true" sz="7200">
                <a:solidFill>
                  <a:srgbClr val="FFA3C1"/>
                </a:solidFill>
                <a:latin typeface="One Little Font Bold"/>
                <a:ea typeface="One Little Font Bold"/>
                <a:cs typeface="One Little Font Bold"/>
                <a:sym typeface="One Little Font Bold"/>
              </a:rPr>
              <a:t>Karakteristik Fungsi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3811001" y="9513286"/>
            <a:ext cx="2658043" cy="838707"/>
            <a:chOff x="0" y="0"/>
            <a:chExt cx="3544058" cy="1118275"/>
          </a:xfrm>
        </p:grpSpPr>
        <p:grpSp>
          <p:nvGrpSpPr>
            <p:cNvPr name="Group 9" id="9"/>
            <p:cNvGrpSpPr/>
            <p:nvPr/>
          </p:nvGrpSpPr>
          <p:grpSpPr>
            <a:xfrm rot="117060">
              <a:off x="27116" y="59305"/>
              <a:ext cx="3500940" cy="999666"/>
              <a:chOff x="0" y="0"/>
              <a:chExt cx="1753351" cy="500655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753351" cy="500655"/>
              </a:xfrm>
              <a:custGeom>
                <a:avLst/>
                <a:gdLst/>
                <a:ahLst/>
                <a:cxnLst/>
                <a:rect r="r" b="b" t="t" l="l"/>
                <a:pathLst>
                  <a:path h="500655" w="1753351">
                    <a:moveTo>
                      <a:pt x="0" y="0"/>
                    </a:moveTo>
                    <a:lnTo>
                      <a:pt x="1753351" y="0"/>
                    </a:lnTo>
                    <a:lnTo>
                      <a:pt x="1753351" y="500655"/>
                    </a:lnTo>
                    <a:lnTo>
                      <a:pt x="0" y="500655"/>
                    </a:lnTo>
                    <a:close/>
                  </a:path>
                </a:pathLst>
              </a:custGeom>
              <a:solidFill>
                <a:srgbClr val="868383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1753351" cy="538755"/>
              </a:xfrm>
              <a:prstGeom prst="rect">
                <a:avLst/>
              </a:prstGeom>
            </p:spPr>
            <p:txBody>
              <a:bodyPr anchor="ctr" rtlCol="false" tIns="30924" lIns="30924" bIns="30924" rIns="30924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0">
              <a:off x="0" y="19781"/>
              <a:ext cx="3518253" cy="1062256"/>
            </a:xfrm>
            <a:custGeom>
              <a:avLst/>
              <a:gdLst/>
              <a:ahLst/>
              <a:cxnLst/>
              <a:rect r="r" b="b" t="t" l="l"/>
              <a:pathLst>
                <a:path h="1062256" w="3518253">
                  <a:moveTo>
                    <a:pt x="0" y="0"/>
                  </a:moveTo>
                  <a:lnTo>
                    <a:pt x="3518253" y="0"/>
                  </a:lnTo>
                  <a:lnTo>
                    <a:pt x="3518253" y="1062256"/>
                  </a:lnTo>
                  <a:lnTo>
                    <a:pt x="0" y="10622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209995" y="4739681"/>
            <a:ext cx="15868011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55"/>
              </a:lnSpc>
            </a:pPr>
            <a:r>
              <a:rPr lang="en-US" sz="4500">
                <a:solidFill>
                  <a:srgbClr val="FFA3C1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1. Semua anggota domain memiliki pasangan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09995" y="5889935"/>
            <a:ext cx="15868011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55"/>
              </a:lnSpc>
            </a:pPr>
            <a:r>
              <a:rPr lang="en-US" sz="4500">
                <a:solidFill>
                  <a:srgbClr val="FFA3C1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2. Pasangan anggota domain tidak boleh lebih dari satu.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27B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1130" y="486490"/>
            <a:ext cx="17265740" cy="9314020"/>
            <a:chOff x="0" y="0"/>
            <a:chExt cx="4547355" cy="24530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47355" cy="2453075"/>
            </a:xfrm>
            <a:custGeom>
              <a:avLst/>
              <a:gdLst/>
              <a:ahLst/>
              <a:cxnLst/>
              <a:rect r="r" b="b" t="t" l="l"/>
              <a:pathLst>
                <a:path h="2453075" w="4547355">
                  <a:moveTo>
                    <a:pt x="22868" y="0"/>
                  </a:moveTo>
                  <a:lnTo>
                    <a:pt x="4524487" y="0"/>
                  </a:lnTo>
                  <a:cubicBezTo>
                    <a:pt x="4530552" y="0"/>
                    <a:pt x="4536369" y="2409"/>
                    <a:pt x="4540657" y="6698"/>
                  </a:cubicBezTo>
                  <a:cubicBezTo>
                    <a:pt x="4544946" y="10987"/>
                    <a:pt x="4547355" y="16803"/>
                    <a:pt x="4547355" y="22868"/>
                  </a:cubicBezTo>
                  <a:lnTo>
                    <a:pt x="4547355" y="2430207"/>
                  </a:lnTo>
                  <a:cubicBezTo>
                    <a:pt x="4547355" y="2436272"/>
                    <a:pt x="4544946" y="2442089"/>
                    <a:pt x="4540657" y="2446377"/>
                  </a:cubicBezTo>
                  <a:cubicBezTo>
                    <a:pt x="4536369" y="2450666"/>
                    <a:pt x="4530552" y="2453075"/>
                    <a:pt x="4524487" y="2453075"/>
                  </a:cubicBezTo>
                  <a:lnTo>
                    <a:pt x="22868" y="2453075"/>
                  </a:lnTo>
                  <a:cubicBezTo>
                    <a:pt x="16803" y="2453075"/>
                    <a:pt x="10987" y="2450666"/>
                    <a:pt x="6698" y="2446377"/>
                  </a:cubicBezTo>
                  <a:cubicBezTo>
                    <a:pt x="2409" y="2442089"/>
                    <a:pt x="0" y="2436272"/>
                    <a:pt x="0" y="2430207"/>
                  </a:cubicBezTo>
                  <a:lnTo>
                    <a:pt x="0" y="22868"/>
                  </a:lnTo>
                  <a:cubicBezTo>
                    <a:pt x="0" y="16803"/>
                    <a:pt x="2409" y="10987"/>
                    <a:pt x="6698" y="6698"/>
                  </a:cubicBezTo>
                  <a:cubicBezTo>
                    <a:pt x="10987" y="2409"/>
                    <a:pt x="16803" y="0"/>
                    <a:pt x="22868" y="0"/>
                  </a:cubicBezTo>
                  <a:close/>
                </a:path>
              </a:pathLst>
            </a:custGeom>
            <a:solidFill>
              <a:srgbClr val="4B444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47355" cy="2491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4748493">
            <a:off x="13490128" y="9480494"/>
            <a:ext cx="561536" cy="1002636"/>
          </a:xfrm>
          <a:custGeom>
            <a:avLst/>
            <a:gdLst/>
            <a:ahLst/>
            <a:cxnLst/>
            <a:rect r="r" b="b" t="t" l="l"/>
            <a:pathLst>
              <a:path h="1002636" w="561536">
                <a:moveTo>
                  <a:pt x="0" y="0"/>
                </a:moveTo>
                <a:lnTo>
                  <a:pt x="561536" y="0"/>
                </a:lnTo>
                <a:lnTo>
                  <a:pt x="561536" y="1002636"/>
                </a:lnTo>
                <a:lnTo>
                  <a:pt x="0" y="10026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209995" y="2711040"/>
            <a:ext cx="15868011" cy="1758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55"/>
              </a:lnSpc>
            </a:pPr>
            <a:r>
              <a:rPr lang="en-US" sz="4500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Kardinalitas fungsi, atau banyaknya jumlah fungsi yang mungkin di susun dari 2 himpunan yaitu 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355817" y="885825"/>
            <a:ext cx="13576365" cy="1236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b="true" sz="7200">
                <a:solidFill>
                  <a:srgbClr val="FFA3C1"/>
                </a:solidFill>
                <a:latin typeface="One Little Font Bold"/>
                <a:ea typeface="One Little Font Bold"/>
                <a:cs typeface="One Little Font Bold"/>
                <a:sym typeface="One Little Font Bold"/>
              </a:rPr>
              <a:t>Kardinalitas Fungsi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3811001" y="9513286"/>
            <a:ext cx="2658043" cy="838707"/>
            <a:chOff x="0" y="0"/>
            <a:chExt cx="3544058" cy="1118275"/>
          </a:xfrm>
        </p:grpSpPr>
        <p:grpSp>
          <p:nvGrpSpPr>
            <p:cNvPr name="Group 9" id="9"/>
            <p:cNvGrpSpPr/>
            <p:nvPr/>
          </p:nvGrpSpPr>
          <p:grpSpPr>
            <a:xfrm rot="117060">
              <a:off x="27116" y="59305"/>
              <a:ext cx="3500940" cy="999666"/>
              <a:chOff x="0" y="0"/>
              <a:chExt cx="1753351" cy="500655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753351" cy="500655"/>
              </a:xfrm>
              <a:custGeom>
                <a:avLst/>
                <a:gdLst/>
                <a:ahLst/>
                <a:cxnLst/>
                <a:rect r="r" b="b" t="t" l="l"/>
                <a:pathLst>
                  <a:path h="500655" w="1753351">
                    <a:moveTo>
                      <a:pt x="0" y="0"/>
                    </a:moveTo>
                    <a:lnTo>
                      <a:pt x="1753351" y="0"/>
                    </a:lnTo>
                    <a:lnTo>
                      <a:pt x="1753351" y="500655"/>
                    </a:lnTo>
                    <a:lnTo>
                      <a:pt x="0" y="500655"/>
                    </a:lnTo>
                    <a:close/>
                  </a:path>
                </a:pathLst>
              </a:custGeom>
              <a:solidFill>
                <a:srgbClr val="868383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1753351" cy="538755"/>
              </a:xfrm>
              <a:prstGeom prst="rect">
                <a:avLst/>
              </a:prstGeom>
            </p:spPr>
            <p:txBody>
              <a:bodyPr anchor="ctr" rtlCol="false" tIns="30924" lIns="30924" bIns="30924" rIns="30924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0">
              <a:off x="0" y="19781"/>
              <a:ext cx="3518253" cy="1062256"/>
            </a:xfrm>
            <a:custGeom>
              <a:avLst/>
              <a:gdLst/>
              <a:ahLst/>
              <a:cxnLst/>
              <a:rect r="r" b="b" t="t" l="l"/>
              <a:pathLst>
                <a:path h="1062256" w="3518253">
                  <a:moveTo>
                    <a:pt x="0" y="0"/>
                  </a:moveTo>
                  <a:lnTo>
                    <a:pt x="3518253" y="0"/>
                  </a:lnTo>
                  <a:lnTo>
                    <a:pt x="3518253" y="1062256"/>
                  </a:lnTo>
                  <a:lnTo>
                    <a:pt x="0" y="10622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209995" y="5351352"/>
            <a:ext cx="15868011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55"/>
              </a:lnSpc>
            </a:pPr>
            <a:r>
              <a:rPr lang="en-US" sz="4500">
                <a:solidFill>
                  <a:srgbClr val="FFA3C1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Banyaknya fungsi dari himpunan A ke himpunan B adalah :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756244" y="6554374"/>
            <a:ext cx="4775512" cy="2168594"/>
            <a:chOff x="0" y="0"/>
            <a:chExt cx="1257748" cy="57115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57748" cy="571152"/>
            </a:xfrm>
            <a:custGeom>
              <a:avLst/>
              <a:gdLst/>
              <a:ahLst/>
              <a:cxnLst/>
              <a:rect r="r" b="b" t="t" l="l"/>
              <a:pathLst>
                <a:path h="571152" w="1257748">
                  <a:moveTo>
                    <a:pt x="82680" y="0"/>
                  </a:moveTo>
                  <a:lnTo>
                    <a:pt x="1175068" y="0"/>
                  </a:lnTo>
                  <a:cubicBezTo>
                    <a:pt x="1220731" y="0"/>
                    <a:pt x="1257748" y="37017"/>
                    <a:pt x="1257748" y="82680"/>
                  </a:cubicBezTo>
                  <a:lnTo>
                    <a:pt x="1257748" y="488473"/>
                  </a:lnTo>
                  <a:cubicBezTo>
                    <a:pt x="1257748" y="510401"/>
                    <a:pt x="1249037" y="531431"/>
                    <a:pt x="1233532" y="546936"/>
                  </a:cubicBezTo>
                  <a:cubicBezTo>
                    <a:pt x="1218026" y="562441"/>
                    <a:pt x="1196996" y="571152"/>
                    <a:pt x="1175068" y="571152"/>
                  </a:cubicBezTo>
                  <a:lnTo>
                    <a:pt x="82680" y="571152"/>
                  </a:lnTo>
                  <a:cubicBezTo>
                    <a:pt x="37017" y="571152"/>
                    <a:pt x="0" y="534135"/>
                    <a:pt x="0" y="488473"/>
                  </a:cubicBezTo>
                  <a:lnTo>
                    <a:pt x="0" y="82680"/>
                  </a:lnTo>
                  <a:cubicBezTo>
                    <a:pt x="0" y="37017"/>
                    <a:pt x="37017" y="0"/>
                    <a:pt x="82680" y="0"/>
                  </a:cubicBezTo>
                  <a:close/>
                </a:path>
              </a:pathLst>
            </a:custGeom>
            <a:solidFill>
              <a:srgbClr val="4B4444"/>
            </a:solidFill>
            <a:ln w="47625" cap="rnd">
              <a:solidFill>
                <a:srgbClr val="CFCECE"/>
              </a:solidFill>
              <a:prstDash val="lgDash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257748" cy="6092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6756244" y="7038992"/>
            <a:ext cx="3439973" cy="1207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75"/>
              </a:lnSpc>
            </a:pPr>
            <a:r>
              <a:rPr lang="en-US" sz="6399">
                <a:solidFill>
                  <a:srgbClr val="FFA3C1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n(B)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698656" y="6804867"/>
            <a:ext cx="2049812" cy="792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78"/>
              </a:lnSpc>
            </a:pPr>
            <a:r>
              <a:rPr lang="en-US" sz="4200">
                <a:solidFill>
                  <a:srgbClr val="FFA3C1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n(A)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27B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1130" y="486490"/>
            <a:ext cx="17265740" cy="9314020"/>
            <a:chOff x="0" y="0"/>
            <a:chExt cx="4547355" cy="24530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47355" cy="2453075"/>
            </a:xfrm>
            <a:custGeom>
              <a:avLst/>
              <a:gdLst/>
              <a:ahLst/>
              <a:cxnLst/>
              <a:rect r="r" b="b" t="t" l="l"/>
              <a:pathLst>
                <a:path h="2453075" w="4547355">
                  <a:moveTo>
                    <a:pt x="22868" y="0"/>
                  </a:moveTo>
                  <a:lnTo>
                    <a:pt x="4524487" y="0"/>
                  </a:lnTo>
                  <a:cubicBezTo>
                    <a:pt x="4530552" y="0"/>
                    <a:pt x="4536369" y="2409"/>
                    <a:pt x="4540657" y="6698"/>
                  </a:cubicBezTo>
                  <a:cubicBezTo>
                    <a:pt x="4544946" y="10987"/>
                    <a:pt x="4547355" y="16803"/>
                    <a:pt x="4547355" y="22868"/>
                  </a:cubicBezTo>
                  <a:lnTo>
                    <a:pt x="4547355" y="2430207"/>
                  </a:lnTo>
                  <a:cubicBezTo>
                    <a:pt x="4547355" y="2436272"/>
                    <a:pt x="4544946" y="2442089"/>
                    <a:pt x="4540657" y="2446377"/>
                  </a:cubicBezTo>
                  <a:cubicBezTo>
                    <a:pt x="4536369" y="2450666"/>
                    <a:pt x="4530552" y="2453075"/>
                    <a:pt x="4524487" y="2453075"/>
                  </a:cubicBezTo>
                  <a:lnTo>
                    <a:pt x="22868" y="2453075"/>
                  </a:lnTo>
                  <a:cubicBezTo>
                    <a:pt x="16803" y="2453075"/>
                    <a:pt x="10987" y="2450666"/>
                    <a:pt x="6698" y="2446377"/>
                  </a:cubicBezTo>
                  <a:cubicBezTo>
                    <a:pt x="2409" y="2442089"/>
                    <a:pt x="0" y="2436272"/>
                    <a:pt x="0" y="2430207"/>
                  </a:cubicBezTo>
                  <a:lnTo>
                    <a:pt x="0" y="22868"/>
                  </a:lnTo>
                  <a:cubicBezTo>
                    <a:pt x="0" y="16803"/>
                    <a:pt x="2409" y="10987"/>
                    <a:pt x="6698" y="6698"/>
                  </a:cubicBezTo>
                  <a:cubicBezTo>
                    <a:pt x="10987" y="2409"/>
                    <a:pt x="16803" y="0"/>
                    <a:pt x="22868" y="0"/>
                  </a:cubicBezTo>
                  <a:close/>
                </a:path>
              </a:pathLst>
            </a:custGeom>
            <a:solidFill>
              <a:srgbClr val="4B444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47355" cy="2491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4748493">
            <a:off x="13490128" y="9480494"/>
            <a:ext cx="561536" cy="1002636"/>
          </a:xfrm>
          <a:custGeom>
            <a:avLst/>
            <a:gdLst/>
            <a:ahLst/>
            <a:cxnLst/>
            <a:rect r="r" b="b" t="t" l="l"/>
            <a:pathLst>
              <a:path h="1002636" w="561536">
                <a:moveTo>
                  <a:pt x="0" y="0"/>
                </a:moveTo>
                <a:lnTo>
                  <a:pt x="561536" y="0"/>
                </a:lnTo>
                <a:lnTo>
                  <a:pt x="561536" y="1002636"/>
                </a:lnTo>
                <a:lnTo>
                  <a:pt x="0" y="10026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209995" y="2739615"/>
            <a:ext cx="4398610" cy="688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4"/>
              </a:lnSpc>
            </a:pPr>
            <a:r>
              <a:rPr lang="en-US" sz="3600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Contoh 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355817" y="885825"/>
            <a:ext cx="13576365" cy="1236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b="true" sz="7200">
                <a:solidFill>
                  <a:srgbClr val="FFA3C1"/>
                </a:solidFill>
                <a:latin typeface="One Little Font Bold"/>
                <a:ea typeface="One Little Font Bold"/>
                <a:cs typeface="One Little Font Bold"/>
                <a:sym typeface="One Little Font Bold"/>
              </a:rPr>
              <a:t>Kardinalitas Fungsi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3811001" y="9513286"/>
            <a:ext cx="2658043" cy="838707"/>
            <a:chOff x="0" y="0"/>
            <a:chExt cx="3544058" cy="1118275"/>
          </a:xfrm>
        </p:grpSpPr>
        <p:grpSp>
          <p:nvGrpSpPr>
            <p:cNvPr name="Group 9" id="9"/>
            <p:cNvGrpSpPr/>
            <p:nvPr/>
          </p:nvGrpSpPr>
          <p:grpSpPr>
            <a:xfrm rot="117060">
              <a:off x="27116" y="59305"/>
              <a:ext cx="3500940" cy="999666"/>
              <a:chOff x="0" y="0"/>
              <a:chExt cx="1753351" cy="500655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753351" cy="500655"/>
              </a:xfrm>
              <a:custGeom>
                <a:avLst/>
                <a:gdLst/>
                <a:ahLst/>
                <a:cxnLst/>
                <a:rect r="r" b="b" t="t" l="l"/>
                <a:pathLst>
                  <a:path h="500655" w="1753351">
                    <a:moveTo>
                      <a:pt x="0" y="0"/>
                    </a:moveTo>
                    <a:lnTo>
                      <a:pt x="1753351" y="0"/>
                    </a:lnTo>
                    <a:lnTo>
                      <a:pt x="1753351" y="500655"/>
                    </a:lnTo>
                    <a:lnTo>
                      <a:pt x="0" y="500655"/>
                    </a:lnTo>
                    <a:close/>
                  </a:path>
                </a:pathLst>
              </a:custGeom>
              <a:solidFill>
                <a:srgbClr val="868383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1753351" cy="538755"/>
              </a:xfrm>
              <a:prstGeom prst="rect">
                <a:avLst/>
              </a:prstGeom>
            </p:spPr>
            <p:txBody>
              <a:bodyPr anchor="ctr" rtlCol="false" tIns="30924" lIns="30924" bIns="30924" rIns="30924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0">
              <a:off x="0" y="19781"/>
              <a:ext cx="3518253" cy="1062256"/>
            </a:xfrm>
            <a:custGeom>
              <a:avLst/>
              <a:gdLst/>
              <a:ahLst/>
              <a:cxnLst/>
              <a:rect r="r" b="b" t="t" l="l"/>
              <a:pathLst>
                <a:path h="1062256" w="3518253">
                  <a:moveTo>
                    <a:pt x="0" y="0"/>
                  </a:moveTo>
                  <a:lnTo>
                    <a:pt x="3518253" y="0"/>
                  </a:lnTo>
                  <a:lnTo>
                    <a:pt x="3518253" y="1062256"/>
                  </a:lnTo>
                  <a:lnTo>
                    <a:pt x="0" y="10622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209995" y="3499646"/>
            <a:ext cx="15868011" cy="1412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4"/>
              </a:lnSpc>
            </a:pPr>
            <a:r>
              <a:rPr lang="en-US" sz="3600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Himpunan A {a, b, c} dan himpunan B {1, 2}. Ada berapakah fungsi yang mungkin dari A ke B?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09995" y="6625057"/>
            <a:ext cx="15868011" cy="688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4"/>
              </a:lnSpc>
            </a:pPr>
            <a:r>
              <a:rPr lang="en-US" sz="3600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n(A) = 3, n(B) = 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09995" y="5860390"/>
            <a:ext cx="4579905" cy="688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4"/>
              </a:lnSpc>
            </a:pPr>
            <a:r>
              <a:rPr lang="en-US" sz="3600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Jawab 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09995" y="7291463"/>
            <a:ext cx="14722188" cy="688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4"/>
              </a:lnSpc>
            </a:pPr>
            <a:r>
              <a:rPr lang="en-US" sz="3600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Banyak fungsi yang mungkin dari A ke B =        = 8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310819" y="7291463"/>
            <a:ext cx="1187913" cy="688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24"/>
              </a:lnSpc>
            </a:pPr>
            <a:r>
              <a:rPr lang="en-US" sz="3600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723801" y="7169542"/>
            <a:ext cx="924300" cy="537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51"/>
              </a:lnSpc>
            </a:pPr>
            <a:r>
              <a:rPr lang="en-US" sz="2799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3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27B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1130" y="486490"/>
            <a:ext cx="17265740" cy="9314020"/>
            <a:chOff x="0" y="0"/>
            <a:chExt cx="4547355" cy="24530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47355" cy="2453075"/>
            </a:xfrm>
            <a:custGeom>
              <a:avLst/>
              <a:gdLst/>
              <a:ahLst/>
              <a:cxnLst/>
              <a:rect r="r" b="b" t="t" l="l"/>
              <a:pathLst>
                <a:path h="2453075" w="4547355">
                  <a:moveTo>
                    <a:pt x="22868" y="0"/>
                  </a:moveTo>
                  <a:lnTo>
                    <a:pt x="4524487" y="0"/>
                  </a:lnTo>
                  <a:cubicBezTo>
                    <a:pt x="4530552" y="0"/>
                    <a:pt x="4536369" y="2409"/>
                    <a:pt x="4540657" y="6698"/>
                  </a:cubicBezTo>
                  <a:cubicBezTo>
                    <a:pt x="4544946" y="10987"/>
                    <a:pt x="4547355" y="16803"/>
                    <a:pt x="4547355" y="22868"/>
                  </a:cubicBezTo>
                  <a:lnTo>
                    <a:pt x="4547355" y="2430207"/>
                  </a:lnTo>
                  <a:cubicBezTo>
                    <a:pt x="4547355" y="2436272"/>
                    <a:pt x="4544946" y="2442089"/>
                    <a:pt x="4540657" y="2446377"/>
                  </a:cubicBezTo>
                  <a:cubicBezTo>
                    <a:pt x="4536369" y="2450666"/>
                    <a:pt x="4530552" y="2453075"/>
                    <a:pt x="4524487" y="2453075"/>
                  </a:cubicBezTo>
                  <a:lnTo>
                    <a:pt x="22868" y="2453075"/>
                  </a:lnTo>
                  <a:cubicBezTo>
                    <a:pt x="16803" y="2453075"/>
                    <a:pt x="10987" y="2450666"/>
                    <a:pt x="6698" y="2446377"/>
                  </a:cubicBezTo>
                  <a:cubicBezTo>
                    <a:pt x="2409" y="2442089"/>
                    <a:pt x="0" y="2436272"/>
                    <a:pt x="0" y="2430207"/>
                  </a:cubicBezTo>
                  <a:lnTo>
                    <a:pt x="0" y="22868"/>
                  </a:lnTo>
                  <a:cubicBezTo>
                    <a:pt x="0" y="16803"/>
                    <a:pt x="2409" y="10987"/>
                    <a:pt x="6698" y="6698"/>
                  </a:cubicBezTo>
                  <a:cubicBezTo>
                    <a:pt x="10987" y="2409"/>
                    <a:pt x="16803" y="0"/>
                    <a:pt x="22868" y="0"/>
                  </a:cubicBezTo>
                  <a:close/>
                </a:path>
              </a:pathLst>
            </a:custGeom>
            <a:solidFill>
              <a:srgbClr val="4B444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47355" cy="2491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4748493">
            <a:off x="13490128" y="9480494"/>
            <a:ext cx="561536" cy="1002636"/>
          </a:xfrm>
          <a:custGeom>
            <a:avLst/>
            <a:gdLst/>
            <a:ahLst/>
            <a:cxnLst/>
            <a:rect r="r" b="b" t="t" l="l"/>
            <a:pathLst>
              <a:path h="1002636" w="561536">
                <a:moveTo>
                  <a:pt x="0" y="0"/>
                </a:moveTo>
                <a:lnTo>
                  <a:pt x="561536" y="0"/>
                </a:lnTo>
                <a:lnTo>
                  <a:pt x="561536" y="1002636"/>
                </a:lnTo>
                <a:lnTo>
                  <a:pt x="0" y="10026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209995" y="3495533"/>
            <a:ext cx="15868011" cy="447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55"/>
              </a:lnSpc>
            </a:pPr>
            <a:r>
              <a:rPr lang="en-US" sz="4500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Sama halnya seperti relasi, fungsi dapat dinyatakan dalam: diagram panah, tabel, himpunan pasangan berurut, dan bentuk grafik koordinat. Namun secara khusus, fungsi yang memasangkan himpunan bilangan (fungsi numerik), dapat dinyatakatan memakai </a:t>
            </a:r>
            <a:r>
              <a:rPr lang="en-US" sz="4500" u="sng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rumus atau formula.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355817" y="885825"/>
            <a:ext cx="13576365" cy="1236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b="true" sz="7200">
                <a:solidFill>
                  <a:srgbClr val="FFA3C1"/>
                </a:solidFill>
                <a:latin typeface="One Little Font Bold"/>
                <a:ea typeface="One Little Font Bold"/>
                <a:cs typeface="One Little Font Bold"/>
                <a:sym typeface="One Little Font Bold"/>
              </a:rPr>
              <a:t>Menyatakan Fungsi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3811001" y="9513286"/>
            <a:ext cx="2658043" cy="838707"/>
            <a:chOff x="0" y="0"/>
            <a:chExt cx="3544058" cy="1118275"/>
          </a:xfrm>
        </p:grpSpPr>
        <p:grpSp>
          <p:nvGrpSpPr>
            <p:cNvPr name="Group 9" id="9"/>
            <p:cNvGrpSpPr/>
            <p:nvPr/>
          </p:nvGrpSpPr>
          <p:grpSpPr>
            <a:xfrm rot="117060">
              <a:off x="27116" y="59305"/>
              <a:ext cx="3500940" cy="999666"/>
              <a:chOff x="0" y="0"/>
              <a:chExt cx="1753351" cy="500655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753351" cy="500655"/>
              </a:xfrm>
              <a:custGeom>
                <a:avLst/>
                <a:gdLst/>
                <a:ahLst/>
                <a:cxnLst/>
                <a:rect r="r" b="b" t="t" l="l"/>
                <a:pathLst>
                  <a:path h="500655" w="1753351">
                    <a:moveTo>
                      <a:pt x="0" y="0"/>
                    </a:moveTo>
                    <a:lnTo>
                      <a:pt x="1753351" y="0"/>
                    </a:lnTo>
                    <a:lnTo>
                      <a:pt x="1753351" y="500655"/>
                    </a:lnTo>
                    <a:lnTo>
                      <a:pt x="0" y="500655"/>
                    </a:lnTo>
                    <a:close/>
                  </a:path>
                </a:pathLst>
              </a:custGeom>
              <a:solidFill>
                <a:srgbClr val="868383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1753351" cy="538755"/>
              </a:xfrm>
              <a:prstGeom prst="rect">
                <a:avLst/>
              </a:prstGeom>
            </p:spPr>
            <p:txBody>
              <a:bodyPr anchor="ctr" rtlCol="false" tIns="30924" lIns="30924" bIns="30924" rIns="30924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0">
              <a:off x="0" y="19781"/>
              <a:ext cx="3518253" cy="1062256"/>
            </a:xfrm>
            <a:custGeom>
              <a:avLst/>
              <a:gdLst/>
              <a:ahLst/>
              <a:cxnLst/>
              <a:rect r="r" b="b" t="t" l="l"/>
              <a:pathLst>
                <a:path h="1062256" w="3518253">
                  <a:moveTo>
                    <a:pt x="0" y="0"/>
                  </a:moveTo>
                  <a:lnTo>
                    <a:pt x="3518253" y="0"/>
                  </a:lnTo>
                  <a:lnTo>
                    <a:pt x="3518253" y="1062256"/>
                  </a:lnTo>
                  <a:lnTo>
                    <a:pt x="0" y="10622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27B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1130" y="486490"/>
            <a:ext cx="17265740" cy="9314020"/>
            <a:chOff x="0" y="0"/>
            <a:chExt cx="4547355" cy="24530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47355" cy="2453075"/>
            </a:xfrm>
            <a:custGeom>
              <a:avLst/>
              <a:gdLst/>
              <a:ahLst/>
              <a:cxnLst/>
              <a:rect r="r" b="b" t="t" l="l"/>
              <a:pathLst>
                <a:path h="2453075" w="4547355">
                  <a:moveTo>
                    <a:pt x="22868" y="0"/>
                  </a:moveTo>
                  <a:lnTo>
                    <a:pt x="4524487" y="0"/>
                  </a:lnTo>
                  <a:cubicBezTo>
                    <a:pt x="4530552" y="0"/>
                    <a:pt x="4536369" y="2409"/>
                    <a:pt x="4540657" y="6698"/>
                  </a:cubicBezTo>
                  <a:cubicBezTo>
                    <a:pt x="4544946" y="10987"/>
                    <a:pt x="4547355" y="16803"/>
                    <a:pt x="4547355" y="22868"/>
                  </a:cubicBezTo>
                  <a:lnTo>
                    <a:pt x="4547355" y="2430207"/>
                  </a:lnTo>
                  <a:cubicBezTo>
                    <a:pt x="4547355" y="2436272"/>
                    <a:pt x="4544946" y="2442089"/>
                    <a:pt x="4540657" y="2446377"/>
                  </a:cubicBezTo>
                  <a:cubicBezTo>
                    <a:pt x="4536369" y="2450666"/>
                    <a:pt x="4530552" y="2453075"/>
                    <a:pt x="4524487" y="2453075"/>
                  </a:cubicBezTo>
                  <a:lnTo>
                    <a:pt x="22868" y="2453075"/>
                  </a:lnTo>
                  <a:cubicBezTo>
                    <a:pt x="16803" y="2453075"/>
                    <a:pt x="10987" y="2450666"/>
                    <a:pt x="6698" y="2446377"/>
                  </a:cubicBezTo>
                  <a:cubicBezTo>
                    <a:pt x="2409" y="2442089"/>
                    <a:pt x="0" y="2436272"/>
                    <a:pt x="0" y="2430207"/>
                  </a:cubicBezTo>
                  <a:lnTo>
                    <a:pt x="0" y="22868"/>
                  </a:lnTo>
                  <a:cubicBezTo>
                    <a:pt x="0" y="16803"/>
                    <a:pt x="2409" y="10987"/>
                    <a:pt x="6698" y="6698"/>
                  </a:cubicBezTo>
                  <a:cubicBezTo>
                    <a:pt x="10987" y="2409"/>
                    <a:pt x="16803" y="0"/>
                    <a:pt x="22868" y="0"/>
                  </a:cubicBezTo>
                  <a:close/>
                </a:path>
              </a:pathLst>
            </a:custGeom>
            <a:solidFill>
              <a:srgbClr val="4B444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47355" cy="2491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4748493">
            <a:off x="13490128" y="9480494"/>
            <a:ext cx="561536" cy="1002636"/>
          </a:xfrm>
          <a:custGeom>
            <a:avLst/>
            <a:gdLst/>
            <a:ahLst/>
            <a:cxnLst/>
            <a:rect r="r" b="b" t="t" l="l"/>
            <a:pathLst>
              <a:path h="1002636" w="561536">
                <a:moveTo>
                  <a:pt x="0" y="0"/>
                </a:moveTo>
                <a:lnTo>
                  <a:pt x="561536" y="0"/>
                </a:lnTo>
                <a:lnTo>
                  <a:pt x="561536" y="1002636"/>
                </a:lnTo>
                <a:lnTo>
                  <a:pt x="0" y="10026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3811001" y="9513286"/>
            <a:ext cx="2658043" cy="838707"/>
            <a:chOff x="0" y="0"/>
            <a:chExt cx="3544058" cy="1118275"/>
          </a:xfrm>
        </p:grpSpPr>
        <p:grpSp>
          <p:nvGrpSpPr>
            <p:cNvPr name="Group 7" id="7"/>
            <p:cNvGrpSpPr/>
            <p:nvPr/>
          </p:nvGrpSpPr>
          <p:grpSpPr>
            <a:xfrm rot="117060">
              <a:off x="27116" y="59305"/>
              <a:ext cx="3500940" cy="999666"/>
              <a:chOff x="0" y="0"/>
              <a:chExt cx="1753351" cy="500655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753351" cy="500655"/>
              </a:xfrm>
              <a:custGeom>
                <a:avLst/>
                <a:gdLst/>
                <a:ahLst/>
                <a:cxnLst/>
                <a:rect r="r" b="b" t="t" l="l"/>
                <a:pathLst>
                  <a:path h="500655" w="1753351">
                    <a:moveTo>
                      <a:pt x="0" y="0"/>
                    </a:moveTo>
                    <a:lnTo>
                      <a:pt x="1753351" y="0"/>
                    </a:lnTo>
                    <a:lnTo>
                      <a:pt x="1753351" y="500655"/>
                    </a:lnTo>
                    <a:lnTo>
                      <a:pt x="0" y="500655"/>
                    </a:lnTo>
                    <a:close/>
                  </a:path>
                </a:pathLst>
              </a:custGeom>
              <a:solidFill>
                <a:srgbClr val="868383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1753351" cy="538755"/>
              </a:xfrm>
              <a:prstGeom prst="rect">
                <a:avLst/>
              </a:prstGeom>
            </p:spPr>
            <p:txBody>
              <a:bodyPr anchor="ctr" rtlCol="false" tIns="30924" lIns="30924" bIns="30924" rIns="30924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10" id="10"/>
            <p:cNvSpPr/>
            <p:nvPr/>
          </p:nvSpPr>
          <p:spPr>
            <a:xfrm flipH="false" flipV="false" rot="0">
              <a:off x="0" y="19781"/>
              <a:ext cx="3518253" cy="1062256"/>
            </a:xfrm>
            <a:custGeom>
              <a:avLst/>
              <a:gdLst/>
              <a:ahLst/>
              <a:cxnLst/>
              <a:rect r="r" b="b" t="t" l="l"/>
              <a:pathLst>
                <a:path h="1062256" w="3518253">
                  <a:moveTo>
                    <a:pt x="0" y="0"/>
                  </a:moveTo>
                  <a:lnTo>
                    <a:pt x="3518253" y="0"/>
                  </a:lnTo>
                  <a:lnTo>
                    <a:pt x="3518253" y="1062256"/>
                  </a:lnTo>
                  <a:lnTo>
                    <a:pt x="0" y="10622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2597495" y="3804919"/>
            <a:ext cx="3428350" cy="2935914"/>
          </a:xfrm>
          <a:custGeom>
            <a:avLst/>
            <a:gdLst/>
            <a:ahLst/>
            <a:cxnLst/>
            <a:rect r="r" b="b" t="t" l="l"/>
            <a:pathLst>
              <a:path h="2935914" w="3428350">
                <a:moveTo>
                  <a:pt x="0" y="0"/>
                </a:moveTo>
                <a:lnTo>
                  <a:pt x="3428350" y="0"/>
                </a:lnTo>
                <a:lnTo>
                  <a:pt x="3428350" y="2935915"/>
                </a:lnTo>
                <a:lnTo>
                  <a:pt x="0" y="29359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869325" y="3642994"/>
            <a:ext cx="7199437" cy="1500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19"/>
              </a:lnSpc>
            </a:pPr>
            <a:r>
              <a:rPr lang="en-US" b="true" sz="8799">
                <a:solidFill>
                  <a:srgbClr val="FFA3C1"/>
                </a:solidFill>
                <a:latin typeface="One Little Font Bold"/>
                <a:ea typeface="One Little Font Bold"/>
                <a:cs typeface="One Little Font Bold"/>
                <a:sym typeface="One Little Font Bold"/>
              </a:rPr>
              <a:t>Formula Fungsi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811001" y="5431280"/>
            <a:ext cx="4580726" cy="1235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1"/>
              </a:lnSpc>
            </a:pPr>
            <a:r>
              <a:rPr lang="en-US" sz="3501" spc="731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belajar melalui studi kasus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597495" y="2720023"/>
            <a:ext cx="2860802" cy="1084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57"/>
              </a:lnSpc>
            </a:pPr>
            <a:r>
              <a:rPr lang="en-US" sz="6255" spc="1307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f(X)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27B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1130" y="486490"/>
            <a:ext cx="17265740" cy="9314020"/>
            <a:chOff x="0" y="0"/>
            <a:chExt cx="4547355" cy="24530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47355" cy="2453075"/>
            </a:xfrm>
            <a:custGeom>
              <a:avLst/>
              <a:gdLst/>
              <a:ahLst/>
              <a:cxnLst/>
              <a:rect r="r" b="b" t="t" l="l"/>
              <a:pathLst>
                <a:path h="2453075" w="4547355">
                  <a:moveTo>
                    <a:pt x="22868" y="0"/>
                  </a:moveTo>
                  <a:lnTo>
                    <a:pt x="4524487" y="0"/>
                  </a:lnTo>
                  <a:cubicBezTo>
                    <a:pt x="4530552" y="0"/>
                    <a:pt x="4536369" y="2409"/>
                    <a:pt x="4540657" y="6698"/>
                  </a:cubicBezTo>
                  <a:cubicBezTo>
                    <a:pt x="4544946" y="10987"/>
                    <a:pt x="4547355" y="16803"/>
                    <a:pt x="4547355" y="22868"/>
                  </a:cubicBezTo>
                  <a:lnTo>
                    <a:pt x="4547355" y="2430207"/>
                  </a:lnTo>
                  <a:cubicBezTo>
                    <a:pt x="4547355" y="2436272"/>
                    <a:pt x="4544946" y="2442089"/>
                    <a:pt x="4540657" y="2446377"/>
                  </a:cubicBezTo>
                  <a:cubicBezTo>
                    <a:pt x="4536369" y="2450666"/>
                    <a:pt x="4530552" y="2453075"/>
                    <a:pt x="4524487" y="2453075"/>
                  </a:cubicBezTo>
                  <a:lnTo>
                    <a:pt x="22868" y="2453075"/>
                  </a:lnTo>
                  <a:cubicBezTo>
                    <a:pt x="16803" y="2453075"/>
                    <a:pt x="10987" y="2450666"/>
                    <a:pt x="6698" y="2446377"/>
                  </a:cubicBezTo>
                  <a:cubicBezTo>
                    <a:pt x="2409" y="2442089"/>
                    <a:pt x="0" y="2436272"/>
                    <a:pt x="0" y="2430207"/>
                  </a:cubicBezTo>
                  <a:lnTo>
                    <a:pt x="0" y="22868"/>
                  </a:lnTo>
                  <a:cubicBezTo>
                    <a:pt x="0" y="16803"/>
                    <a:pt x="2409" y="10987"/>
                    <a:pt x="6698" y="6698"/>
                  </a:cubicBezTo>
                  <a:cubicBezTo>
                    <a:pt x="10987" y="2409"/>
                    <a:pt x="16803" y="0"/>
                    <a:pt x="22868" y="0"/>
                  </a:cubicBezTo>
                  <a:close/>
                </a:path>
              </a:pathLst>
            </a:custGeom>
            <a:solidFill>
              <a:srgbClr val="4B444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47355" cy="2491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4748493">
            <a:off x="13490128" y="9480494"/>
            <a:ext cx="561536" cy="1002636"/>
          </a:xfrm>
          <a:custGeom>
            <a:avLst/>
            <a:gdLst/>
            <a:ahLst/>
            <a:cxnLst/>
            <a:rect r="r" b="b" t="t" l="l"/>
            <a:pathLst>
              <a:path h="1002636" w="561536">
                <a:moveTo>
                  <a:pt x="0" y="0"/>
                </a:moveTo>
                <a:lnTo>
                  <a:pt x="561536" y="0"/>
                </a:lnTo>
                <a:lnTo>
                  <a:pt x="561536" y="1002636"/>
                </a:lnTo>
                <a:lnTo>
                  <a:pt x="0" y="10026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3811001" y="9513286"/>
            <a:ext cx="2658043" cy="838707"/>
            <a:chOff x="0" y="0"/>
            <a:chExt cx="3544058" cy="1118275"/>
          </a:xfrm>
        </p:grpSpPr>
        <p:grpSp>
          <p:nvGrpSpPr>
            <p:cNvPr name="Group 7" id="7"/>
            <p:cNvGrpSpPr/>
            <p:nvPr/>
          </p:nvGrpSpPr>
          <p:grpSpPr>
            <a:xfrm rot="117060">
              <a:off x="27116" y="59305"/>
              <a:ext cx="3500940" cy="999666"/>
              <a:chOff x="0" y="0"/>
              <a:chExt cx="1753351" cy="500655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753351" cy="500655"/>
              </a:xfrm>
              <a:custGeom>
                <a:avLst/>
                <a:gdLst/>
                <a:ahLst/>
                <a:cxnLst/>
                <a:rect r="r" b="b" t="t" l="l"/>
                <a:pathLst>
                  <a:path h="500655" w="1753351">
                    <a:moveTo>
                      <a:pt x="0" y="0"/>
                    </a:moveTo>
                    <a:lnTo>
                      <a:pt x="1753351" y="0"/>
                    </a:lnTo>
                    <a:lnTo>
                      <a:pt x="1753351" y="500655"/>
                    </a:lnTo>
                    <a:lnTo>
                      <a:pt x="0" y="500655"/>
                    </a:lnTo>
                    <a:close/>
                  </a:path>
                </a:pathLst>
              </a:custGeom>
              <a:solidFill>
                <a:srgbClr val="868383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1753351" cy="538755"/>
              </a:xfrm>
              <a:prstGeom prst="rect">
                <a:avLst/>
              </a:prstGeom>
            </p:spPr>
            <p:txBody>
              <a:bodyPr anchor="ctr" rtlCol="false" tIns="30924" lIns="30924" bIns="30924" rIns="30924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10" id="10"/>
            <p:cNvSpPr/>
            <p:nvPr/>
          </p:nvSpPr>
          <p:spPr>
            <a:xfrm flipH="false" flipV="false" rot="0">
              <a:off x="0" y="19781"/>
              <a:ext cx="3518253" cy="1062256"/>
            </a:xfrm>
            <a:custGeom>
              <a:avLst/>
              <a:gdLst/>
              <a:ahLst/>
              <a:cxnLst/>
              <a:rect r="r" b="b" t="t" l="l"/>
              <a:pathLst>
                <a:path h="1062256" w="3518253">
                  <a:moveTo>
                    <a:pt x="0" y="0"/>
                  </a:moveTo>
                  <a:lnTo>
                    <a:pt x="3518253" y="0"/>
                  </a:lnTo>
                  <a:lnTo>
                    <a:pt x="3518253" y="1062256"/>
                  </a:lnTo>
                  <a:lnTo>
                    <a:pt x="0" y="10622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5135786" y="6356913"/>
            <a:ext cx="1592794" cy="2317558"/>
          </a:xfrm>
          <a:custGeom>
            <a:avLst/>
            <a:gdLst/>
            <a:ahLst/>
            <a:cxnLst/>
            <a:rect r="r" b="b" t="t" l="l"/>
            <a:pathLst>
              <a:path h="2317558" w="1592794">
                <a:moveTo>
                  <a:pt x="0" y="0"/>
                </a:moveTo>
                <a:lnTo>
                  <a:pt x="1592794" y="0"/>
                </a:lnTo>
                <a:lnTo>
                  <a:pt x="1592794" y="2317557"/>
                </a:lnTo>
                <a:lnTo>
                  <a:pt x="0" y="231755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355817" y="885825"/>
            <a:ext cx="13576365" cy="1236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b="true" sz="7200">
                <a:solidFill>
                  <a:srgbClr val="FFA3C1"/>
                </a:solidFill>
                <a:latin typeface="One Little Font Bold"/>
                <a:ea typeface="One Little Font Bold"/>
                <a:cs typeface="One Little Font Bold"/>
                <a:sym typeface="One Little Font Bold"/>
              </a:rPr>
              <a:t>Studi Kasus 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2551104"/>
            <a:ext cx="14367785" cy="1412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4"/>
              </a:lnSpc>
            </a:pPr>
            <a:r>
              <a:rPr lang="en-US" sz="3600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Harga satu potong kue bolu adalah Rp 8000. Dengan biaya tambahan packaging Rp 2000.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4706421"/>
            <a:ext cx="12196962" cy="3110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0" indent="-388620" lvl="1">
              <a:lnSpc>
                <a:spcPts val="6228"/>
              </a:lnSpc>
              <a:buAutoNum type="arabicPeriod" startAt="1"/>
            </a:pPr>
            <a:r>
              <a:rPr lang="en-US" sz="3600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Berapa yang kamu harus bayar jika membeli 5 bolu?</a:t>
            </a:r>
          </a:p>
          <a:p>
            <a:pPr algn="l" marL="777240" indent="-388620" lvl="1">
              <a:lnSpc>
                <a:spcPts val="6228"/>
              </a:lnSpc>
              <a:buAutoNum type="arabicPeriod" startAt="1"/>
            </a:pPr>
            <a:r>
              <a:rPr lang="en-US" sz="3600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Berapa yang harus kamu bayar jika membeli 20 bolu?</a:t>
            </a:r>
          </a:p>
          <a:p>
            <a:pPr algn="l" marL="777240" indent="-388620" lvl="1">
              <a:lnSpc>
                <a:spcPts val="6228"/>
              </a:lnSpc>
              <a:buAutoNum type="arabicPeriod" startAt="1"/>
            </a:pPr>
            <a:r>
              <a:rPr lang="en-US" sz="3600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Apakah kamu bisa menebak total harganya dengan mudah?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124341" y="5339383"/>
            <a:ext cx="3134959" cy="616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1"/>
              </a:lnSpc>
            </a:pPr>
            <a:r>
              <a:rPr lang="en-US" sz="3501" spc="731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Toko kue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27B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1130" y="486490"/>
            <a:ext cx="17265740" cy="9314020"/>
            <a:chOff x="0" y="0"/>
            <a:chExt cx="4547355" cy="24530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47355" cy="2453075"/>
            </a:xfrm>
            <a:custGeom>
              <a:avLst/>
              <a:gdLst/>
              <a:ahLst/>
              <a:cxnLst/>
              <a:rect r="r" b="b" t="t" l="l"/>
              <a:pathLst>
                <a:path h="2453075" w="4547355">
                  <a:moveTo>
                    <a:pt x="22868" y="0"/>
                  </a:moveTo>
                  <a:lnTo>
                    <a:pt x="4524487" y="0"/>
                  </a:lnTo>
                  <a:cubicBezTo>
                    <a:pt x="4530552" y="0"/>
                    <a:pt x="4536369" y="2409"/>
                    <a:pt x="4540657" y="6698"/>
                  </a:cubicBezTo>
                  <a:cubicBezTo>
                    <a:pt x="4544946" y="10987"/>
                    <a:pt x="4547355" y="16803"/>
                    <a:pt x="4547355" y="22868"/>
                  </a:cubicBezTo>
                  <a:lnTo>
                    <a:pt x="4547355" y="2430207"/>
                  </a:lnTo>
                  <a:cubicBezTo>
                    <a:pt x="4547355" y="2436272"/>
                    <a:pt x="4544946" y="2442089"/>
                    <a:pt x="4540657" y="2446377"/>
                  </a:cubicBezTo>
                  <a:cubicBezTo>
                    <a:pt x="4536369" y="2450666"/>
                    <a:pt x="4530552" y="2453075"/>
                    <a:pt x="4524487" y="2453075"/>
                  </a:cubicBezTo>
                  <a:lnTo>
                    <a:pt x="22868" y="2453075"/>
                  </a:lnTo>
                  <a:cubicBezTo>
                    <a:pt x="16803" y="2453075"/>
                    <a:pt x="10987" y="2450666"/>
                    <a:pt x="6698" y="2446377"/>
                  </a:cubicBezTo>
                  <a:cubicBezTo>
                    <a:pt x="2409" y="2442089"/>
                    <a:pt x="0" y="2436272"/>
                    <a:pt x="0" y="2430207"/>
                  </a:cubicBezTo>
                  <a:lnTo>
                    <a:pt x="0" y="22868"/>
                  </a:lnTo>
                  <a:cubicBezTo>
                    <a:pt x="0" y="16803"/>
                    <a:pt x="2409" y="10987"/>
                    <a:pt x="6698" y="6698"/>
                  </a:cubicBezTo>
                  <a:cubicBezTo>
                    <a:pt x="10987" y="2409"/>
                    <a:pt x="16803" y="0"/>
                    <a:pt x="22868" y="0"/>
                  </a:cubicBezTo>
                  <a:close/>
                </a:path>
              </a:pathLst>
            </a:custGeom>
            <a:solidFill>
              <a:srgbClr val="4B444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47355" cy="2491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4748493">
            <a:off x="13490128" y="9480494"/>
            <a:ext cx="561536" cy="1002636"/>
          </a:xfrm>
          <a:custGeom>
            <a:avLst/>
            <a:gdLst/>
            <a:ahLst/>
            <a:cxnLst/>
            <a:rect r="r" b="b" t="t" l="l"/>
            <a:pathLst>
              <a:path h="1002636" w="561536">
                <a:moveTo>
                  <a:pt x="0" y="0"/>
                </a:moveTo>
                <a:lnTo>
                  <a:pt x="561536" y="0"/>
                </a:lnTo>
                <a:lnTo>
                  <a:pt x="561536" y="1002636"/>
                </a:lnTo>
                <a:lnTo>
                  <a:pt x="0" y="10026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3811001" y="9513286"/>
            <a:ext cx="2658043" cy="838707"/>
            <a:chOff x="0" y="0"/>
            <a:chExt cx="3544058" cy="1118275"/>
          </a:xfrm>
        </p:grpSpPr>
        <p:grpSp>
          <p:nvGrpSpPr>
            <p:cNvPr name="Group 7" id="7"/>
            <p:cNvGrpSpPr/>
            <p:nvPr/>
          </p:nvGrpSpPr>
          <p:grpSpPr>
            <a:xfrm rot="117060">
              <a:off x="27116" y="59305"/>
              <a:ext cx="3500940" cy="999666"/>
              <a:chOff x="0" y="0"/>
              <a:chExt cx="1753351" cy="500655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753351" cy="500655"/>
              </a:xfrm>
              <a:custGeom>
                <a:avLst/>
                <a:gdLst/>
                <a:ahLst/>
                <a:cxnLst/>
                <a:rect r="r" b="b" t="t" l="l"/>
                <a:pathLst>
                  <a:path h="500655" w="1753351">
                    <a:moveTo>
                      <a:pt x="0" y="0"/>
                    </a:moveTo>
                    <a:lnTo>
                      <a:pt x="1753351" y="0"/>
                    </a:lnTo>
                    <a:lnTo>
                      <a:pt x="1753351" y="500655"/>
                    </a:lnTo>
                    <a:lnTo>
                      <a:pt x="0" y="500655"/>
                    </a:lnTo>
                    <a:close/>
                  </a:path>
                </a:pathLst>
              </a:custGeom>
              <a:solidFill>
                <a:srgbClr val="868383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1753351" cy="538755"/>
              </a:xfrm>
              <a:prstGeom prst="rect">
                <a:avLst/>
              </a:prstGeom>
            </p:spPr>
            <p:txBody>
              <a:bodyPr anchor="ctr" rtlCol="false" tIns="30924" lIns="30924" bIns="30924" rIns="30924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10" id="10"/>
            <p:cNvSpPr/>
            <p:nvPr/>
          </p:nvSpPr>
          <p:spPr>
            <a:xfrm flipH="false" flipV="false" rot="0">
              <a:off x="0" y="19781"/>
              <a:ext cx="3518253" cy="1062256"/>
            </a:xfrm>
            <a:custGeom>
              <a:avLst/>
              <a:gdLst/>
              <a:ahLst/>
              <a:cxnLst/>
              <a:rect r="r" b="b" t="t" l="l"/>
              <a:pathLst>
                <a:path h="1062256" w="3518253">
                  <a:moveTo>
                    <a:pt x="0" y="0"/>
                  </a:moveTo>
                  <a:lnTo>
                    <a:pt x="3518253" y="0"/>
                  </a:lnTo>
                  <a:lnTo>
                    <a:pt x="3518253" y="1062256"/>
                  </a:lnTo>
                  <a:lnTo>
                    <a:pt x="0" y="10622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5135786" y="6356913"/>
            <a:ext cx="1592794" cy="2317558"/>
          </a:xfrm>
          <a:custGeom>
            <a:avLst/>
            <a:gdLst/>
            <a:ahLst/>
            <a:cxnLst/>
            <a:rect r="r" b="b" t="t" l="l"/>
            <a:pathLst>
              <a:path h="2317558" w="1592794">
                <a:moveTo>
                  <a:pt x="0" y="0"/>
                </a:moveTo>
                <a:lnTo>
                  <a:pt x="1592794" y="0"/>
                </a:lnTo>
                <a:lnTo>
                  <a:pt x="1592794" y="2317557"/>
                </a:lnTo>
                <a:lnTo>
                  <a:pt x="0" y="231755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355817" y="885825"/>
            <a:ext cx="13576365" cy="1236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b="true" sz="7200">
                <a:solidFill>
                  <a:srgbClr val="FFA3C1"/>
                </a:solidFill>
                <a:latin typeface="One Little Font Bold"/>
                <a:ea typeface="One Little Font Bold"/>
                <a:cs typeface="One Little Font Bold"/>
                <a:sym typeface="One Little Font Bold"/>
              </a:rPr>
              <a:t>Studi Kasus 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2551104"/>
            <a:ext cx="14367785" cy="688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4"/>
              </a:lnSpc>
            </a:pPr>
            <a:r>
              <a:rPr lang="en-US" sz="3600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1. Jika membeli 5 potong bolu maka harganya 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124341" y="5339383"/>
            <a:ext cx="3134959" cy="616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1"/>
              </a:lnSpc>
            </a:pPr>
            <a:r>
              <a:rPr lang="en-US" sz="3501" spc="731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Toko kue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76779" y="3362360"/>
            <a:ext cx="4525446" cy="688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4"/>
              </a:lnSpc>
            </a:pPr>
            <a:r>
              <a:rPr lang="en-US" sz="3600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= (5 ⨯ 8.000) + 2.000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76779" y="4174652"/>
            <a:ext cx="4525446" cy="688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4"/>
              </a:lnSpc>
            </a:pPr>
            <a:r>
              <a:rPr lang="en-US" sz="3600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= 40.000 + 2.000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76779" y="4986944"/>
            <a:ext cx="4525446" cy="688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4"/>
              </a:lnSpc>
            </a:pPr>
            <a:r>
              <a:rPr lang="en-US" sz="3600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= 42.000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6079339"/>
            <a:ext cx="14367785" cy="688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4"/>
              </a:lnSpc>
            </a:pPr>
            <a:r>
              <a:rPr lang="en-US" sz="3600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2. Jika membeli 20 potong bolu maka harganya :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776779" y="6890596"/>
            <a:ext cx="5832197" cy="688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4"/>
              </a:lnSpc>
            </a:pPr>
            <a:r>
              <a:rPr lang="en-US" sz="3600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= (20 ⨯ 8.000) + 2.000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776779" y="7702888"/>
            <a:ext cx="4525446" cy="688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4"/>
              </a:lnSpc>
            </a:pPr>
            <a:r>
              <a:rPr lang="en-US" sz="3600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= 160.000 + 2.000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776779" y="8515180"/>
            <a:ext cx="4525446" cy="688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4"/>
              </a:lnSpc>
            </a:pPr>
            <a:r>
              <a:rPr lang="en-US" sz="3600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= 162.000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27B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1130" y="486490"/>
            <a:ext cx="17265740" cy="9314020"/>
            <a:chOff x="0" y="0"/>
            <a:chExt cx="4547355" cy="24530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47355" cy="2453075"/>
            </a:xfrm>
            <a:custGeom>
              <a:avLst/>
              <a:gdLst/>
              <a:ahLst/>
              <a:cxnLst/>
              <a:rect r="r" b="b" t="t" l="l"/>
              <a:pathLst>
                <a:path h="2453075" w="4547355">
                  <a:moveTo>
                    <a:pt x="22868" y="0"/>
                  </a:moveTo>
                  <a:lnTo>
                    <a:pt x="4524487" y="0"/>
                  </a:lnTo>
                  <a:cubicBezTo>
                    <a:pt x="4530552" y="0"/>
                    <a:pt x="4536369" y="2409"/>
                    <a:pt x="4540657" y="6698"/>
                  </a:cubicBezTo>
                  <a:cubicBezTo>
                    <a:pt x="4544946" y="10987"/>
                    <a:pt x="4547355" y="16803"/>
                    <a:pt x="4547355" y="22868"/>
                  </a:cubicBezTo>
                  <a:lnTo>
                    <a:pt x="4547355" y="2430207"/>
                  </a:lnTo>
                  <a:cubicBezTo>
                    <a:pt x="4547355" y="2436272"/>
                    <a:pt x="4544946" y="2442089"/>
                    <a:pt x="4540657" y="2446377"/>
                  </a:cubicBezTo>
                  <a:cubicBezTo>
                    <a:pt x="4536369" y="2450666"/>
                    <a:pt x="4530552" y="2453075"/>
                    <a:pt x="4524487" y="2453075"/>
                  </a:cubicBezTo>
                  <a:lnTo>
                    <a:pt x="22868" y="2453075"/>
                  </a:lnTo>
                  <a:cubicBezTo>
                    <a:pt x="16803" y="2453075"/>
                    <a:pt x="10987" y="2450666"/>
                    <a:pt x="6698" y="2446377"/>
                  </a:cubicBezTo>
                  <a:cubicBezTo>
                    <a:pt x="2409" y="2442089"/>
                    <a:pt x="0" y="2436272"/>
                    <a:pt x="0" y="2430207"/>
                  </a:cubicBezTo>
                  <a:lnTo>
                    <a:pt x="0" y="22868"/>
                  </a:lnTo>
                  <a:cubicBezTo>
                    <a:pt x="0" y="16803"/>
                    <a:pt x="2409" y="10987"/>
                    <a:pt x="6698" y="6698"/>
                  </a:cubicBezTo>
                  <a:cubicBezTo>
                    <a:pt x="10987" y="2409"/>
                    <a:pt x="16803" y="0"/>
                    <a:pt x="22868" y="0"/>
                  </a:cubicBezTo>
                  <a:close/>
                </a:path>
              </a:pathLst>
            </a:custGeom>
            <a:solidFill>
              <a:srgbClr val="4B444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47355" cy="2491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4748493">
            <a:off x="13490128" y="9480494"/>
            <a:ext cx="561536" cy="1002636"/>
          </a:xfrm>
          <a:custGeom>
            <a:avLst/>
            <a:gdLst/>
            <a:ahLst/>
            <a:cxnLst/>
            <a:rect r="r" b="b" t="t" l="l"/>
            <a:pathLst>
              <a:path h="1002636" w="561536">
                <a:moveTo>
                  <a:pt x="0" y="0"/>
                </a:moveTo>
                <a:lnTo>
                  <a:pt x="561536" y="0"/>
                </a:lnTo>
                <a:lnTo>
                  <a:pt x="561536" y="1002636"/>
                </a:lnTo>
                <a:lnTo>
                  <a:pt x="0" y="10026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3811001" y="9513286"/>
            <a:ext cx="2658043" cy="838707"/>
            <a:chOff x="0" y="0"/>
            <a:chExt cx="3544058" cy="1118275"/>
          </a:xfrm>
        </p:grpSpPr>
        <p:grpSp>
          <p:nvGrpSpPr>
            <p:cNvPr name="Group 7" id="7"/>
            <p:cNvGrpSpPr/>
            <p:nvPr/>
          </p:nvGrpSpPr>
          <p:grpSpPr>
            <a:xfrm rot="117060">
              <a:off x="27116" y="59305"/>
              <a:ext cx="3500940" cy="999666"/>
              <a:chOff x="0" y="0"/>
              <a:chExt cx="1753351" cy="500655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753351" cy="500655"/>
              </a:xfrm>
              <a:custGeom>
                <a:avLst/>
                <a:gdLst/>
                <a:ahLst/>
                <a:cxnLst/>
                <a:rect r="r" b="b" t="t" l="l"/>
                <a:pathLst>
                  <a:path h="500655" w="1753351">
                    <a:moveTo>
                      <a:pt x="0" y="0"/>
                    </a:moveTo>
                    <a:lnTo>
                      <a:pt x="1753351" y="0"/>
                    </a:lnTo>
                    <a:lnTo>
                      <a:pt x="1753351" y="500655"/>
                    </a:lnTo>
                    <a:lnTo>
                      <a:pt x="0" y="500655"/>
                    </a:lnTo>
                    <a:close/>
                  </a:path>
                </a:pathLst>
              </a:custGeom>
              <a:solidFill>
                <a:srgbClr val="868383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1753351" cy="538755"/>
              </a:xfrm>
              <a:prstGeom prst="rect">
                <a:avLst/>
              </a:prstGeom>
            </p:spPr>
            <p:txBody>
              <a:bodyPr anchor="ctr" rtlCol="false" tIns="30924" lIns="30924" bIns="30924" rIns="30924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10" id="10"/>
            <p:cNvSpPr/>
            <p:nvPr/>
          </p:nvSpPr>
          <p:spPr>
            <a:xfrm flipH="false" flipV="false" rot="0">
              <a:off x="0" y="19781"/>
              <a:ext cx="3518253" cy="1062256"/>
            </a:xfrm>
            <a:custGeom>
              <a:avLst/>
              <a:gdLst/>
              <a:ahLst/>
              <a:cxnLst/>
              <a:rect r="r" b="b" t="t" l="l"/>
              <a:pathLst>
                <a:path h="1062256" w="3518253">
                  <a:moveTo>
                    <a:pt x="0" y="0"/>
                  </a:moveTo>
                  <a:lnTo>
                    <a:pt x="3518253" y="0"/>
                  </a:lnTo>
                  <a:lnTo>
                    <a:pt x="3518253" y="1062256"/>
                  </a:lnTo>
                  <a:lnTo>
                    <a:pt x="0" y="10622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5135786" y="6356913"/>
            <a:ext cx="1592794" cy="2317558"/>
          </a:xfrm>
          <a:custGeom>
            <a:avLst/>
            <a:gdLst/>
            <a:ahLst/>
            <a:cxnLst/>
            <a:rect r="r" b="b" t="t" l="l"/>
            <a:pathLst>
              <a:path h="2317558" w="1592794">
                <a:moveTo>
                  <a:pt x="0" y="0"/>
                </a:moveTo>
                <a:lnTo>
                  <a:pt x="1592794" y="0"/>
                </a:lnTo>
                <a:lnTo>
                  <a:pt x="1592794" y="2317557"/>
                </a:lnTo>
                <a:lnTo>
                  <a:pt x="0" y="231755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355817" y="885825"/>
            <a:ext cx="13576365" cy="1236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b="true" sz="7200">
                <a:solidFill>
                  <a:srgbClr val="FFA3C1"/>
                </a:solidFill>
                <a:latin typeface="One Little Font Bold"/>
                <a:ea typeface="One Little Font Bold"/>
                <a:cs typeface="One Little Font Bold"/>
                <a:sym typeface="One Little Font Bold"/>
              </a:rPr>
              <a:t>Studi Kasus 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2551104"/>
            <a:ext cx="14367785" cy="688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4"/>
              </a:lnSpc>
            </a:pPr>
            <a:r>
              <a:rPr lang="en-US" sz="3600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3. Apakah kita dapat menebak total harganya dengan mudah?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124341" y="5339383"/>
            <a:ext cx="3134959" cy="616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1"/>
              </a:lnSpc>
            </a:pPr>
            <a:r>
              <a:rPr lang="en-US" sz="3501" spc="731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Toko kue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48278" y="3454117"/>
            <a:ext cx="14143543" cy="688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4"/>
              </a:lnSpc>
            </a:pPr>
            <a:r>
              <a:rPr lang="en-US" sz="3600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Ya, karena kita hanya perlu menghitung harganya dengan cara 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48278" y="4455033"/>
            <a:ext cx="7861832" cy="688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4"/>
              </a:lnSpc>
            </a:pPr>
            <a:r>
              <a:rPr lang="en-US" sz="3600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= (Banyaknya bolu ⨯ 8.000) + 2.000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48278" y="5457825"/>
            <a:ext cx="11677384" cy="1412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4"/>
              </a:lnSpc>
            </a:pPr>
            <a:r>
              <a:rPr lang="en-US" sz="3600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Kita dapat menyatakan cara tersebut menggunakan notasi formula fungsi yaitu :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5492146" y="7011174"/>
            <a:ext cx="7303707" cy="1777294"/>
            <a:chOff x="0" y="0"/>
            <a:chExt cx="1923610" cy="46809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923610" cy="468094"/>
            </a:xfrm>
            <a:custGeom>
              <a:avLst/>
              <a:gdLst/>
              <a:ahLst/>
              <a:cxnLst/>
              <a:rect r="r" b="b" t="t" l="l"/>
              <a:pathLst>
                <a:path h="468094" w="1923610">
                  <a:moveTo>
                    <a:pt x="54060" y="0"/>
                  </a:moveTo>
                  <a:lnTo>
                    <a:pt x="1869550" y="0"/>
                  </a:lnTo>
                  <a:cubicBezTo>
                    <a:pt x="1883888" y="0"/>
                    <a:pt x="1897638" y="5696"/>
                    <a:pt x="1907776" y="15834"/>
                  </a:cubicBezTo>
                  <a:cubicBezTo>
                    <a:pt x="1917915" y="25972"/>
                    <a:pt x="1923610" y="39722"/>
                    <a:pt x="1923610" y="54060"/>
                  </a:cubicBezTo>
                  <a:lnTo>
                    <a:pt x="1923610" y="414034"/>
                  </a:lnTo>
                  <a:cubicBezTo>
                    <a:pt x="1923610" y="428372"/>
                    <a:pt x="1917915" y="442122"/>
                    <a:pt x="1907776" y="452260"/>
                  </a:cubicBezTo>
                  <a:cubicBezTo>
                    <a:pt x="1897638" y="462398"/>
                    <a:pt x="1883888" y="468094"/>
                    <a:pt x="1869550" y="468094"/>
                  </a:cubicBezTo>
                  <a:lnTo>
                    <a:pt x="54060" y="468094"/>
                  </a:lnTo>
                  <a:cubicBezTo>
                    <a:pt x="39722" y="468094"/>
                    <a:pt x="25972" y="462398"/>
                    <a:pt x="15834" y="452260"/>
                  </a:cubicBezTo>
                  <a:cubicBezTo>
                    <a:pt x="5696" y="442122"/>
                    <a:pt x="0" y="428372"/>
                    <a:pt x="0" y="414034"/>
                  </a:cubicBezTo>
                  <a:lnTo>
                    <a:pt x="0" y="54060"/>
                  </a:lnTo>
                  <a:cubicBezTo>
                    <a:pt x="0" y="39722"/>
                    <a:pt x="5696" y="25972"/>
                    <a:pt x="15834" y="15834"/>
                  </a:cubicBezTo>
                  <a:cubicBezTo>
                    <a:pt x="25972" y="5696"/>
                    <a:pt x="39722" y="0"/>
                    <a:pt x="54060" y="0"/>
                  </a:cubicBezTo>
                  <a:close/>
                </a:path>
              </a:pathLst>
            </a:custGeom>
            <a:solidFill>
              <a:srgbClr val="4B4444"/>
            </a:solidFill>
            <a:ln w="47625" cap="rnd">
              <a:solidFill>
                <a:srgbClr val="CFCECE"/>
              </a:solidFill>
              <a:prstDash val="lgDash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923610" cy="5061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5213084" y="7468374"/>
            <a:ext cx="7861832" cy="688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24"/>
              </a:lnSpc>
            </a:pPr>
            <a:r>
              <a:rPr lang="en-US" sz="3600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f(b) = 8.000 b + 2.000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27B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1130" y="486490"/>
            <a:ext cx="17265740" cy="9314020"/>
            <a:chOff x="0" y="0"/>
            <a:chExt cx="4547355" cy="24530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47355" cy="2453075"/>
            </a:xfrm>
            <a:custGeom>
              <a:avLst/>
              <a:gdLst/>
              <a:ahLst/>
              <a:cxnLst/>
              <a:rect r="r" b="b" t="t" l="l"/>
              <a:pathLst>
                <a:path h="2453075" w="4547355">
                  <a:moveTo>
                    <a:pt x="22868" y="0"/>
                  </a:moveTo>
                  <a:lnTo>
                    <a:pt x="4524487" y="0"/>
                  </a:lnTo>
                  <a:cubicBezTo>
                    <a:pt x="4530552" y="0"/>
                    <a:pt x="4536369" y="2409"/>
                    <a:pt x="4540657" y="6698"/>
                  </a:cubicBezTo>
                  <a:cubicBezTo>
                    <a:pt x="4544946" y="10987"/>
                    <a:pt x="4547355" y="16803"/>
                    <a:pt x="4547355" y="22868"/>
                  </a:cubicBezTo>
                  <a:lnTo>
                    <a:pt x="4547355" y="2430207"/>
                  </a:lnTo>
                  <a:cubicBezTo>
                    <a:pt x="4547355" y="2436272"/>
                    <a:pt x="4544946" y="2442089"/>
                    <a:pt x="4540657" y="2446377"/>
                  </a:cubicBezTo>
                  <a:cubicBezTo>
                    <a:pt x="4536369" y="2450666"/>
                    <a:pt x="4530552" y="2453075"/>
                    <a:pt x="4524487" y="2453075"/>
                  </a:cubicBezTo>
                  <a:lnTo>
                    <a:pt x="22868" y="2453075"/>
                  </a:lnTo>
                  <a:cubicBezTo>
                    <a:pt x="16803" y="2453075"/>
                    <a:pt x="10987" y="2450666"/>
                    <a:pt x="6698" y="2446377"/>
                  </a:cubicBezTo>
                  <a:cubicBezTo>
                    <a:pt x="2409" y="2442089"/>
                    <a:pt x="0" y="2436272"/>
                    <a:pt x="0" y="2430207"/>
                  </a:cubicBezTo>
                  <a:lnTo>
                    <a:pt x="0" y="22868"/>
                  </a:lnTo>
                  <a:cubicBezTo>
                    <a:pt x="0" y="16803"/>
                    <a:pt x="2409" y="10987"/>
                    <a:pt x="6698" y="6698"/>
                  </a:cubicBezTo>
                  <a:cubicBezTo>
                    <a:pt x="10987" y="2409"/>
                    <a:pt x="16803" y="0"/>
                    <a:pt x="22868" y="0"/>
                  </a:cubicBezTo>
                  <a:close/>
                </a:path>
              </a:pathLst>
            </a:custGeom>
            <a:solidFill>
              <a:srgbClr val="4B444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47355" cy="2491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4748493">
            <a:off x="13490128" y="9480494"/>
            <a:ext cx="561536" cy="1002636"/>
          </a:xfrm>
          <a:custGeom>
            <a:avLst/>
            <a:gdLst/>
            <a:ahLst/>
            <a:cxnLst/>
            <a:rect r="r" b="b" t="t" l="l"/>
            <a:pathLst>
              <a:path h="1002636" w="561536">
                <a:moveTo>
                  <a:pt x="0" y="0"/>
                </a:moveTo>
                <a:lnTo>
                  <a:pt x="561536" y="0"/>
                </a:lnTo>
                <a:lnTo>
                  <a:pt x="561536" y="1002636"/>
                </a:lnTo>
                <a:lnTo>
                  <a:pt x="0" y="10026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3811001" y="9513286"/>
            <a:ext cx="2658043" cy="838707"/>
            <a:chOff x="0" y="0"/>
            <a:chExt cx="3544058" cy="1118275"/>
          </a:xfrm>
        </p:grpSpPr>
        <p:grpSp>
          <p:nvGrpSpPr>
            <p:cNvPr name="Group 7" id="7"/>
            <p:cNvGrpSpPr/>
            <p:nvPr/>
          </p:nvGrpSpPr>
          <p:grpSpPr>
            <a:xfrm rot="117060">
              <a:off x="27116" y="59305"/>
              <a:ext cx="3500940" cy="999666"/>
              <a:chOff x="0" y="0"/>
              <a:chExt cx="1753351" cy="500655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753351" cy="500655"/>
              </a:xfrm>
              <a:custGeom>
                <a:avLst/>
                <a:gdLst/>
                <a:ahLst/>
                <a:cxnLst/>
                <a:rect r="r" b="b" t="t" l="l"/>
                <a:pathLst>
                  <a:path h="500655" w="1753351">
                    <a:moveTo>
                      <a:pt x="0" y="0"/>
                    </a:moveTo>
                    <a:lnTo>
                      <a:pt x="1753351" y="0"/>
                    </a:lnTo>
                    <a:lnTo>
                      <a:pt x="1753351" y="500655"/>
                    </a:lnTo>
                    <a:lnTo>
                      <a:pt x="0" y="500655"/>
                    </a:lnTo>
                    <a:close/>
                  </a:path>
                </a:pathLst>
              </a:custGeom>
              <a:solidFill>
                <a:srgbClr val="868383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1753351" cy="538755"/>
              </a:xfrm>
              <a:prstGeom prst="rect">
                <a:avLst/>
              </a:prstGeom>
            </p:spPr>
            <p:txBody>
              <a:bodyPr anchor="ctr" rtlCol="false" tIns="30924" lIns="30924" bIns="30924" rIns="30924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10" id="10"/>
            <p:cNvSpPr/>
            <p:nvPr/>
          </p:nvSpPr>
          <p:spPr>
            <a:xfrm flipH="false" flipV="false" rot="0">
              <a:off x="0" y="19781"/>
              <a:ext cx="3518253" cy="1062256"/>
            </a:xfrm>
            <a:custGeom>
              <a:avLst/>
              <a:gdLst/>
              <a:ahLst/>
              <a:cxnLst/>
              <a:rect r="r" b="b" t="t" l="l"/>
              <a:pathLst>
                <a:path h="1062256" w="3518253">
                  <a:moveTo>
                    <a:pt x="0" y="0"/>
                  </a:moveTo>
                  <a:lnTo>
                    <a:pt x="3518253" y="0"/>
                  </a:lnTo>
                  <a:lnTo>
                    <a:pt x="3518253" y="1062256"/>
                  </a:lnTo>
                  <a:lnTo>
                    <a:pt x="0" y="10622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3770896" y="7667506"/>
            <a:ext cx="3358000" cy="1288251"/>
          </a:xfrm>
          <a:custGeom>
            <a:avLst/>
            <a:gdLst/>
            <a:ahLst/>
            <a:cxnLst/>
            <a:rect r="r" b="b" t="t" l="l"/>
            <a:pathLst>
              <a:path h="1288251" w="3358000">
                <a:moveTo>
                  <a:pt x="0" y="0"/>
                </a:moveTo>
                <a:lnTo>
                  <a:pt x="3358000" y="0"/>
                </a:lnTo>
                <a:lnTo>
                  <a:pt x="3358000" y="1288251"/>
                </a:lnTo>
                <a:lnTo>
                  <a:pt x="0" y="128825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355817" y="885825"/>
            <a:ext cx="13576365" cy="1236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b="true" sz="7200">
                <a:solidFill>
                  <a:srgbClr val="FFA3C1"/>
                </a:solidFill>
                <a:latin typeface="One Little Font Bold"/>
                <a:ea typeface="One Little Font Bold"/>
                <a:cs typeface="One Little Font Bold"/>
                <a:sym typeface="One Little Font Bold"/>
              </a:rPr>
              <a:t>Studi Kasus 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2551104"/>
            <a:ext cx="16100196" cy="1412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4"/>
              </a:lnSpc>
            </a:pPr>
            <a:r>
              <a:rPr lang="en-US" sz="3600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Sebuah perusahaan taksi memasang tarif  Rp 5.000 sebagai tarif layanan pada setiap pesanan taksi. Selanjutnya tarif perjalanan yaitu Rp 3.000 per km.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4706421"/>
            <a:ext cx="11335062" cy="3110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0" indent="-388620" lvl="1">
              <a:lnSpc>
                <a:spcPts val="6228"/>
              </a:lnSpc>
              <a:buAutoNum type="arabicPeriod" startAt="1"/>
            </a:pPr>
            <a:r>
              <a:rPr lang="en-US" sz="3600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Berapa total tarif untuk perjalanan sejauh 5 km?</a:t>
            </a:r>
          </a:p>
          <a:p>
            <a:pPr algn="l" marL="777240" indent="-388620" lvl="1">
              <a:lnSpc>
                <a:spcPts val="6228"/>
              </a:lnSpc>
              <a:buAutoNum type="arabicPeriod" startAt="1"/>
            </a:pPr>
            <a:r>
              <a:rPr lang="en-US" sz="3600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Berapa total tarif untuk perjalanan sejauh 12 km?</a:t>
            </a:r>
          </a:p>
          <a:p>
            <a:pPr algn="l" marL="777240" indent="-388620" lvl="1">
              <a:lnSpc>
                <a:spcPts val="6228"/>
              </a:lnSpc>
              <a:buAutoNum type="arabicPeriod" startAt="1"/>
            </a:pPr>
            <a:r>
              <a:rPr lang="en-US" sz="3600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Buatlah model matematika dari kasus ini! Apa yang dapat kamu prediksikan?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124341" y="6592328"/>
            <a:ext cx="3134959" cy="616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1"/>
              </a:lnSpc>
            </a:pPr>
            <a:r>
              <a:rPr lang="en-US" sz="3501" spc="731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tarif taksi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27B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1130" y="486490"/>
            <a:ext cx="17265740" cy="9314020"/>
            <a:chOff x="0" y="0"/>
            <a:chExt cx="4547355" cy="24530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47355" cy="2453075"/>
            </a:xfrm>
            <a:custGeom>
              <a:avLst/>
              <a:gdLst/>
              <a:ahLst/>
              <a:cxnLst/>
              <a:rect r="r" b="b" t="t" l="l"/>
              <a:pathLst>
                <a:path h="2453075" w="4547355">
                  <a:moveTo>
                    <a:pt x="22868" y="0"/>
                  </a:moveTo>
                  <a:lnTo>
                    <a:pt x="4524487" y="0"/>
                  </a:lnTo>
                  <a:cubicBezTo>
                    <a:pt x="4530552" y="0"/>
                    <a:pt x="4536369" y="2409"/>
                    <a:pt x="4540657" y="6698"/>
                  </a:cubicBezTo>
                  <a:cubicBezTo>
                    <a:pt x="4544946" y="10987"/>
                    <a:pt x="4547355" y="16803"/>
                    <a:pt x="4547355" y="22868"/>
                  </a:cubicBezTo>
                  <a:lnTo>
                    <a:pt x="4547355" y="2430207"/>
                  </a:lnTo>
                  <a:cubicBezTo>
                    <a:pt x="4547355" y="2436272"/>
                    <a:pt x="4544946" y="2442089"/>
                    <a:pt x="4540657" y="2446377"/>
                  </a:cubicBezTo>
                  <a:cubicBezTo>
                    <a:pt x="4536369" y="2450666"/>
                    <a:pt x="4530552" y="2453075"/>
                    <a:pt x="4524487" y="2453075"/>
                  </a:cubicBezTo>
                  <a:lnTo>
                    <a:pt x="22868" y="2453075"/>
                  </a:lnTo>
                  <a:cubicBezTo>
                    <a:pt x="16803" y="2453075"/>
                    <a:pt x="10987" y="2450666"/>
                    <a:pt x="6698" y="2446377"/>
                  </a:cubicBezTo>
                  <a:cubicBezTo>
                    <a:pt x="2409" y="2442089"/>
                    <a:pt x="0" y="2436272"/>
                    <a:pt x="0" y="2430207"/>
                  </a:cubicBezTo>
                  <a:lnTo>
                    <a:pt x="0" y="22868"/>
                  </a:lnTo>
                  <a:cubicBezTo>
                    <a:pt x="0" y="16803"/>
                    <a:pt x="2409" y="10987"/>
                    <a:pt x="6698" y="6698"/>
                  </a:cubicBezTo>
                  <a:cubicBezTo>
                    <a:pt x="10987" y="2409"/>
                    <a:pt x="16803" y="0"/>
                    <a:pt x="22868" y="0"/>
                  </a:cubicBezTo>
                  <a:close/>
                </a:path>
              </a:pathLst>
            </a:custGeom>
            <a:solidFill>
              <a:srgbClr val="4B444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47355" cy="2491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4748493">
            <a:off x="13490128" y="9480494"/>
            <a:ext cx="561536" cy="1002636"/>
          </a:xfrm>
          <a:custGeom>
            <a:avLst/>
            <a:gdLst/>
            <a:ahLst/>
            <a:cxnLst/>
            <a:rect r="r" b="b" t="t" l="l"/>
            <a:pathLst>
              <a:path h="1002636" w="561536">
                <a:moveTo>
                  <a:pt x="0" y="0"/>
                </a:moveTo>
                <a:lnTo>
                  <a:pt x="561536" y="0"/>
                </a:lnTo>
                <a:lnTo>
                  <a:pt x="561536" y="1002636"/>
                </a:lnTo>
                <a:lnTo>
                  <a:pt x="0" y="10026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3811001" y="9513286"/>
            <a:ext cx="2658043" cy="838707"/>
            <a:chOff x="0" y="0"/>
            <a:chExt cx="3544058" cy="1118275"/>
          </a:xfrm>
        </p:grpSpPr>
        <p:grpSp>
          <p:nvGrpSpPr>
            <p:cNvPr name="Group 7" id="7"/>
            <p:cNvGrpSpPr/>
            <p:nvPr/>
          </p:nvGrpSpPr>
          <p:grpSpPr>
            <a:xfrm rot="117060">
              <a:off x="27116" y="59305"/>
              <a:ext cx="3500940" cy="999666"/>
              <a:chOff x="0" y="0"/>
              <a:chExt cx="1753351" cy="500655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753351" cy="500655"/>
              </a:xfrm>
              <a:custGeom>
                <a:avLst/>
                <a:gdLst/>
                <a:ahLst/>
                <a:cxnLst/>
                <a:rect r="r" b="b" t="t" l="l"/>
                <a:pathLst>
                  <a:path h="500655" w="1753351">
                    <a:moveTo>
                      <a:pt x="0" y="0"/>
                    </a:moveTo>
                    <a:lnTo>
                      <a:pt x="1753351" y="0"/>
                    </a:lnTo>
                    <a:lnTo>
                      <a:pt x="1753351" y="500655"/>
                    </a:lnTo>
                    <a:lnTo>
                      <a:pt x="0" y="500655"/>
                    </a:lnTo>
                    <a:close/>
                  </a:path>
                </a:pathLst>
              </a:custGeom>
              <a:solidFill>
                <a:srgbClr val="868383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1753351" cy="538755"/>
              </a:xfrm>
              <a:prstGeom prst="rect">
                <a:avLst/>
              </a:prstGeom>
            </p:spPr>
            <p:txBody>
              <a:bodyPr anchor="ctr" rtlCol="false" tIns="30924" lIns="30924" bIns="30924" rIns="30924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10" id="10"/>
            <p:cNvSpPr/>
            <p:nvPr/>
          </p:nvSpPr>
          <p:spPr>
            <a:xfrm flipH="false" flipV="false" rot="0">
              <a:off x="0" y="19781"/>
              <a:ext cx="3518253" cy="1062256"/>
            </a:xfrm>
            <a:custGeom>
              <a:avLst/>
              <a:gdLst/>
              <a:ahLst/>
              <a:cxnLst/>
              <a:rect r="r" b="b" t="t" l="l"/>
              <a:pathLst>
                <a:path h="1062256" w="3518253">
                  <a:moveTo>
                    <a:pt x="0" y="0"/>
                  </a:moveTo>
                  <a:lnTo>
                    <a:pt x="3518253" y="0"/>
                  </a:lnTo>
                  <a:lnTo>
                    <a:pt x="3518253" y="1062256"/>
                  </a:lnTo>
                  <a:lnTo>
                    <a:pt x="0" y="10622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2355817" y="885825"/>
            <a:ext cx="13576365" cy="1236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b="true" sz="7200">
                <a:solidFill>
                  <a:srgbClr val="FFA3C1"/>
                </a:solidFill>
                <a:latin typeface="One Little Font Bold"/>
                <a:ea typeface="One Little Font Bold"/>
                <a:cs typeface="One Little Font Bold"/>
                <a:sym typeface="One Little Font Bold"/>
              </a:rPr>
              <a:t>Studi Kasus 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2551104"/>
            <a:ext cx="14367785" cy="688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4"/>
              </a:lnSpc>
            </a:pPr>
            <a:r>
              <a:rPr lang="en-US" sz="3600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1. Total tarif untuk perjalanan sejauh 5km 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76779" y="3362360"/>
            <a:ext cx="4525446" cy="688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4"/>
              </a:lnSpc>
            </a:pPr>
            <a:r>
              <a:rPr lang="en-US" sz="3600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= (5 ⨯ 3.000) + 5.000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76779" y="4174652"/>
            <a:ext cx="4525446" cy="688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4"/>
              </a:lnSpc>
            </a:pPr>
            <a:r>
              <a:rPr lang="en-US" sz="3600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= 15.000 + 5.000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76779" y="4986944"/>
            <a:ext cx="4525446" cy="688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4"/>
              </a:lnSpc>
            </a:pPr>
            <a:r>
              <a:rPr lang="en-US" sz="3600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= 20.000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6079339"/>
            <a:ext cx="14367785" cy="688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4"/>
              </a:lnSpc>
            </a:pPr>
            <a:r>
              <a:rPr lang="en-US" sz="3600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2. Total tarif untuk perjalanan sejauh 12km :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76779" y="6890596"/>
            <a:ext cx="5832197" cy="688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4"/>
              </a:lnSpc>
            </a:pPr>
            <a:r>
              <a:rPr lang="en-US" sz="3600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= (12 ⨯ 3.000) + 5.000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776779" y="7702888"/>
            <a:ext cx="4525446" cy="688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4"/>
              </a:lnSpc>
            </a:pPr>
            <a:r>
              <a:rPr lang="en-US" sz="3600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= 36.000 + 5.000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776779" y="8515180"/>
            <a:ext cx="4525446" cy="688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4"/>
              </a:lnSpc>
            </a:pPr>
            <a:r>
              <a:rPr lang="en-US" sz="3600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= 41.000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3770896" y="7667506"/>
            <a:ext cx="3358000" cy="1288251"/>
          </a:xfrm>
          <a:custGeom>
            <a:avLst/>
            <a:gdLst/>
            <a:ahLst/>
            <a:cxnLst/>
            <a:rect r="r" b="b" t="t" l="l"/>
            <a:pathLst>
              <a:path h="1288251" w="3358000">
                <a:moveTo>
                  <a:pt x="0" y="0"/>
                </a:moveTo>
                <a:lnTo>
                  <a:pt x="3358000" y="0"/>
                </a:lnTo>
                <a:lnTo>
                  <a:pt x="3358000" y="1288251"/>
                </a:lnTo>
                <a:lnTo>
                  <a:pt x="0" y="128825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4124341" y="6592328"/>
            <a:ext cx="3134959" cy="616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1"/>
              </a:lnSpc>
            </a:pPr>
            <a:r>
              <a:rPr lang="en-US" sz="3501" spc="731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tarif taksi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27B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1130" y="486490"/>
            <a:ext cx="17265740" cy="9314020"/>
            <a:chOff x="0" y="0"/>
            <a:chExt cx="4547355" cy="24530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47355" cy="2453075"/>
            </a:xfrm>
            <a:custGeom>
              <a:avLst/>
              <a:gdLst/>
              <a:ahLst/>
              <a:cxnLst/>
              <a:rect r="r" b="b" t="t" l="l"/>
              <a:pathLst>
                <a:path h="2453075" w="4547355">
                  <a:moveTo>
                    <a:pt x="22868" y="0"/>
                  </a:moveTo>
                  <a:lnTo>
                    <a:pt x="4524487" y="0"/>
                  </a:lnTo>
                  <a:cubicBezTo>
                    <a:pt x="4530552" y="0"/>
                    <a:pt x="4536369" y="2409"/>
                    <a:pt x="4540657" y="6698"/>
                  </a:cubicBezTo>
                  <a:cubicBezTo>
                    <a:pt x="4544946" y="10987"/>
                    <a:pt x="4547355" y="16803"/>
                    <a:pt x="4547355" y="22868"/>
                  </a:cubicBezTo>
                  <a:lnTo>
                    <a:pt x="4547355" y="2430207"/>
                  </a:lnTo>
                  <a:cubicBezTo>
                    <a:pt x="4547355" y="2436272"/>
                    <a:pt x="4544946" y="2442089"/>
                    <a:pt x="4540657" y="2446377"/>
                  </a:cubicBezTo>
                  <a:cubicBezTo>
                    <a:pt x="4536369" y="2450666"/>
                    <a:pt x="4530552" y="2453075"/>
                    <a:pt x="4524487" y="2453075"/>
                  </a:cubicBezTo>
                  <a:lnTo>
                    <a:pt x="22868" y="2453075"/>
                  </a:lnTo>
                  <a:cubicBezTo>
                    <a:pt x="16803" y="2453075"/>
                    <a:pt x="10987" y="2450666"/>
                    <a:pt x="6698" y="2446377"/>
                  </a:cubicBezTo>
                  <a:cubicBezTo>
                    <a:pt x="2409" y="2442089"/>
                    <a:pt x="0" y="2436272"/>
                    <a:pt x="0" y="2430207"/>
                  </a:cubicBezTo>
                  <a:lnTo>
                    <a:pt x="0" y="22868"/>
                  </a:lnTo>
                  <a:cubicBezTo>
                    <a:pt x="0" y="16803"/>
                    <a:pt x="2409" y="10987"/>
                    <a:pt x="6698" y="6698"/>
                  </a:cubicBezTo>
                  <a:cubicBezTo>
                    <a:pt x="10987" y="2409"/>
                    <a:pt x="16803" y="0"/>
                    <a:pt x="22868" y="0"/>
                  </a:cubicBezTo>
                  <a:close/>
                </a:path>
              </a:pathLst>
            </a:custGeom>
            <a:solidFill>
              <a:srgbClr val="4B444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47355" cy="2491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4748493">
            <a:off x="13490128" y="9480494"/>
            <a:ext cx="561536" cy="1002636"/>
          </a:xfrm>
          <a:custGeom>
            <a:avLst/>
            <a:gdLst/>
            <a:ahLst/>
            <a:cxnLst/>
            <a:rect r="r" b="b" t="t" l="l"/>
            <a:pathLst>
              <a:path h="1002636" w="561536">
                <a:moveTo>
                  <a:pt x="0" y="0"/>
                </a:moveTo>
                <a:lnTo>
                  <a:pt x="561536" y="0"/>
                </a:lnTo>
                <a:lnTo>
                  <a:pt x="561536" y="1002636"/>
                </a:lnTo>
                <a:lnTo>
                  <a:pt x="0" y="10026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3811001" y="9513286"/>
            <a:ext cx="2658043" cy="838707"/>
            <a:chOff x="0" y="0"/>
            <a:chExt cx="3544058" cy="1118275"/>
          </a:xfrm>
        </p:grpSpPr>
        <p:grpSp>
          <p:nvGrpSpPr>
            <p:cNvPr name="Group 7" id="7"/>
            <p:cNvGrpSpPr/>
            <p:nvPr/>
          </p:nvGrpSpPr>
          <p:grpSpPr>
            <a:xfrm rot="117060">
              <a:off x="27116" y="59305"/>
              <a:ext cx="3500940" cy="999666"/>
              <a:chOff x="0" y="0"/>
              <a:chExt cx="1753351" cy="500655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753351" cy="500655"/>
              </a:xfrm>
              <a:custGeom>
                <a:avLst/>
                <a:gdLst/>
                <a:ahLst/>
                <a:cxnLst/>
                <a:rect r="r" b="b" t="t" l="l"/>
                <a:pathLst>
                  <a:path h="500655" w="1753351">
                    <a:moveTo>
                      <a:pt x="0" y="0"/>
                    </a:moveTo>
                    <a:lnTo>
                      <a:pt x="1753351" y="0"/>
                    </a:lnTo>
                    <a:lnTo>
                      <a:pt x="1753351" y="500655"/>
                    </a:lnTo>
                    <a:lnTo>
                      <a:pt x="0" y="500655"/>
                    </a:lnTo>
                    <a:close/>
                  </a:path>
                </a:pathLst>
              </a:custGeom>
              <a:solidFill>
                <a:srgbClr val="868383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1753351" cy="538755"/>
              </a:xfrm>
              <a:prstGeom prst="rect">
                <a:avLst/>
              </a:prstGeom>
            </p:spPr>
            <p:txBody>
              <a:bodyPr anchor="ctr" rtlCol="false" tIns="30924" lIns="30924" bIns="30924" rIns="30924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10" id="10"/>
            <p:cNvSpPr/>
            <p:nvPr/>
          </p:nvSpPr>
          <p:spPr>
            <a:xfrm flipH="false" flipV="false" rot="0">
              <a:off x="0" y="19781"/>
              <a:ext cx="3518253" cy="1062256"/>
            </a:xfrm>
            <a:custGeom>
              <a:avLst/>
              <a:gdLst/>
              <a:ahLst/>
              <a:cxnLst/>
              <a:rect r="r" b="b" t="t" l="l"/>
              <a:pathLst>
                <a:path h="1062256" w="3518253">
                  <a:moveTo>
                    <a:pt x="0" y="0"/>
                  </a:moveTo>
                  <a:lnTo>
                    <a:pt x="3518253" y="0"/>
                  </a:lnTo>
                  <a:lnTo>
                    <a:pt x="3518253" y="1062256"/>
                  </a:lnTo>
                  <a:lnTo>
                    <a:pt x="0" y="10622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2355817" y="885825"/>
            <a:ext cx="13576365" cy="1236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b="true" sz="7200">
                <a:solidFill>
                  <a:srgbClr val="FFA3C1"/>
                </a:solidFill>
                <a:latin typeface="One Little Font Bold"/>
                <a:ea typeface="One Little Font Bold"/>
                <a:cs typeface="One Little Font Bold"/>
                <a:sym typeface="One Little Font Bold"/>
              </a:rPr>
              <a:t>Studi Kasus 2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3770896" y="7667506"/>
            <a:ext cx="3358000" cy="1288251"/>
          </a:xfrm>
          <a:custGeom>
            <a:avLst/>
            <a:gdLst/>
            <a:ahLst/>
            <a:cxnLst/>
            <a:rect r="r" b="b" t="t" l="l"/>
            <a:pathLst>
              <a:path h="1288251" w="3358000">
                <a:moveTo>
                  <a:pt x="0" y="0"/>
                </a:moveTo>
                <a:lnTo>
                  <a:pt x="3358000" y="0"/>
                </a:lnTo>
                <a:lnTo>
                  <a:pt x="3358000" y="1288251"/>
                </a:lnTo>
                <a:lnTo>
                  <a:pt x="0" y="128825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4124341" y="6592328"/>
            <a:ext cx="3134959" cy="616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1"/>
              </a:lnSpc>
            </a:pPr>
            <a:r>
              <a:rPr lang="en-US" sz="3501" spc="731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tarif taksi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2551104"/>
            <a:ext cx="14367785" cy="688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4"/>
              </a:lnSpc>
            </a:pPr>
            <a:r>
              <a:rPr lang="en-US" sz="3600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3. Model matematika pada kasus ini :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6255139"/>
            <a:ext cx="11677384" cy="1412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4"/>
              </a:lnSpc>
            </a:pPr>
            <a:r>
              <a:rPr lang="en-US" sz="3600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Kita dapat memprediksi total tarif taksi berdasarkan jarak perjalanan yang ditempuh.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5492146" y="3811071"/>
            <a:ext cx="7303707" cy="1777294"/>
            <a:chOff x="0" y="0"/>
            <a:chExt cx="1923610" cy="46809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23610" cy="468094"/>
            </a:xfrm>
            <a:custGeom>
              <a:avLst/>
              <a:gdLst/>
              <a:ahLst/>
              <a:cxnLst/>
              <a:rect r="r" b="b" t="t" l="l"/>
              <a:pathLst>
                <a:path h="468094" w="1923610">
                  <a:moveTo>
                    <a:pt x="54060" y="0"/>
                  </a:moveTo>
                  <a:lnTo>
                    <a:pt x="1869550" y="0"/>
                  </a:lnTo>
                  <a:cubicBezTo>
                    <a:pt x="1883888" y="0"/>
                    <a:pt x="1897638" y="5696"/>
                    <a:pt x="1907776" y="15834"/>
                  </a:cubicBezTo>
                  <a:cubicBezTo>
                    <a:pt x="1917915" y="25972"/>
                    <a:pt x="1923610" y="39722"/>
                    <a:pt x="1923610" y="54060"/>
                  </a:cubicBezTo>
                  <a:lnTo>
                    <a:pt x="1923610" y="414034"/>
                  </a:lnTo>
                  <a:cubicBezTo>
                    <a:pt x="1923610" y="428372"/>
                    <a:pt x="1917915" y="442122"/>
                    <a:pt x="1907776" y="452260"/>
                  </a:cubicBezTo>
                  <a:cubicBezTo>
                    <a:pt x="1897638" y="462398"/>
                    <a:pt x="1883888" y="468094"/>
                    <a:pt x="1869550" y="468094"/>
                  </a:cubicBezTo>
                  <a:lnTo>
                    <a:pt x="54060" y="468094"/>
                  </a:lnTo>
                  <a:cubicBezTo>
                    <a:pt x="39722" y="468094"/>
                    <a:pt x="25972" y="462398"/>
                    <a:pt x="15834" y="452260"/>
                  </a:cubicBezTo>
                  <a:cubicBezTo>
                    <a:pt x="5696" y="442122"/>
                    <a:pt x="0" y="428372"/>
                    <a:pt x="0" y="414034"/>
                  </a:cubicBezTo>
                  <a:lnTo>
                    <a:pt x="0" y="54060"/>
                  </a:lnTo>
                  <a:cubicBezTo>
                    <a:pt x="0" y="39722"/>
                    <a:pt x="5696" y="25972"/>
                    <a:pt x="15834" y="15834"/>
                  </a:cubicBezTo>
                  <a:cubicBezTo>
                    <a:pt x="25972" y="5696"/>
                    <a:pt x="39722" y="0"/>
                    <a:pt x="54060" y="0"/>
                  </a:cubicBezTo>
                  <a:close/>
                </a:path>
              </a:pathLst>
            </a:custGeom>
            <a:solidFill>
              <a:srgbClr val="4B4444"/>
            </a:solidFill>
            <a:ln w="47625" cap="rnd">
              <a:solidFill>
                <a:srgbClr val="CFCECE"/>
              </a:solidFill>
              <a:prstDash val="lgDash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923610" cy="5061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5213084" y="4268271"/>
            <a:ext cx="7861832" cy="688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24"/>
              </a:lnSpc>
            </a:pPr>
            <a:r>
              <a:rPr lang="en-US" sz="3600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f(t) = 3.000 t + 5.000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27B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1130" y="486490"/>
            <a:ext cx="17265740" cy="9314020"/>
            <a:chOff x="0" y="0"/>
            <a:chExt cx="4547355" cy="24530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47355" cy="2453075"/>
            </a:xfrm>
            <a:custGeom>
              <a:avLst/>
              <a:gdLst/>
              <a:ahLst/>
              <a:cxnLst/>
              <a:rect r="r" b="b" t="t" l="l"/>
              <a:pathLst>
                <a:path h="2453075" w="4547355">
                  <a:moveTo>
                    <a:pt x="22868" y="0"/>
                  </a:moveTo>
                  <a:lnTo>
                    <a:pt x="4524487" y="0"/>
                  </a:lnTo>
                  <a:cubicBezTo>
                    <a:pt x="4530552" y="0"/>
                    <a:pt x="4536369" y="2409"/>
                    <a:pt x="4540657" y="6698"/>
                  </a:cubicBezTo>
                  <a:cubicBezTo>
                    <a:pt x="4544946" y="10987"/>
                    <a:pt x="4547355" y="16803"/>
                    <a:pt x="4547355" y="22868"/>
                  </a:cubicBezTo>
                  <a:lnTo>
                    <a:pt x="4547355" y="2430207"/>
                  </a:lnTo>
                  <a:cubicBezTo>
                    <a:pt x="4547355" y="2436272"/>
                    <a:pt x="4544946" y="2442089"/>
                    <a:pt x="4540657" y="2446377"/>
                  </a:cubicBezTo>
                  <a:cubicBezTo>
                    <a:pt x="4536369" y="2450666"/>
                    <a:pt x="4530552" y="2453075"/>
                    <a:pt x="4524487" y="2453075"/>
                  </a:cubicBezTo>
                  <a:lnTo>
                    <a:pt x="22868" y="2453075"/>
                  </a:lnTo>
                  <a:cubicBezTo>
                    <a:pt x="16803" y="2453075"/>
                    <a:pt x="10987" y="2450666"/>
                    <a:pt x="6698" y="2446377"/>
                  </a:cubicBezTo>
                  <a:cubicBezTo>
                    <a:pt x="2409" y="2442089"/>
                    <a:pt x="0" y="2436272"/>
                    <a:pt x="0" y="2430207"/>
                  </a:cubicBezTo>
                  <a:lnTo>
                    <a:pt x="0" y="22868"/>
                  </a:lnTo>
                  <a:cubicBezTo>
                    <a:pt x="0" y="16803"/>
                    <a:pt x="2409" y="10987"/>
                    <a:pt x="6698" y="6698"/>
                  </a:cubicBezTo>
                  <a:cubicBezTo>
                    <a:pt x="10987" y="2409"/>
                    <a:pt x="16803" y="0"/>
                    <a:pt x="22868" y="0"/>
                  </a:cubicBezTo>
                  <a:close/>
                </a:path>
              </a:pathLst>
            </a:custGeom>
            <a:solidFill>
              <a:srgbClr val="4B444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47355" cy="2491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4748493">
            <a:off x="13490128" y="9480494"/>
            <a:ext cx="561536" cy="1002636"/>
          </a:xfrm>
          <a:custGeom>
            <a:avLst/>
            <a:gdLst/>
            <a:ahLst/>
            <a:cxnLst/>
            <a:rect r="r" b="b" t="t" l="l"/>
            <a:pathLst>
              <a:path h="1002636" w="561536">
                <a:moveTo>
                  <a:pt x="0" y="0"/>
                </a:moveTo>
                <a:lnTo>
                  <a:pt x="561536" y="0"/>
                </a:lnTo>
                <a:lnTo>
                  <a:pt x="561536" y="1002636"/>
                </a:lnTo>
                <a:lnTo>
                  <a:pt x="0" y="10026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3811001" y="9513286"/>
            <a:ext cx="2658043" cy="838707"/>
            <a:chOff x="0" y="0"/>
            <a:chExt cx="3544058" cy="1118275"/>
          </a:xfrm>
        </p:grpSpPr>
        <p:grpSp>
          <p:nvGrpSpPr>
            <p:cNvPr name="Group 7" id="7"/>
            <p:cNvGrpSpPr/>
            <p:nvPr/>
          </p:nvGrpSpPr>
          <p:grpSpPr>
            <a:xfrm rot="117060">
              <a:off x="27116" y="59305"/>
              <a:ext cx="3500940" cy="999666"/>
              <a:chOff x="0" y="0"/>
              <a:chExt cx="1753351" cy="500655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753351" cy="500655"/>
              </a:xfrm>
              <a:custGeom>
                <a:avLst/>
                <a:gdLst/>
                <a:ahLst/>
                <a:cxnLst/>
                <a:rect r="r" b="b" t="t" l="l"/>
                <a:pathLst>
                  <a:path h="500655" w="1753351">
                    <a:moveTo>
                      <a:pt x="0" y="0"/>
                    </a:moveTo>
                    <a:lnTo>
                      <a:pt x="1753351" y="0"/>
                    </a:lnTo>
                    <a:lnTo>
                      <a:pt x="1753351" y="500655"/>
                    </a:lnTo>
                    <a:lnTo>
                      <a:pt x="0" y="500655"/>
                    </a:lnTo>
                    <a:close/>
                  </a:path>
                </a:pathLst>
              </a:custGeom>
              <a:solidFill>
                <a:srgbClr val="868383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1753351" cy="538755"/>
              </a:xfrm>
              <a:prstGeom prst="rect">
                <a:avLst/>
              </a:prstGeom>
            </p:spPr>
            <p:txBody>
              <a:bodyPr anchor="ctr" rtlCol="false" tIns="30924" lIns="30924" bIns="30924" rIns="30924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10" id="10"/>
            <p:cNvSpPr/>
            <p:nvPr/>
          </p:nvSpPr>
          <p:spPr>
            <a:xfrm flipH="false" flipV="false" rot="0">
              <a:off x="0" y="19781"/>
              <a:ext cx="3518253" cy="1062256"/>
            </a:xfrm>
            <a:custGeom>
              <a:avLst/>
              <a:gdLst/>
              <a:ahLst/>
              <a:cxnLst/>
              <a:rect r="r" b="b" t="t" l="l"/>
              <a:pathLst>
                <a:path h="1062256" w="3518253">
                  <a:moveTo>
                    <a:pt x="0" y="0"/>
                  </a:moveTo>
                  <a:lnTo>
                    <a:pt x="3518253" y="0"/>
                  </a:lnTo>
                  <a:lnTo>
                    <a:pt x="3518253" y="1062256"/>
                  </a:lnTo>
                  <a:lnTo>
                    <a:pt x="0" y="10622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2355817" y="1155104"/>
            <a:ext cx="13576365" cy="109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b="true" sz="6399" spc="460">
                <a:solidFill>
                  <a:srgbClr val="FFA3C1"/>
                </a:solidFill>
                <a:latin typeface="One Little Font Bold"/>
                <a:ea typeface="One Little Font Bold"/>
                <a:cs typeface="One Little Font Bold"/>
                <a:sym typeface="One Little Font Bold"/>
              </a:rPr>
              <a:t>Variabel Bebas &amp; Variabel Terikat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95519" y="2585114"/>
            <a:ext cx="16063781" cy="1412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4"/>
              </a:lnSpc>
            </a:pPr>
            <a:r>
              <a:rPr lang="en-US" sz="3600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Variabel bebas adalah variabel yang </a:t>
            </a:r>
            <a:r>
              <a:rPr lang="en-US" sz="3600" u="sng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tidak dipengaruhi</a:t>
            </a:r>
            <a:r>
              <a:rPr lang="en-US" sz="3600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 variabel lain, sebaliknya variabel terikat adalah variabel yang nilainya </a:t>
            </a:r>
            <a:r>
              <a:rPr lang="en-US" sz="3600" u="sng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dipengaruhi</a:t>
            </a:r>
            <a:r>
              <a:rPr lang="en-US" sz="3600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 variabel lain.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278083" y="5735124"/>
            <a:ext cx="2510685" cy="811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b="true" sz="4800">
                <a:solidFill>
                  <a:srgbClr val="FFA3C1"/>
                </a:solidFill>
                <a:latin typeface="One Little Font Bold"/>
                <a:ea typeface="One Little Font Bold"/>
                <a:cs typeface="One Little Font Bold"/>
                <a:sym typeface="One Little Font Bold"/>
              </a:rPr>
              <a:t>f(x)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319661" y="5735124"/>
            <a:ext cx="2510685" cy="811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b="true" sz="4800">
                <a:solidFill>
                  <a:srgbClr val="FFA3C1"/>
                </a:solidFill>
                <a:latin typeface="One Little Font Bold"/>
                <a:ea typeface="One Little Font Bold"/>
                <a:cs typeface="One Little Font Bold"/>
                <a:sym typeface="One Little Font Bold"/>
              </a:rPr>
              <a:t>x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866489" y="4825618"/>
            <a:ext cx="6665967" cy="616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1"/>
              </a:lnSpc>
            </a:pPr>
            <a:r>
              <a:rPr lang="en-US" sz="3501" spc="731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Variabel terikat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325666" y="4825618"/>
            <a:ext cx="6665967" cy="616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1"/>
              </a:lnSpc>
            </a:pPr>
            <a:r>
              <a:rPr lang="en-US" sz="3501" spc="731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Variabel Bebas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151555" y="7117969"/>
            <a:ext cx="6777506" cy="1481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Pada kasus toko kue variabel terikatnya adalah harga total bolu. Pada kasus taksi, variabel terikatnya adalah tarif taksi.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644004" y="7117969"/>
            <a:ext cx="6777506" cy="1481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Pada kasus toko kue variabel bebasnya adalah harga satuan bolu. Pada kasus taksi, variabel terikatnya adalah tarif taksi per km.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27B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1130" y="486490"/>
            <a:ext cx="17265740" cy="9314020"/>
            <a:chOff x="0" y="0"/>
            <a:chExt cx="4547355" cy="24530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47355" cy="2453075"/>
            </a:xfrm>
            <a:custGeom>
              <a:avLst/>
              <a:gdLst/>
              <a:ahLst/>
              <a:cxnLst/>
              <a:rect r="r" b="b" t="t" l="l"/>
              <a:pathLst>
                <a:path h="2453075" w="4547355">
                  <a:moveTo>
                    <a:pt x="22868" y="0"/>
                  </a:moveTo>
                  <a:lnTo>
                    <a:pt x="4524487" y="0"/>
                  </a:lnTo>
                  <a:cubicBezTo>
                    <a:pt x="4530552" y="0"/>
                    <a:pt x="4536369" y="2409"/>
                    <a:pt x="4540657" y="6698"/>
                  </a:cubicBezTo>
                  <a:cubicBezTo>
                    <a:pt x="4544946" y="10987"/>
                    <a:pt x="4547355" y="16803"/>
                    <a:pt x="4547355" y="22868"/>
                  </a:cubicBezTo>
                  <a:lnTo>
                    <a:pt x="4547355" y="2430207"/>
                  </a:lnTo>
                  <a:cubicBezTo>
                    <a:pt x="4547355" y="2436272"/>
                    <a:pt x="4544946" y="2442089"/>
                    <a:pt x="4540657" y="2446377"/>
                  </a:cubicBezTo>
                  <a:cubicBezTo>
                    <a:pt x="4536369" y="2450666"/>
                    <a:pt x="4530552" y="2453075"/>
                    <a:pt x="4524487" y="2453075"/>
                  </a:cubicBezTo>
                  <a:lnTo>
                    <a:pt x="22868" y="2453075"/>
                  </a:lnTo>
                  <a:cubicBezTo>
                    <a:pt x="16803" y="2453075"/>
                    <a:pt x="10987" y="2450666"/>
                    <a:pt x="6698" y="2446377"/>
                  </a:cubicBezTo>
                  <a:cubicBezTo>
                    <a:pt x="2409" y="2442089"/>
                    <a:pt x="0" y="2436272"/>
                    <a:pt x="0" y="2430207"/>
                  </a:cubicBezTo>
                  <a:lnTo>
                    <a:pt x="0" y="22868"/>
                  </a:lnTo>
                  <a:cubicBezTo>
                    <a:pt x="0" y="16803"/>
                    <a:pt x="2409" y="10987"/>
                    <a:pt x="6698" y="6698"/>
                  </a:cubicBezTo>
                  <a:cubicBezTo>
                    <a:pt x="10987" y="2409"/>
                    <a:pt x="16803" y="0"/>
                    <a:pt x="22868" y="0"/>
                  </a:cubicBezTo>
                  <a:close/>
                </a:path>
              </a:pathLst>
            </a:custGeom>
            <a:solidFill>
              <a:srgbClr val="4B444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47355" cy="2491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4748493">
            <a:off x="13490128" y="9480494"/>
            <a:ext cx="561536" cy="1002636"/>
          </a:xfrm>
          <a:custGeom>
            <a:avLst/>
            <a:gdLst/>
            <a:ahLst/>
            <a:cxnLst/>
            <a:rect r="r" b="b" t="t" l="l"/>
            <a:pathLst>
              <a:path h="1002636" w="561536">
                <a:moveTo>
                  <a:pt x="0" y="0"/>
                </a:moveTo>
                <a:lnTo>
                  <a:pt x="561536" y="0"/>
                </a:lnTo>
                <a:lnTo>
                  <a:pt x="561536" y="1002636"/>
                </a:lnTo>
                <a:lnTo>
                  <a:pt x="0" y="10026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3811001" y="9513286"/>
            <a:ext cx="2658043" cy="838707"/>
            <a:chOff x="0" y="0"/>
            <a:chExt cx="3544058" cy="1118275"/>
          </a:xfrm>
        </p:grpSpPr>
        <p:grpSp>
          <p:nvGrpSpPr>
            <p:cNvPr name="Group 7" id="7"/>
            <p:cNvGrpSpPr/>
            <p:nvPr/>
          </p:nvGrpSpPr>
          <p:grpSpPr>
            <a:xfrm rot="117060">
              <a:off x="27116" y="59305"/>
              <a:ext cx="3500940" cy="999666"/>
              <a:chOff x="0" y="0"/>
              <a:chExt cx="1753351" cy="500655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753351" cy="500655"/>
              </a:xfrm>
              <a:custGeom>
                <a:avLst/>
                <a:gdLst/>
                <a:ahLst/>
                <a:cxnLst/>
                <a:rect r="r" b="b" t="t" l="l"/>
                <a:pathLst>
                  <a:path h="500655" w="1753351">
                    <a:moveTo>
                      <a:pt x="0" y="0"/>
                    </a:moveTo>
                    <a:lnTo>
                      <a:pt x="1753351" y="0"/>
                    </a:lnTo>
                    <a:lnTo>
                      <a:pt x="1753351" y="500655"/>
                    </a:lnTo>
                    <a:lnTo>
                      <a:pt x="0" y="500655"/>
                    </a:lnTo>
                    <a:close/>
                  </a:path>
                </a:pathLst>
              </a:custGeom>
              <a:solidFill>
                <a:srgbClr val="868383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1753351" cy="538755"/>
              </a:xfrm>
              <a:prstGeom prst="rect">
                <a:avLst/>
              </a:prstGeom>
            </p:spPr>
            <p:txBody>
              <a:bodyPr anchor="ctr" rtlCol="false" tIns="30924" lIns="30924" bIns="30924" rIns="30924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10" id="10"/>
            <p:cNvSpPr/>
            <p:nvPr/>
          </p:nvSpPr>
          <p:spPr>
            <a:xfrm flipH="false" flipV="false" rot="0">
              <a:off x="0" y="19781"/>
              <a:ext cx="3518253" cy="1062256"/>
            </a:xfrm>
            <a:custGeom>
              <a:avLst/>
              <a:gdLst/>
              <a:ahLst/>
              <a:cxnLst/>
              <a:rect r="r" b="b" t="t" l="l"/>
              <a:pathLst>
                <a:path h="1062256" w="3518253">
                  <a:moveTo>
                    <a:pt x="0" y="0"/>
                  </a:moveTo>
                  <a:lnTo>
                    <a:pt x="3518253" y="0"/>
                  </a:lnTo>
                  <a:lnTo>
                    <a:pt x="3518253" y="1062256"/>
                  </a:lnTo>
                  <a:lnTo>
                    <a:pt x="0" y="10622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2355817" y="885825"/>
            <a:ext cx="13576365" cy="1236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b="true" sz="7200">
                <a:solidFill>
                  <a:srgbClr val="FFA3C1"/>
                </a:solidFill>
                <a:latin typeface="One Little Font Bold"/>
                <a:ea typeface="One Little Font Bold"/>
                <a:cs typeface="One Little Font Bold"/>
                <a:sym typeface="One Little Font Bold"/>
              </a:rPr>
              <a:t>Formula fungsi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2551104"/>
            <a:ext cx="14367785" cy="688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4"/>
              </a:lnSpc>
            </a:pPr>
            <a:r>
              <a:rPr lang="en-US" sz="3600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Bentuk umum persamaan fungsi adalah 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5819943"/>
            <a:ext cx="8584715" cy="3347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51"/>
              </a:lnSpc>
            </a:pPr>
            <a:r>
              <a:rPr lang="en-US" sz="2799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Keterangan :</a:t>
            </a:r>
          </a:p>
          <a:p>
            <a:pPr algn="l">
              <a:lnSpc>
                <a:spcPts val="4451"/>
              </a:lnSpc>
            </a:pPr>
            <a:r>
              <a:rPr lang="en-US" sz="2799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f adalah nama formula</a:t>
            </a:r>
          </a:p>
          <a:p>
            <a:pPr algn="l">
              <a:lnSpc>
                <a:spcPts val="4451"/>
              </a:lnSpc>
            </a:pPr>
            <a:r>
              <a:rPr lang="en-US" sz="2799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x adalah variabel bebas</a:t>
            </a:r>
          </a:p>
          <a:p>
            <a:pPr algn="l">
              <a:lnSpc>
                <a:spcPts val="4451"/>
              </a:lnSpc>
            </a:pPr>
            <a:r>
              <a:rPr lang="en-US" sz="2799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f (x) adalah variabel terikat yang dipengaruhi x</a:t>
            </a:r>
          </a:p>
          <a:p>
            <a:pPr algn="l">
              <a:lnSpc>
                <a:spcPts val="4451"/>
              </a:lnSpc>
            </a:pPr>
            <a:r>
              <a:rPr lang="en-US" sz="2799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a adalah koefisien x</a:t>
            </a:r>
          </a:p>
          <a:p>
            <a:pPr algn="l">
              <a:lnSpc>
                <a:spcPts val="4451"/>
              </a:lnSpc>
            </a:pPr>
            <a:r>
              <a:rPr lang="en-US" sz="2799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b adalah sebuah konstanta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5492146" y="3811071"/>
            <a:ext cx="7303707" cy="1777294"/>
            <a:chOff x="0" y="0"/>
            <a:chExt cx="1923610" cy="46809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23610" cy="468094"/>
            </a:xfrm>
            <a:custGeom>
              <a:avLst/>
              <a:gdLst/>
              <a:ahLst/>
              <a:cxnLst/>
              <a:rect r="r" b="b" t="t" l="l"/>
              <a:pathLst>
                <a:path h="468094" w="1923610">
                  <a:moveTo>
                    <a:pt x="54060" y="0"/>
                  </a:moveTo>
                  <a:lnTo>
                    <a:pt x="1869550" y="0"/>
                  </a:lnTo>
                  <a:cubicBezTo>
                    <a:pt x="1883888" y="0"/>
                    <a:pt x="1897638" y="5696"/>
                    <a:pt x="1907776" y="15834"/>
                  </a:cubicBezTo>
                  <a:cubicBezTo>
                    <a:pt x="1917915" y="25972"/>
                    <a:pt x="1923610" y="39722"/>
                    <a:pt x="1923610" y="54060"/>
                  </a:cubicBezTo>
                  <a:lnTo>
                    <a:pt x="1923610" y="414034"/>
                  </a:lnTo>
                  <a:cubicBezTo>
                    <a:pt x="1923610" y="428372"/>
                    <a:pt x="1917915" y="442122"/>
                    <a:pt x="1907776" y="452260"/>
                  </a:cubicBezTo>
                  <a:cubicBezTo>
                    <a:pt x="1897638" y="462398"/>
                    <a:pt x="1883888" y="468094"/>
                    <a:pt x="1869550" y="468094"/>
                  </a:cubicBezTo>
                  <a:lnTo>
                    <a:pt x="54060" y="468094"/>
                  </a:lnTo>
                  <a:cubicBezTo>
                    <a:pt x="39722" y="468094"/>
                    <a:pt x="25972" y="462398"/>
                    <a:pt x="15834" y="452260"/>
                  </a:cubicBezTo>
                  <a:cubicBezTo>
                    <a:pt x="5696" y="442122"/>
                    <a:pt x="0" y="428372"/>
                    <a:pt x="0" y="414034"/>
                  </a:cubicBezTo>
                  <a:lnTo>
                    <a:pt x="0" y="54060"/>
                  </a:lnTo>
                  <a:cubicBezTo>
                    <a:pt x="0" y="39722"/>
                    <a:pt x="5696" y="25972"/>
                    <a:pt x="15834" y="15834"/>
                  </a:cubicBezTo>
                  <a:cubicBezTo>
                    <a:pt x="25972" y="5696"/>
                    <a:pt x="39722" y="0"/>
                    <a:pt x="54060" y="0"/>
                  </a:cubicBezTo>
                  <a:close/>
                </a:path>
              </a:pathLst>
            </a:custGeom>
            <a:solidFill>
              <a:srgbClr val="4B4444"/>
            </a:solidFill>
            <a:ln w="47625" cap="rnd">
              <a:solidFill>
                <a:srgbClr val="CFCECE"/>
              </a:solidFill>
              <a:prstDash val="lgDash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23610" cy="5061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5213084" y="4147077"/>
            <a:ext cx="7861832" cy="914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32"/>
              </a:lnSpc>
            </a:pPr>
            <a:r>
              <a:rPr lang="en-US" sz="4800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f (x) = ax + b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354503" y="6823115"/>
            <a:ext cx="6832786" cy="1407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699" spc="564">
                <a:solidFill>
                  <a:srgbClr val="FFFFFF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f(X) dapat diganti oleh variabel lain misalnya y. Sehingga menjadi y = ax + b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27B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1130" y="486490"/>
            <a:ext cx="17265740" cy="9314020"/>
            <a:chOff x="0" y="0"/>
            <a:chExt cx="4547355" cy="24530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47355" cy="2453075"/>
            </a:xfrm>
            <a:custGeom>
              <a:avLst/>
              <a:gdLst/>
              <a:ahLst/>
              <a:cxnLst/>
              <a:rect r="r" b="b" t="t" l="l"/>
              <a:pathLst>
                <a:path h="2453075" w="4547355">
                  <a:moveTo>
                    <a:pt x="22868" y="0"/>
                  </a:moveTo>
                  <a:lnTo>
                    <a:pt x="4524487" y="0"/>
                  </a:lnTo>
                  <a:cubicBezTo>
                    <a:pt x="4530552" y="0"/>
                    <a:pt x="4536369" y="2409"/>
                    <a:pt x="4540657" y="6698"/>
                  </a:cubicBezTo>
                  <a:cubicBezTo>
                    <a:pt x="4544946" y="10987"/>
                    <a:pt x="4547355" y="16803"/>
                    <a:pt x="4547355" y="22868"/>
                  </a:cubicBezTo>
                  <a:lnTo>
                    <a:pt x="4547355" y="2430207"/>
                  </a:lnTo>
                  <a:cubicBezTo>
                    <a:pt x="4547355" y="2436272"/>
                    <a:pt x="4544946" y="2442089"/>
                    <a:pt x="4540657" y="2446377"/>
                  </a:cubicBezTo>
                  <a:cubicBezTo>
                    <a:pt x="4536369" y="2450666"/>
                    <a:pt x="4530552" y="2453075"/>
                    <a:pt x="4524487" y="2453075"/>
                  </a:cubicBezTo>
                  <a:lnTo>
                    <a:pt x="22868" y="2453075"/>
                  </a:lnTo>
                  <a:cubicBezTo>
                    <a:pt x="16803" y="2453075"/>
                    <a:pt x="10987" y="2450666"/>
                    <a:pt x="6698" y="2446377"/>
                  </a:cubicBezTo>
                  <a:cubicBezTo>
                    <a:pt x="2409" y="2442089"/>
                    <a:pt x="0" y="2436272"/>
                    <a:pt x="0" y="2430207"/>
                  </a:cubicBezTo>
                  <a:lnTo>
                    <a:pt x="0" y="22868"/>
                  </a:lnTo>
                  <a:cubicBezTo>
                    <a:pt x="0" y="16803"/>
                    <a:pt x="2409" y="10987"/>
                    <a:pt x="6698" y="6698"/>
                  </a:cubicBezTo>
                  <a:cubicBezTo>
                    <a:pt x="10987" y="2409"/>
                    <a:pt x="16803" y="0"/>
                    <a:pt x="22868" y="0"/>
                  </a:cubicBezTo>
                  <a:close/>
                </a:path>
              </a:pathLst>
            </a:custGeom>
            <a:solidFill>
              <a:srgbClr val="4B444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47355" cy="2491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4748493">
            <a:off x="13490128" y="9480494"/>
            <a:ext cx="561536" cy="1002636"/>
          </a:xfrm>
          <a:custGeom>
            <a:avLst/>
            <a:gdLst/>
            <a:ahLst/>
            <a:cxnLst/>
            <a:rect r="r" b="b" t="t" l="l"/>
            <a:pathLst>
              <a:path h="1002636" w="561536">
                <a:moveTo>
                  <a:pt x="0" y="0"/>
                </a:moveTo>
                <a:lnTo>
                  <a:pt x="561536" y="0"/>
                </a:lnTo>
                <a:lnTo>
                  <a:pt x="561536" y="1002636"/>
                </a:lnTo>
                <a:lnTo>
                  <a:pt x="0" y="10026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3811001" y="9513286"/>
            <a:ext cx="2658043" cy="838707"/>
            <a:chOff x="0" y="0"/>
            <a:chExt cx="3544058" cy="1118275"/>
          </a:xfrm>
        </p:grpSpPr>
        <p:grpSp>
          <p:nvGrpSpPr>
            <p:cNvPr name="Group 7" id="7"/>
            <p:cNvGrpSpPr/>
            <p:nvPr/>
          </p:nvGrpSpPr>
          <p:grpSpPr>
            <a:xfrm rot="117060">
              <a:off x="27116" y="59305"/>
              <a:ext cx="3500940" cy="999666"/>
              <a:chOff x="0" y="0"/>
              <a:chExt cx="1753351" cy="500655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753351" cy="500655"/>
              </a:xfrm>
              <a:custGeom>
                <a:avLst/>
                <a:gdLst/>
                <a:ahLst/>
                <a:cxnLst/>
                <a:rect r="r" b="b" t="t" l="l"/>
                <a:pathLst>
                  <a:path h="500655" w="1753351">
                    <a:moveTo>
                      <a:pt x="0" y="0"/>
                    </a:moveTo>
                    <a:lnTo>
                      <a:pt x="1753351" y="0"/>
                    </a:lnTo>
                    <a:lnTo>
                      <a:pt x="1753351" y="500655"/>
                    </a:lnTo>
                    <a:lnTo>
                      <a:pt x="0" y="500655"/>
                    </a:lnTo>
                    <a:close/>
                  </a:path>
                </a:pathLst>
              </a:custGeom>
              <a:solidFill>
                <a:srgbClr val="868383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1753351" cy="538755"/>
              </a:xfrm>
              <a:prstGeom prst="rect">
                <a:avLst/>
              </a:prstGeom>
            </p:spPr>
            <p:txBody>
              <a:bodyPr anchor="ctr" rtlCol="false" tIns="30924" lIns="30924" bIns="30924" rIns="30924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10" id="10"/>
            <p:cNvSpPr/>
            <p:nvPr/>
          </p:nvSpPr>
          <p:spPr>
            <a:xfrm flipH="false" flipV="false" rot="0">
              <a:off x="0" y="19781"/>
              <a:ext cx="3518253" cy="1062256"/>
            </a:xfrm>
            <a:custGeom>
              <a:avLst/>
              <a:gdLst/>
              <a:ahLst/>
              <a:cxnLst/>
              <a:rect r="r" b="b" t="t" l="l"/>
              <a:pathLst>
                <a:path h="1062256" w="3518253">
                  <a:moveTo>
                    <a:pt x="0" y="0"/>
                  </a:moveTo>
                  <a:lnTo>
                    <a:pt x="3518253" y="0"/>
                  </a:lnTo>
                  <a:lnTo>
                    <a:pt x="3518253" y="1062256"/>
                  </a:lnTo>
                  <a:lnTo>
                    <a:pt x="0" y="10622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2355817" y="885825"/>
            <a:ext cx="13576365" cy="1236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b="true" sz="7200">
                <a:solidFill>
                  <a:srgbClr val="FFA3C1"/>
                </a:solidFill>
                <a:latin typeface="One Little Font Bold"/>
                <a:ea typeface="One Little Font Bold"/>
                <a:cs typeface="One Little Font Bold"/>
                <a:sym typeface="One Little Font Bold"/>
              </a:rPr>
              <a:t>Nilai Fungsi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30687" y="2403554"/>
            <a:ext cx="16230600" cy="2136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4"/>
              </a:lnSpc>
            </a:pPr>
            <a:r>
              <a:rPr lang="en-US" sz="3600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Formula fungsi bisa kita ibaratkan seperti mesin. Mesin memerlukan suatu input atau masukan, yang kemudian diproses sehingga menghasilkan output atau keluaran.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3975843" y="5482796"/>
            <a:ext cx="10340287" cy="3086100"/>
            <a:chOff x="0" y="0"/>
            <a:chExt cx="13787049" cy="4114800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1191008" y="2057400"/>
              <a:ext cx="2566825" cy="526988"/>
              <a:chOff x="0" y="0"/>
              <a:chExt cx="507027" cy="104096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507027" cy="104096"/>
              </a:xfrm>
              <a:custGeom>
                <a:avLst/>
                <a:gdLst/>
                <a:ahLst/>
                <a:cxnLst/>
                <a:rect r="r" b="b" t="t" l="l"/>
                <a:pathLst>
                  <a:path h="104096" w="507027">
                    <a:moveTo>
                      <a:pt x="0" y="0"/>
                    </a:moveTo>
                    <a:lnTo>
                      <a:pt x="507027" y="0"/>
                    </a:lnTo>
                    <a:lnTo>
                      <a:pt x="507027" y="104096"/>
                    </a:lnTo>
                    <a:lnTo>
                      <a:pt x="0" y="104096"/>
                    </a:lnTo>
                    <a:close/>
                  </a:path>
                </a:pathLst>
              </a:custGeom>
              <a:solidFill>
                <a:srgbClr val="4B4444"/>
              </a:solidFill>
              <a:ln w="38100" cap="sq">
                <a:solidFill>
                  <a:srgbClr val="FFFFFF"/>
                </a:solidFill>
                <a:prstDash val="lgDash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507027" cy="14219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0" y="1244509"/>
              <a:ext cx="2492162" cy="1339878"/>
              <a:chOff x="0" y="0"/>
              <a:chExt cx="1133851" cy="6096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10409" y="0"/>
                <a:ext cx="1113032" cy="609600"/>
              </a:xfrm>
              <a:custGeom>
                <a:avLst/>
                <a:gdLst/>
                <a:ahLst/>
                <a:cxnLst/>
                <a:rect r="r" b="b" t="t" l="l"/>
                <a:pathLst>
                  <a:path h="609600" w="1113032">
                    <a:moveTo>
                      <a:pt x="230069" y="609600"/>
                    </a:moveTo>
                    <a:lnTo>
                      <a:pt x="882964" y="609600"/>
                    </a:lnTo>
                    <a:cubicBezTo>
                      <a:pt x="905226" y="609600"/>
                      <a:pt x="924990" y="595355"/>
                      <a:pt x="932030" y="574235"/>
                    </a:cubicBezTo>
                    <a:lnTo>
                      <a:pt x="1111653" y="35365"/>
                    </a:lnTo>
                    <a:cubicBezTo>
                      <a:pt x="1114384" y="27172"/>
                      <a:pt x="1113010" y="18165"/>
                      <a:pt x="1107960" y="11158"/>
                    </a:cubicBezTo>
                    <a:cubicBezTo>
                      <a:pt x="1102910" y="4152"/>
                      <a:pt x="1094800" y="0"/>
                      <a:pt x="1086164" y="0"/>
                    </a:cubicBezTo>
                    <a:lnTo>
                      <a:pt x="26869" y="0"/>
                    </a:lnTo>
                    <a:cubicBezTo>
                      <a:pt x="18232" y="0"/>
                      <a:pt x="10122" y="4152"/>
                      <a:pt x="5072" y="11158"/>
                    </a:cubicBezTo>
                    <a:cubicBezTo>
                      <a:pt x="22" y="18165"/>
                      <a:pt x="-1352" y="27172"/>
                      <a:pt x="1379" y="35365"/>
                    </a:cubicBezTo>
                    <a:lnTo>
                      <a:pt x="181003" y="574235"/>
                    </a:lnTo>
                    <a:cubicBezTo>
                      <a:pt x="188043" y="595355"/>
                      <a:pt x="207807" y="609600"/>
                      <a:pt x="230069" y="609600"/>
                    </a:cubicBezTo>
                    <a:close/>
                  </a:path>
                </a:pathLst>
              </a:custGeom>
              <a:solidFill>
                <a:srgbClr val="4B4444"/>
              </a:solidFill>
              <a:ln w="38100" cap="sq">
                <a:solidFill>
                  <a:srgbClr val="FFFFFF"/>
                </a:solidFill>
                <a:prstDash val="lgDash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127000" y="-38100"/>
                <a:ext cx="879851" cy="647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9584584" y="981015"/>
              <a:ext cx="2566825" cy="526988"/>
              <a:chOff x="0" y="0"/>
              <a:chExt cx="507027" cy="104096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507027" cy="104096"/>
              </a:xfrm>
              <a:custGeom>
                <a:avLst/>
                <a:gdLst/>
                <a:ahLst/>
                <a:cxnLst/>
                <a:rect r="r" b="b" t="t" l="l"/>
                <a:pathLst>
                  <a:path h="104096" w="507027">
                    <a:moveTo>
                      <a:pt x="0" y="0"/>
                    </a:moveTo>
                    <a:lnTo>
                      <a:pt x="507027" y="0"/>
                    </a:lnTo>
                    <a:lnTo>
                      <a:pt x="507027" y="104096"/>
                    </a:lnTo>
                    <a:lnTo>
                      <a:pt x="0" y="104096"/>
                    </a:lnTo>
                    <a:close/>
                  </a:path>
                </a:pathLst>
              </a:custGeom>
              <a:solidFill>
                <a:srgbClr val="4B4444"/>
              </a:solidFill>
              <a:ln w="38100" cap="sq">
                <a:solidFill>
                  <a:srgbClr val="FFFFFF"/>
                </a:solidFill>
                <a:prstDash val="lgDash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38100"/>
                <a:ext cx="507027" cy="14219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0">
              <a:off x="3355762" y="0"/>
              <a:ext cx="7117547" cy="4114800"/>
              <a:chOff x="0" y="0"/>
              <a:chExt cx="1405935" cy="8128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1405935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1405935">
                    <a:moveTo>
                      <a:pt x="29006" y="0"/>
                    </a:moveTo>
                    <a:lnTo>
                      <a:pt x="1376929" y="0"/>
                    </a:lnTo>
                    <a:cubicBezTo>
                      <a:pt x="1392949" y="0"/>
                      <a:pt x="1405935" y="12986"/>
                      <a:pt x="1405935" y="29006"/>
                    </a:cubicBezTo>
                    <a:lnTo>
                      <a:pt x="1405935" y="783794"/>
                    </a:lnTo>
                    <a:cubicBezTo>
                      <a:pt x="1405935" y="799814"/>
                      <a:pt x="1392949" y="812800"/>
                      <a:pt x="1376929" y="812800"/>
                    </a:cubicBezTo>
                    <a:lnTo>
                      <a:pt x="29006" y="812800"/>
                    </a:lnTo>
                    <a:cubicBezTo>
                      <a:pt x="12986" y="812800"/>
                      <a:pt x="0" y="799814"/>
                      <a:pt x="0" y="783794"/>
                    </a:cubicBezTo>
                    <a:lnTo>
                      <a:pt x="0" y="29006"/>
                    </a:lnTo>
                    <a:cubicBezTo>
                      <a:pt x="0" y="12986"/>
                      <a:pt x="12986" y="0"/>
                      <a:pt x="29006" y="0"/>
                    </a:cubicBezTo>
                    <a:close/>
                  </a:path>
                </a:pathLst>
              </a:custGeom>
              <a:solidFill>
                <a:srgbClr val="4B4444"/>
              </a:solidFill>
              <a:ln w="38100" cap="sq">
                <a:solidFill>
                  <a:srgbClr val="FFFFFF"/>
                </a:solidFill>
                <a:prstDash val="lgDash"/>
                <a:miter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38100"/>
                <a:ext cx="1405935" cy="850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11294888" y="968315"/>
              <a:ext cx="2492162" cy="1422015"/>
              <a:chOff x="0" y="0"/>
              <a:chExt cx="812800" cy="463779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12912" y="0"/>
                <a:ext cx="786976" cy="463779"/>
              </a:xfrm>
              <a:custGeom>
                <a:avLst/>
                <a:gdLst/>
                <a:ahLst/>
                <a:cxnLst/>
                <a:rect r="r" b="b" t="t" l="l"/>
                <a:pathLst>
                  <a:path h="463779" w="786976">
                    <a:moveTo>
                      <a:pt x="227566" y="0"/>
                    </a:moveTo>
                    <a:lnTo>
                      <a:pt x="559410" y="0"/>
                    </a:lnTo>
                    <a:cubicBezTo>
                      <a:pt x="582058" y="0"/>
                      <a:pt x="602559" y="13401"/>
                      <a:pt x="611648" y="34145"/>
                    </a:cubicBezTo>
                    <a:lnTo>
                      <a:pt x="784928" y="429635"/>
                    </a:lnTo>
                    <a:cubicBezTo>
                      <a:pt x="788229" y="437169"/>
                      <a:pt x="787506" y="445860"/>
                      <a:pt x="783006" y="452745"/>
                    </a:cubicBezTo>
                    <a:cubicBezTo>
                      <a:pt x="778505" y="459630"/>
                      <a:pt x="770835" y="463779"/>
                      <a:pt x="762610" y="463779"/>
                    </a:cubicBezTo>
                    <a:lnTo>
                      <a:pt x="24366" y="463779"/>
                    </a:lnTo>
                    <a:cubicBezTo>
                      <a:pt x="16141" y="463779"/>
                      <a:pt x="8471" y="459630"/>
                      <a:pt x="3970" y="452745"/>
                    </a:cubicBezTo>
                    <a:cubicBezTo>
                      <a:pt x="-530" y="445860"/>
                      <a:pt x="-1253" y="437169"/>
                      <a:pt x="2048" y="429635"/>
                    </a:cubicBezTo>
                    <a:lnTo>
                      <a:pt x="175328" y="34145"/>
                    </a:lnTo>
                    <a:cubicBezTo>
                      <a:pt x="184417" y="13401"/>
                      <a:pt x="204918" y="0"/>
                      <a:pt x="227566" y="0"/>
                    </a:cubicBezTo>
                    <a:close/>
                  </a:path>
                </a:pathLst>
              </a:custGeom>
              <a:solidFill>
                <a:srgbClr val="4B4444"/>
              </a:solidFill>
              <a:ln w="38100" cap="sq">
                <a:solidFill>
                  <a:srgbClr val="FFFFFF"/>
                </a:solidFill>
                <a:prstDash val="lgDash"/>
                <a:miter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127000" y="-38100"/>
                <a:ext cx="558800" cy="5018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29" id="29"/>
          <p:cNvSpPr txBox="true"/>
          <p:nvPr/>
        </p:nvSpPr>
        <p:spPr>
          <a:xfrm rot="0">
            <a:off x="3286984" y="5397071"/>
            <a:ext cx="2989392" cy="615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1"/>
              </a:lnSpc>
            </a:pPr>
            <a:r>
              <a:rPr lang="en-US" sz="3501" spc="731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INPUT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525953" y="6365251"/>
            <a:ext cx="3240068" cy="1235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1"/>
              </a:lnSpc>
            </a:pPr>
            <a:r>
              <a:rPr lang="en-US" sz="3501" spc="731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FORMULA FUNGSI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371581" y="7373615"/>
            <a:ext cx="2153807" cy="616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1"/>
              </a:lnSpc>
            </a:pPr>
            <a:r>
              <a:rPr lang="en-US" sz="3501" spc="731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oUTPUT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27B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1130" y="486490"/>
            <a:ext cx="17265740" cy="9314020"/>
            <a:chOff x="0" y="0"/>
            <a:chExt cx="4547355" cy="24530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47355" cy="2453075"/>
            </a:xfrm>
            <a:custGeom>
              <a:avLst/>
              <a:gdLst/>
              <a:ahLst/>
              <a:cxnLst/>
              <a:rect r="r" b="b" t="t" l="l"/>
              <a:pathLst>
                <a:path h="2453075" w="4547355">
                  <a:moveTo>
                    <a:pt x="22868" y="0"/>
                  </a:moveTo>
                  <a:lnTo>
                    <a:pt x="4524487" y="0"/>
                  </a:lnTo>
                  <a:cubicBezTo>
                    <a:pt x="4530552" y="0"/>
                    <a:pt x="4536369" y="2409"/>
                    <a:pt x="4540657" y="6698"/>
                  </a:cubicBezTo>
                  <a:cubicBezTo>
                    <a:pt x="4544946" y="10987"/>
                    <a:pt x="4547355" y="16803"/>
                    <a:pt x="4547355" y="22868"/>
                  </a:cubicBezTo>
                  <a:lnTo>
                    <a:pt x="4547355" y="2430207"/>
                  </a:lnTo>
                  <a:cubicBezTo>
                    <a:pt x="4547355" y="2436272"/>
                    <a:pt x="4544946" y="2442089"/>
                    <a:pt x="4540657" y="2446377"/>
                  </a:cubicBezTo>
                  <a:cubicBezTo>
                    <a:pt x="4536369" y="2450666"/>
                    <a:pt x="4530552" y="2453075"/>
                    <a:pt x="4524487" y="2453075"/>
                  </a:cubicBezTo>
                  <a:lnTo>
                    <a:pt x="22868" y="2453075"/>
                  </a:lnTo>
                  <a:cubicBezTo>
                    <a:pt x="16803" y="2453075"/>
                    <a:pt x="10987" y="2450666"/>
                    <a:pt x="6698" y="2446377"/>
                  </a:cubicBezTo>
                  <a:cubicBezTo>
                    <a:pt x="2409" y="2442089"/>
                    <a:pt x="0" y="2436272"/>
                    <a:pt x="0" y="2430207"/>
                  </a:cubicBezTo>
                  <a:lnTo>
                    <a:pt x="0" y="22868"/>
                  </a:lnTo>
                  <a:cubicBezTo>
                    <a:pt x="0" y="16803"/>
                    <a:pt x="2409" y="10987"/>
                    <a:pt x="6698" y="6698"/>
                  </a:cubicBezTo>
                  <a:cubicBezTo>
                    <a:pt x="10987" y="2409"/>
                    <a:pt x="16803" y="0"/>
                    <a:pt x="22868" y="0"/>
                  </a:cubicBezTo>
                  <a:close/>
                </a:path>
              </a:pathLst>
            </a:custGeom>
            <a:solidFill>
              <a:srgbClr val="4B444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47355" cy="2491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4748493">
            <a:off x="13490128" y="9480494"/>
            <a:ext cx="561536" cy="1002636"/>
          </a:xfrm>
          <a:custGeom>
            <a:avLst/>
            <a:gdLst/>
            <a:ahLst/>
            <a:cxnLst/>
            <a:rect r="r" b="b" t="t" l="l"/>
            <a:pathLst>
              <a:path h="1002636" w="561536">
                <a:moveTo>
                  <a:pt x="0" y="0"/>
                </a:moveTo>
                <a:lnTo>
                  <a:pt x="561536" y="0"/>
                </a:lnTo>
                <a:lnTo>
                  <a:pt x="561536" y="1002636"/>
                </a:lnTo>
                <a:lnTo>
                  <a:pt x="0" y="10026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3811001" y="9513286"/>
            <a:ext cx="2658043" cy="838707"/>
            <a:chOff x="0" y="0"/>
            <a:chExt cx="3544058" cy="1118275"/>
          </a:xfrm>
        </p:grpSpPr>
        <p:grpSp>
          <p:nvGrpSpPr>
            <p:cNvPr name="Group 7" id="7"/>
            <p:cNvGrpSpPr/>
            <p:nvPr/>
          </p:nvGrpSpPr>
          <p:grpSpPr>
            <a:xfrm rot="117060">
              <a:off x="27116" y="59305"/>
              <a:ext cx="3500940" cy="999666"/>
              <a:chOff x="0" y="0"/>
              <a:chExt cx="1753351" cy="500655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753351" cy="500655"/>
              </a:xfrm>
              <a:custGeom>
                <a:avLst/>
                <a:gdLst/>
                <a:ahLst/>
                <a:cxnLst/>
                <a:rect r="r" b="b" t="t" l="l"/>
                <a:pathLst>
                  <a:path h="500655" w="1753351">
                    <a:moveTo>
                      <a:pt x="0" y="0"/>
                    </a:moveTo>
                    <a:lnTo>
                      <a:pt x="1753351" y="0"/>
                    </a:lnTo>
                    <a:lnTo>
                      <a:pt x="1753351" y="500655"/>
                    </a:lnTo>
                    <a:lnTo>
                      <a:pt x="0" y="500655"/>
                    </a:lnTo>
                    <a:close/>
                  </a:path>
                </a:pathLst>
              </a:custGeom>
              <a:solidFill>
                <a:srgbClr val="868383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1753351" cy="538755"/>
              </a:xfrm>
              <a:prstGeom prst="rect">
                <a:avLst/>
              </a:prstGeom>
            </p:spPr>
            <p:txBody>
              <a:bodyPr anchor="ctr" rtlCol="false" tIns="30924" lIns="30924" bIns="30924" rIns="30924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10" id="10"/>
            <p:cNvSpPr/>
            <p:nvPr/>
          </p:nvSpPr>
          <p:spPr>
            <a:xfrm flipH="false" flipV="false" rot="0">
              <a:off x="0" y="19781"/>
              <a:ext cx="3518253" cy="1062256"/>
            </a:xfrm>
            <a:custGeom>
              <a:avLst/>
              <a:gdLst/>
              <a:ahLst/>
              <a:cxnLst/>
              <a:rect r="r" b="b" t="t" l="l"/>
              <a:pathLst>
                <a:path h="1062256" w="3518253">
                  <a:moveTo>
                    <a:pt x="0" y="0"/>
                  </a:moveTo>
                  <a:lnTo>
                    <a:pt x="3518253" y="0"/>
                  </a:lnTo>
                  <a:lnTo>
                    <a:pt x="3518253" y="1062256"/>
                  </a:lnTo>
                  <a:lnTo>
                    <a:pt x="0" y="10622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2355817" y="885825"/>
            <a:ext cx="13576365" cy="1236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b="true" sz="7200">
                <a:solidFill>
                  <a:srgbClr val="FFA3C1"/>
                </a:solidFill>
                <a:latin typeface="One Little Font Bold"/>
                <a:ea typeface="One Little Font Bold"/>
                <a:cs typeface="One Little Font Bold"/>
                <a:sym typeface="One Little Font Bold"/>
              </a:rPr>
              <a:t>Nilai Fungsi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30687" y="2403554"/>
            <a:ext cx="16230600" cy="2136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4"/>
              </a:lnSpc>
            </a:pPr>
            <a:r>
              <a:rPr lang="en-US" sz="3600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Contoh :</a:t>
            </a:r>
          </a:p>
          <a:p>
            <a:pPr algn="l">
              <a:lnSpc>
                <a:spcPts val="5724"/>
              </a:lnSpc>
            </a:pPr>
            <a:r>
              <a:rPr lang="en-US" sz="3600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fungsi f : A → B ditentukan oleh f(x) = 2x - 1. Jika A {2, 4, 6}, tentukan daerah hasilnya!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5625385" y="7186844"/>
            <a:ext cx="1643399" cy="337402"/>
            <a:chOff x="0" y="0"/>
            <a:chExt cx="507027" cy="10409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07027" cy="104096"/>
            </a:xfrm>
            <a:custGeom>
              <a:avLst/>
              <a:gdLst/>
              <a:ahLst/>
              <a:cxnLst/>
              <a:rect r="r" b="b" t="t" l="l"/>
              <a:pathLst>
                <a:path h="104096" w="507027">
                  <a:moveTo>
                    <a:pt x="0" y="0"/>
                  </a:moveTo>
                  <a:lnTo>
                    <a:pt x="507027" y="0"/>
                  </a:lnTo>
                  <a:lnTo>
                    <a:pt x="507027" y="104096"/>
                  </a:lnTo>
                  <a:lnTo>
                    <a:pt x="0" y="104096"/>
                  </a:lnTo>
                  <a:close/>
                </a:path>
              </a:pathLst>
            </a:custGeom>
            <a:solidFill>
              <a:srgbClr val="4B4444"/>
            </a:solidFill>
            <a:ln w="38100" cap="sq">
              <a:solidFill>
                <a:srgbClr val="FFFFFF"/>
              </a:solidFill>
              <a:prstDash val="lgDash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507027" cy="142196"/>
            </a:xfrm>
            <a:prstGeom prst="rect">
              <a:avLst/>
            </a:prstGeom>
          </p:spPr>
          <p:txBody>
            <a:bodyPr anchor="ctr" rtlCol="false" tIns="35863" lIns="35863" bIns="35863" rIns="35863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4862847" y="6666394"/>
            <a:ext cx="1595597" cy="857852"/>
            <a:chOff x="0" y="0"/>
            <a:chExt cx="1133851" cy="6096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12194" y="0"/>
              <a:ext cx="1109463" cy="609600"/>
            </a:xfrm>
            <a:custGeom>
              <a:avLst/>
              <a:gdLst/>
              <a:ahLst/>
              <a:cxnLst/>
              <a:rect r="r" b="b" t="t" l="l"/>
              <a:pathLst>
                <a:path h="609600" w="1109463">
                  <a:moveTo>
                    <a:pt x="234674" y="609600"/>
                  </a:moveTo>
                  <a:lnTo>
                    <a:pt x="874788" y="609600"/>
                  </a:lnTo>
                  <a:cubicBezTo>
                    <a:pt x="900866" y="609600"/>
                    <a:pt x="924019" y="592913"/>
                    <a:pt x="932266" y="568172"/>
                  </a:cubicBezTo>
                  <a:lnTo>
                    <a:pt x="1107847" y="41428"/>
                  </a:lnTo>
                  <a:cubicBezTo>
                    <a:pt x="1111047" y="31829"/>
                    <a:pt x="1109437" y="21279"/>
                    <a:pt x="1103522" y="13071"/>
                  </a:cubicBezTo>
                  <a:cubicBezTo>
                    <a:pt x="1097606" y="4863"/>
                    <a:pt x="1088105" y="0"/>
                    <a:pt x="1077988" y="0"/>
                  </a:cubicBezTo>
                  <a:lnTo>
                    <a:pt x="31474" y="0"/>
                  </a:lnTo>
                  <a:cubicBezTo>
                    <a:pt x="21357" y="0"/>
                    <a:pt x="11857" y="4863"/>
                    <a:pt x="5941" y="13071"/>
                  </a:cubicBezTo>
                  <a:cubicBezTo>
                    <a:pt x="25" y="21279"/>
                    <a:pt x="-1584" y="31829"/>
                    <a:pt x="1615" y="41428"/>
                  </a:cubicBezTo>
                  <a:lnTo>
                    <a:pt x="177197" y="568172"/>
                  </a:lnTo>
                  <a:cubicBezTo>
                    <a:pt x="185444" y="592913"/>
                    <a:pt x="208596" y="609600"/>
                    <a:pt x="234674" y="609600"/>
                  </a:cubicBezTo>
                  <a:close/>
                </a:path>
              </a:pathLst>
            </a:custGeom>
            <a:solidFill>
              <a:srgbClr val="4B4444"/>
            </a:solidFill>
            <a:ln w="38100" cap="sq">
              <a:solidFill>
                <a:srgbClr val="FFFFFF"/>
              </a:solidFill>
              <a:prstDash val="lgDash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127000" y="-38100"/>
              <a:ext cx="879851" cy="647700"/>
            </a:xfrm>
            <a:prstGeom prst="rect">
              <a:avLst/>
            </a:prstGeom>
          </p:spPr>
          <p:txBody>
            <a:bodyPr anchor="ctr" rtlCol="false" tIns="35863" lIns="35863" bIns="35863" rIns="35863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999339" y="6497693"/>
            <a:ext cx="1643399" cy="337402"/>
            <a:chOff x="0" y="0"/>
            <a:chExt cx="507027" cy="10409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07027" cy="104096"/>
            </a:xfrm>
            <a:custGeom>
              <a:avLst/>
              <a:gdLst/>
              <a:ahLst/>
              <a:cxnLst/>
              <a:rect r="r" b="b" t="t" l="l"/>
              <a:pathLst>
                <a:path h="104096" w="507027">
                  <a:moveTo>
                    <a:pt x="0" y="0"/>
                  </a:moveTo>
                  <a:lnTo>
                    <a:pt x="507027" y="0"/>
                  </a:lnTo>
                  <a:lnTo>
                    <a:pt x="507027" y="104096"/>
                  </a:lnTo>
                  <a:lnTo>
                    <a:pt x="0" y="104096"/>
                  </a:lnTo>
                  <a:close/>
                </a:path>
              </a:pathLst>
            </a:custGeom>
            <a:solidFill>
              <a:srgbClr val="4B4444"/>
            </a:solidFill>
            <a:ln w="38100" cap="sq">
              <a:solidFill>
                <a:srgbClr val="FFFFFF"/>
              </a:solidFill>
              <a:prstDash val="lgDash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507027" cy="142196"/>
            </a:xfrm>
            <a:prstGeom prst="rect">
              <a:avLst/>
            </a:prstGeom>
          </p:spPr>
          <p:txBody>
            <a:bodyPr anchor="ctr" rtlCol="false" tIns="35863" lIns="35863" bIns="35863" rIns="35863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7011360" y="5869602"/>
            <a:ext cx="4556981" cy="2634484"/>
            <a:chOff x="0" y="0"/>
            <a:chExt cx="1405935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405935" cy="812800"/>
            </a:xfrm>
            <a:custGeom>
              <a:avLst/>
              <a:gdLst/>
              <a:ahLst/>
              <a:cxnLst/>
              <a:rect r="r" b="b" t="t" l="l"/>
              <a:pathLst>
                <a:path h="812800" w="1405935">
                  <a:moveTo>
                    <a:pt x="33978" y="0"/>
                  </a:moveTo>
                  <a:lnTo>
                    <a:pt x="1371957" y="0"/>
                  </a:lnTo>
                  <a:cubicBezTo>
                    <a:pt x="1390723" y="0"/>
                    <a:pt x="1405935" y="15213"/>
                    <a:pt x="1405935" y="33978"/>
                  </a:cubicBezTo>
                  <a:lnTo>
                    <a:pt x="1405935" y="778822"/>
                  </a:lnTo>
                  <a:cubicBezTo>
                    <a:pt x="1405935" y="797587"/>
                    <a:pt x="1390723" y="812800"/>
                    <a:pt x="1371957" y="812800"/>
                  </a:cubicBezTo>
                  <a:lnTo>
                    <a:pt x="33978" y="812800"/>
                  </a:lnTo>
                  <a:cubicBezTo>
                    <a:pt x="15213" y="812800"/>
                    <a:pt x="0" y="797587"/>
                    <a:pt x="0" y="778822"/>
                  </a:cubicBezTo>
                  <a:lnTo>
                    <a:pt x="0" y="33978"/>
                  </a:lnTo>
                  <a:cubicBezTo>
                    <a:pt x="0" y="15213"/>
                    <a:pt x="15213" y="0"/>
                    <a:pt x="33978" y="0"/>
                  </a:cubicBezTo>
                  <a:close/>
                </a:path>
              </a:pathLst>
            </a:custGeom>
            <a:solidFill>
              <a:srgbClr val="4B4444"/>
            </a:solidFill>
            <a:ln w="38100" cap="sq">
              <a:solidFill>
                <a:srgbClr val="FFFFFF"/>
              </a:solidFill>
              <a:prstDash val="lgDash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405935" cy="850900"/>
            </a:xfrm>
            <a:prstGeom prst="rect">
              <a:avLst/>
            </a:prstGeom>
          </p:spPr>
          <p:txBody>
            <a:bodyPr anchor="ctr" rtlCol="false" tIns="35863" lIns="35863" bIns="35863" rIns="35863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094353" y="6489562"/>
            <a:ext cx="1595597" cy="910439"/>
            <a:chOff x="0" y="0"/>
            <a:chExt cx="812800" cy="46377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15125" y="0"/>
              <a:ext cx="782550" cy="463779"/>
            </a:xfrm>
            <a:custGeom>
              <a:avLst/>
              <a:gdLst/>
              <a:ahLst/>
              <a:cxnLst/>
              <a:rect r="r" b="b" t="t" l="l"/>
              <a:pathLst>
                <a:path h="463779" w="782550">
                  <a:moveTo>
                    <a:pt x="231743" y="0"/>
                  </a:moveTo>
                  <a:lnTo>
                    <a:pt x="550807" y="0"/>
                  </a:lnTo>
                  <a:cubicBezTo>
                    <a:pt x="577337" y="0"/>
                    <a:pt x="601353" y="15698"/>
                    <a:pt x="612000" y="39998"/>
                  </a:cubicBezTo>
                  <a:lnTo>
                    <a:pt x="780150" y="423782"/>
                  </a:lnTo>
                  <a:cubicBezTo>
                    <a:pt x="784017" y="432607"/>
                    <a:pt x="783170" y="442788"/>
                    <a:pt x="777899" y="450853"/>
                  </a:cubicBezTo>
                  <a:cubicBezTo>
                    <a:pt x="772627" y="458918"/>
                    <a:pt x="763642" y="463779"/>
                    <a:pt x="754007" y="463779"/>
                  </a:cubicBezTo>
                  <a:lnTo>
                    <a:pt x="28543" y="463779"/>
                  </a:lnTo>
                  <a:cubicBezTo>
                    <a:pt x="18908" y="463779"/>
                    <a:pt x="9923" y="458918"/>
                    <a:pt x="4651" y="450853"/>
                  </a:cubicBezTo>
                  <a:cubicBezTo>
                    <a:pt x="-620" y="442788"/>
                    <a:pt x="-1467" y="432607"/>
                    <a:pt x="2400" y="423782"/>
                  </a:cubicBezTo>
                  <a:lnTo>
                    <a:pt x="170550" y="39998"/>
                  </a:lnTo>
                  <a:cubicBezTo>
                    <a:pt x="181197" y="15698"/>
                    <a:pt x="205213" y="0"/>
                    <a:pt x="231743" y="0"/>
                  </a:cubicBezTo>
                  <a:close/>
                </a:path>
              </a:pathLst>
            </a:custGeom>
            <a:solidFill>
              <a:srgbClr val="4B4444"/>
            </a:solidFill>
            <a:ln w="38100" cap="sq">
              <a:solidFill>
                <a:srgbClr val="FFFFFF"/>
              </a:solidFill>
              <a:prstDash val="lgDash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127000" y="-38100"/>
              <a:ext cx="558800" cy="501879"/>
            </a:xfrm>
            <a:prstGeom prst="rect">
              <a:avLst/>
            </a:prstGeom>
          </p:spPr>
          <p:txBody>
            <a:bodyPr anchor="ctr" rtlCol="false" tIns="35863" lIns="35863" bIns="35863" rIns="35863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4602024" y="5717747"/>
            <a:ext cx="2046723" cy="736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25"/>
              </a:lnSpc>
            </a:pPr>
            <a:r>
              <a:rPr lang="en-US" sz="4232" spc="884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2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893438" y="6358909"/>
            <a:ext cx="2765921" cy="736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25"/>
              </a:lnSpc>
            </a:pPr>
            <a:r>
              <a:rPr lang="en-US" sz="4232" spc="884">
                <a:solidFill>
                  <a:srgbClr val="FFA3C1"/>
                </a:solidFill>
                <a:latin typeface="Antio"/>
                <a:ea typeface="Antio"/>
                <a:cs typeface="Antio"/>
                <a:sym typeface="Antio"/>
              </a:rPr>
              <a:t>2x -1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029963" y="7461650"/>
            <a:ext cx="1659987" cy="736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25"/>
              </a:lnSpc>
            </a:pPr>
            <a:r>
              <a:rPr lang="en-US" sz="4232" spc="884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3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87449" y="4825571"/>
            <a:ext cx="2524245" cy="688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4"/>
              </a:lnSpc>
            </a:pPr>
            <a:r>
              <a:rPr lang="en-US" sz="3600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Jawab :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602803" y="7304751"/>
            <a:ext cx="2778497" cy="736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25"/>
              </a:lnSpc>
            </a:pPr>
            <a:r>
              <a:rPr lang="en-US" sz="4232" spc="884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2(2) -1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27B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1130" y="486490"/>
            <a:ext cx="17265740" cy="9314020"/>
            <a:chOff x="0" y="0"/>
            <a:chExt cx="4547355" cy="24530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47355" cy="2453075"/>
            </a:xfrm>
            <a:custGeom>
              <a:avLst/>
              <a:gdLst/>
              <a:ahLst/>
              <a:cxnLst/>
              <a:rect r="r" b="b" t="t" l="l"/>
              <a:pathLst>
                <a:path h="2453075" w="4547355">
                  <a:moveTo>
                    <a:pt x="22868" y="0"/>
                  </a:moveTo>
                  <a:lnTo>
                    <a:pt x="4524487" y="0"/>
                  </a:lnTo>
                  <a:cubicBezTo>
                    <a:pt x="4530552" y="0"/>
                    <a:pt x="4536369" y="2409"/>
                    <a:pt x="4540657" y="6698"/>
                  </a:cubicBezTo>
                  <a:cubicBezTo>
                    <a:pt x="4544946" y="10987"/>
                    <a:pt x="4547355" y="16803"/>
                    <a:pt x="4547355" y="22868"/>
                  </a:cubicBezTo>
                  <a:lnTo>
                    <a:pt x="4547355" y="2430207"/>
                  </a:lnTo>
                  <a:cubicBezTo>
                    <a:pt x="4547355" y="2436272"/>
                    <a:pt x="4544946" y="2442089"/>
                    <a:pt x="4540657" y="2446377"/>
                  </a:cubicBezTo>
                  <a:cubicBezTo>
                    <a:pt x="4536369" y="2450666"/>
                    <a:pt x="4530552" y="2453075"/>
                    <a:pt x="4524487" y="2453075"/>
                  </a:cubicBezTo>
                  <a:lnTo>
                    <a:pt x="22868" y="2453075"/>
                  </a:lnTo>
                  <a:cubicBezTo>
                    <a:pt x="16803" y="2453075"/>
                    <a:pt x="10987" y="2450666"/>
                    <a:pt x="6698" y="2446377"/>
                  </a:cubicBezTo>
                  <a:cubicBezTo>
                    <a:pt x="2409" y="2442089"/>
                    <a:pt x="0" y="2436272"/>
                    <a:pt x="0" y="2430207"/>
                  </a:cubicBezTo>
                  <a:lnTo>
                    <a:pt x="0" y="22868"/>
                  </a:lnTo>
                  <a:cubicBezTo>
                    <a:pt x="0" y="16803"/>
                    <a:pt x="2409" y="10987"/>
                    <a:pt x="6698" y="6698"/>
                  </a:cubicBezTo>
                  <a:cubicBezTo>
                    <a:pt x="10987" y="2409"/>
                    <a:pt x="16803" y="0"/>
                    <a:pt x="22868" y="0"/>
                  </a:cubicBezTo>
                  <a:close/>
                </a:path>
              </a:pathLst>
            </a:custGeom>
            <a:solidFill>
              <a:srgbClr val="4B444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47355" cy="2491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4748493">
            <a:off x="13490128" y="9480494"/>
            <a:ext cx="561536" cy="1002636"/>
          </a:xfrm>
          <a:custGeom>
            <a:avLst/>
            <a:gdLst/>
            <a:ahLst/>
            <a:cxnLst/>
            <a:rect r="r" b="b" t="t" l="l"/>
            <a:pathLst>
              <a:path h="1002636" w="561536">
                <a:moveTo>
                  <a:pt x="0" y="0"/>
                </a:moveTo>
                <a:lnTo>
                  <a:pt x="561536" y="0"/>
                </a:lnTo>
                <a:lnTo>
                  <a:pt x="561536" y="1002636"/>
                </a:lnTo>
                <a:lnTo>
                  <a:pt x="0" y="10026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3811001" y="9513286"/>
            <a:ext cx="2658043" cy="838707"/>
            <a:chOff x="0" y="0"/>
            <a:chExt cx="3544058" cy="1118275"/>
          </a:xfrm>
        </p:grpSpPr>
        <p:grpSp>
          <p:nvGrpSpPr>
            <p:cNvPr name="Group 7" id="7"/>
            <p:cNvGrpSpPr/>
            <p:nvPr/>
          </p:nvGrpSpPr>
          <p:grpSpPr>
            <a:xfrm rot="117060">
              <a:off x="27116" y="59305"/>
              <a:ext cx="3500940" cy="999666"/>
              <a:chOff x="0" y="0"/>
              <a:chExt cx="1753351" cy="500655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753351" cy="500655"/>
              </a:xfrm>
              <a:custGeom>
                <a:avLst/>
                <a:gdLst/>
                <a:ahLst/>
                <a:cxnLst/>
                <a:rect r="r" b="b" t="t" l="l"/>
                <a:pathLst>
                  <a:path h="500655" w="1753351">
                    <a:moveTo>
                      <a:pt x="0" y="0"/>
                    </a:moveTo>
                    <a:lnTo>
                      <a:pt x="1753351" y="0"/>
                    </a:lnTo>
                    <a:lnTo>
                      <a:pt x="1753351" y="500655"/>
                    </a:lnTo>
                    <a:lnTo>
                      <a:pt x="0" y="500655"/>
                    </a:lnTo>
                    <a:close/>
                  </a:path>
                </a:pathLst>
              </a:custGeom>
              <a:solidFill>
                <a:srgbClr val="868383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1753351" cy="538755"/>
              </a:xfrm>
              <a:prstGeom prst="rect">
                <a:avLst/>
              </a:prstGeom>
            </p:spPr>
            <p:txBody>
              <a:bodyPr anchor="ctr" rtlCol="false" tIns="30924" lIns="30924" bIns="30924" rIns="30924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10" id="10"/>
            <p:cNvSpPr/>
            <p:nvPr/>
          </p:nvSpPr>
          <p:spPr>
            <a:xfrm flipH="false" flipV="false" rot="0">
              <a:off x="0" y="19781"/>
              <a:ext cx="3518253" cy="1062256"/>
            </a:xfrm>
            <a:custGeom>
              <a:avLst/>
              <a:gdLst/>
              <a:ahLst/>
              <a:cxnLst/>
              <a:rect r="r" b="b" t="t" l="l"/>
              <a:pathLst>
                <a:path h="1062256" w="3518253">
                  <a:moveTo>
                    <a:pt x="0" y="0"/>
                  </a:moveTo>
                  <a:lnTo>
                    <a:pt x="3518253" y="0"/>
                  </a:lnTo>
                  <a:lnTo>
                    <a:pt x="3518253" y="1062256"/>
                  </a:lnTo>
                  <a:lnTo>
                    <a:pt x="0" y="10622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2355817" y="885825"/>
            <a:ext cx="13576365" cy="1236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b="true" sz="7200">
                <a:solidFill>
                  <a:srgbClr val="FFA3C1"/>
                </a:solidFill>
                <a:latin typeface="One Little Font Bold"/>
                <a:ea typeface="One Little Font Bold"/>
                <a:cs typeface="One Little Font Bold"/>
                <a:sym typeface="One Little Font Bold"/>
              </a:rPr>
              <a:t>Nilai Fungsi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30687" y="2403554"/>
            <a:ext cx="16230600" cy="2136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4"/>
              </a:lnSpc>
            </a:pPr>
            <a:r>
              <a:rPr lang="en-US" sz="3600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Contoh :</a:t>
            </a:r>
          </a:p>
          <a:p>
            <a:pPr algn="l">
              <a:lnSpc>
                <a:spcPts val="5724"/>
              </a:lnSpc>
            </a:pPr>
            <a:r>
              <a:rPr lang="en-US" sz="3600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fungsi f : A → B ditentukan oleh f(x) = 2x - 1. Jika A {2, 4, 6}, tentukan daerah hasilnya!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5625385" y="7186844"/>
            <a:ext cx="1643399" cy="337402"/>
            <a:chOff x="0" y="0"/>
            <a:chExt cx="507027" cy="10409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07027" cy="104096"/>
            </a:xfrm>
            <a:custGeom>
              <a:avLst/>
              <a:gdLst/>
              <a:ahLst/>
              <a:cxnLst/>
              <a:rect r="r" b="b" t="t" l="l"/>
              <a:pathLst>
                <a:path h="104096" w="507027">
                  <a:moveTo>
                    <a:pt x="0" y="0"/>
                  </a:moveTo>
                  <a:lnTo>
                    <a:pt x="507027" y="0"/>
                  </a:lnTo>
                  <a:lnTo>
                    <a:pt x="507027" y="104096"/>
                  </a:lnTo>
                  <a:lnTo>
                    <a:pt x="0" y="104096"/>
                  </a:lnTo>
                  <a:close/>
                </a:path>
              </a:pathLst>
            </a:custGeom>
            <a:solidFill>
              <a:srgbClr val="4B4444"/>
            </a:solidFill>
            <a:ln w="38100" cap="sq">
              <a:solidFill>
                <a:srgbClr val="FFFFFF"/>
              </a:solidFill>
              <a:prstDash val="lgDash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507027" cy="142196"/>
            </a:xfrm>
            <a:prstGeom prst="rect">
              <a:avLst/>
            </a:prstGeom>
          </p:spPr>
          <p:txBody>
            <a:bodyPr anchor="ctr" rtlCol="false" tIns="35863" lIns="35863" bIns="35863" rIns="35863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4862847" y="6666394"/>
            <a:ext cx="1595597" cy="857852"/>
            <a:chOff x="0" y="0"/>
            <a:chExt cx="1133851" cy="6096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12194" y="0"/>
              <a:ext cx="1109463" cy="609600"/>
            </a:xfrm>
            <a:custGeom>
              <a:avLst/>
              <a:gdLst/>
              <a:ahLst/>
              <a:cxnLst/>
              <a:rect r="r" b="b" t="t" l="l"/>
              <a:pathLst>
                <a:path h="609600" w="1109463">
                  <a:moveTo>
                    <a:pt x="234674" y="609600"/>
                  </a:moveTo>
                  <a:lnTo>
                    <a:pt x="874788" y="609600"/>
                  </a:lnTo>
                  <a:cubicBezTo>
                    <a:pt x="900866" y="609600"/>
                    <a:pt x="924019" y="592913"/>
                    <a:pt x="932266" y="568172"/>
                  </a:cubicBezTo>
                  <a:lnTo>
                    <a:pt x="1107847" y="41428"/>
                  </a:lnTo>
                  <a:cubicBezTo>
                    <a:pt x="1111047" y="31829"/>
                    <a:pt x="1109437" y="21279"/>
                    <a:pt x="1103522" y="13071"/>
                  </a:cubicBezTo>
                  <a:cubicBezTo>
                    <a:pt x="1097606" y="4863"/>
                    <a:pt x="1088105" y="0"/>
                    <a:pt x="1077988" y="0"/>
                  </a:cubicBezTo>
                  <a:lnTo>
                    <a:pt x="31474" y="0"/>
                  </a:lnTo>
                  <a:cubicBezTo>
                    <a:pt x="21357" y="0"/>
                    <a:pt x="11857" y="4863"/>
                    <a:pt x="5941" y="13071"/>
                  </a:cubicBezTo>
                  <a:cubicBezTo>
                    <a:pt x="25" y="21279"/>
                    <a:pt x="-1584" y="31829"/>
                    <a:pt x="1615" y="41428"/>
                  </a:cubicBezTo>
                  <a:lnTo>
                    <a:pt x="177197" y="568172"/>
                  </a:lnTo>
                  <a:cubicBezTo>
                    <a:pt x="185444" y="592913"/>
                    <a:pt x="208596" y="609600"/>
                    <a:pt x="234674" y="609600"/>
                  </a:cubicBezTo>
                  <a:close/>
                </a:path>
              </a:pathLst>
            </a:custGeom>
            <a:solidFill>
              <a:srgbClr val="4B4444"/>
            </a:solidFill>
            <a:ln w="38100" cap="sq">
              <a:solidFill>
                <a:srgbClr val="FFFFFF"/>
              </a:solidFill>
              <a:prstDash val="lgDash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127000" y="-38100"/>
              <a:ext cx="879851" cy="647700"/>
            </a:xfrm>
            <a:prstGeom prst="rect">
              <a:avLst/>
            </a:prstGeom>
          </p:spPr>
          <p:txBody>
            <a:bodyPr anchor="ctr" rtlCol="false" tIns="35863" lIns="35863" bIns="35863" rIns="35863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999339" y="6497693"/>
            <a:ext cx="1643399" cy="337402"/>
            <a:chOff x="0" y="0"/>
            <a:chExt cx="507027" cy="10409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07027" cy="104096"/>
            </a:xfrm>
            <a:custGeom>
              <a:avLst/>
              <a:gdLst/>
              <a:ahLst/>
              <a:cxnLst/>
              <a:rect r="r" b="b" t="t" l="l"/>
              <a:pathLst>
                <a:path h="104096" w="507027">
                  <a:moveTo>
                    <a:pt x="0" y="0"/>
                  </a:moveTo>
                  <a:lnTo>
                    <a:pt x="507027" y="0"/>
                  </a:lnTo>
                  <a:lnTo>
                    <a:pt x="507027" y="104096"/>
                  </a:lnTo>
                  <a:lnTo>
                    <a:pt x="0" y="104096"/>
                  </a:lnTo>
                  <a:close/>
                </a:path>
              </a:pathLst>
            </a:custGeom>
            <a:solidFill>
              <a:srgbClr val="4B4444"/>
            </a:solidFill>
            <a:ln w="38100" cap="sq">
              <a:solidFill>
                <a:srgbClr val="FFFFFF"/>
              </a:solidFill>
              <a:prstDash val="lgDash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507027" cy="142196"/>
            </a:xfrm>
            <a:prstGeom prst="rect">
              <a:avLst/>
            </a:prstGeom>
          </p:spPr>
          <p:txBody>
            <a:bodyPr anchor="ctr" rtlCol="false" tIns="35863" lIns="35863" bIns="35863" rIns="35863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7011360" y="5869602"/>
            <a:ext cx="4556981" cy="2634484"/>
            <a:chOff x="0" y="0"/>
            <a:chExt cx="1405935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405935" cy="812800"/>
            </a:xfrm>
            <a:custGeom>
              <a:avLst/>
              <a:gdLst/>
              <a:ahLst/>
              <a:cxnLst/>
              <a:rect r="r" b="b" t="t" l="l"/>
              <a:pathLst>
                <a:path h="812800" w="1405935">
                  <a:moveTo>
                    <a:pt x="33978" y="0"/>
                  </a:moveTo>
                  <a:lnTo>
                    <a:pt x="1371957" y="0"/>
                  </a:lnTo>
                  <a:cubicBezTo>
                    <a:pt x="1390723" y="0"/>
                    <a:pt x="1405935" y="15213"/>
                    <a:pt x="1405935" y="33978"/>
                  </a:cubicBezTo>
                  <a:lnTo>
                    <a:pt x="1405935" y="778822"/>
                  </a:lnTo>
                  <a:cubicBezTo>
                    <a:pt x="1405935" y="797587"/>
                    <a:pt x="1390723" y="812800"/>
                    <a:pt x="1371957" y="812800"/>
                  </a:cubicBezTo>
                  <a:lnTo>
                    <a:pt x="33978" y="812800"/>
                  </a:lnTo>
                  <a:cubicBezTo>
                    <a:pt x="15213" y="812800"/>
                    <a:pt x="0" y="797587"/>
                    <a:pt x="0" y="778822"/>
                  </a:cubicBezTo>
                  <a:lnTo>
                    <a:pt x="0" y="33978"/>
                  </a:lnTo>
                  <a:cubicBezTo>
                    <a:pt x="0" y="15213"/>
                    <a:pt x="15213" y="0"/>
                    <a:pt x="33978" y="0"/>
                  </a:cubicBezTo>
                  <a:close/>
                </a:path>
              </a:pathLst>
            </a:custGeom>
            <a:solidFill>
              <a:srgbClr val="4B4444"/>
            </a:solidFill>
            <a:ln w="38100" cap="sq">
              <a:solidFill>
                <a:srgbClr val="FFFFFF"/>
              </a:solidFill>
              <a:prstDash val="lgDash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405935" cy="850900"/>
            </a:xfrm>
            <a:prstGeom prst="rect">
              <a:avLst/>
            </a:prstGeom>
          </p:spPr>
          <p:txBody>
            <a:bodyPr anchor="ctr" rtlCol="false" tIns="35863" lIns="35863" bIns="35863" rIns="35863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094353" y="6489562"/>
            <a:ext cx="1595597" cy="910439"/>
            <a:chOff x="0" y="0"/>
            <a:chExt cx="812800" cy="46377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15125" y="0"/>
              <a:ext cx="782550" cy="463779"/>
            </a:xfrm>
            <a:custGeom>
              <a:avLst/>
              <a:gdLst/>
              <a:ahLst/>
              <a:cxnLst/>
              <a:rect r="r" b="b" t="t" l="l"/>
              <a:pathLst>
                <a:path h="463779" w="782550">
                  <a:moveTo>
                    <a:pt x="231743" y="0"/>
                  </a:moveTo>
                  <a:lnTo>
                    <a:pt x="550807" y="0"/>
                  </a:lnTo>
                  <a:cubicBezTo>
                    <a:pt x="577337" y="0"/>
                    <a:pt x="601353" y="15698"/>
                    <a:pt x="612000" y="39998"/>
                  </a:cubicBezTo>
                  <a:lnTo>
                    <a:pt x="780150" y="423782"/>
                  </a:lnTo>
                  <a:cubicBezTo>
                    <a:pt x="784017" y="432607"/>
                    <a:pt x="783170" y="442788"/>
                    <a:pt x="777899" y="450853"/>
                  </a:cubicBezTo>
                  <a:cubicBezTo>
                    <a:pt x="772627" y="458918"/>
                    <a:pt x="763642" y="463779"/>
                    <a:pt x="754007" y="463779"/>
                  </a:cubicBezTo>
                  <a:lnTo>
                    <a:pt x="28543" y="463779"/>
                  </a:lnTo>
                  <a:cubicBezTo>
                    <a:pt x="18908" y="463779"/>
                    <a:pt x="9923" y="458918"/>
                    <a:pt x="4651" y="450853"/>
                  </a:cubicBezTo>
                  <a:cubicBezTo>
                    <a:pt x="-620" y="442788"/>
                    <a:pt x="-1467" y="432607"/>
                    <a:pt x="2400" y="423782"/>
                  </a:cubicBezTo>
                  <a:lnTo>
                    <a:pt x="170550" y="39998"/>
                  </a:lnTo>
                  <a:cubicBezTo>
                    <a:pt x="181197" y="15698"/>
                    <a:pt x="205213" y="0"/>
                    <a:pt x="231743" y="0"/>
                  </a:cubicBezTo>
                  <a:close/>
                </a:path>
              </a:pathLst>
            </a:custGeom>
            <a:solidFill>
              <a:srgbClr val="4B4444"/>
            </a:solidFill>
            <a:ln w="38100" cap="sq">
              <a:solidFill>
                <a:srgbClr val="FFFFFF"/>
              </a:solidFill>
              <a:prstDash val="lgDash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127000" y="-38100"/>
              <a:ext cx="558800" cy="501879"/>
            </a:xfrm>
            <a:prstGeom prst="rect">
              <a:avLst/>
            </a:prstGeom>
          </p:spPr>
          <p:txBody>
            <a:bodyPr anchor="ctr" rtlCol="false" tIns="35863" lIns="35863" bIns="35863" rIns="35863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4602024" y="5717747"/>
            <a:ext cx="2046723" cy="736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25"/>
              </a:lnSpc>
            </a:pPr>
            <a:r>
              <a:rPr lang="en-US" sz="4232" spc="884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4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893438" y="6358909"/>
            <a:ext cx="2765921" cy="736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25"/>
              </a:lnSpc>
            </a:pPr>
            <a:r>
              <a:rPr lang="en-US" sz="4232" spc="884">
                <a:solidFill>
                  <a:srgbClr val="FFA3C1"/>
                </a:solidFill>
                <a:latin typeface="Antio"/>
                <a:ea typeface="Antio"/>
                <a:cs typeface="Antio"/>
                <a:sym typeface="Antio"/>
              </a:rPr>
              <a:t>2x -1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029963" y="7461650"/>
            <a:ext cx="1659987" cy="736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25"/>
              </a:lnSpc>
            </a:pPr>
            <a:r>
              <a:rPr lang="en-US" sz="4232" spc="884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7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87449" y="4825571"/>
            <a:ext cx="2524245" cy="688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4"/>
              </a:lnSpc>
            </a:pPr>
            <a:r>
              <a:rPr lang="en-US" sz="3600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Jawab :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602803" y="7304751"/>
            <a:ext cx="2778497" cy="736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25"/>
              </a:lnSpc>
            </a:pPr>
            <a:r>
              <a:rPr lang="en-US" sz="4232" spc="884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2(4) -1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27B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1130" y="486490"/>
            <a:ext cx="17265740" cy="9314020"/>
            <a:chOff x="0" y="0"/>
            <a:chExt cx="4547355" cy="24530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47355" cy="2453075"/>
            </a:xfrm>
            <a:custGeom>
              <a:avLst/>
              <a:gdLst/>
              <a:ahLst/>
              <a:cxnLst/>
              <a:rect r="r" b="b" t="t" l="l"/>
              <a:pathLst>
                <a:path h="2453075" w="4547355">
                  <a:moveTo>
                    <a:pt x="22868" y="0"/>
                  </a:moveTo>
                  <a:lnTo>
                    <a:pt x="4524487" y="0"/>
                  </a:lnTo>
                  <a:cubicBezTo>
                    <a:pt x="4530552" y="0"/>
                    <a:pt x="4536369" y="2409"/>
                    <a:pt x="4540657" y="6698"/>
                  </a:cubicBezTo>
                  <a:cubicBezTo>
                    <a:pt x="4544946" y="10987"/>
                    <a:pt x="4547355" y="16803"/>
                    <a:pt x="4547355" y="22868"/>
                  </a:cubicBezTo>
                  <a:lnTo>
                    <a:pt x="4547355" y="2430207"/>
                  </a:lnTo>
                  <a:cubicBezTo>
                    <a:pt x="4547355" y="2436272"/>
                    <a:pt x="4544946" y="2442089"/>
                    <a:pt x="4540657" y="2446377"/>
                  </a:cubicBezTo>
                  <a:cubicBezTo>
                    <a:pt x="4536369" y="2450666"/>
                    <a:pt x="4530552" y="2453075"/>
                    <a:pt x="4524487" y="2453075"/>
                  </a:cubicBezTo>
                  <a:lnTo>
                    <a:pt x="22868" y="2453075"/>
                  </a:lnTo>
                  <a:cubicBezTo>
                    <a:pt x="16803" y="2453075"/>
                    <a:pt x="10987" y="2450666"/>
                    <a:pt x="6698" y="2446377"/>
                  </a:cubicBezTo>
                  <a:cubicBezTo>
                    <a:pt x="2409" y="2442089"/>
                    <a:pt x="0" y="2436272"/>
                    <a:pt x="0" y="2430207"/>
                  </a:cubicBezTo>
                  <a:lnTo>
                    <a:pt x="0" y="22868"/>
                  </a:lnTo>
                  <a:cubicBezTo>
                    <a:pt x="0" y="16803"/>
                    <a:pt x="2409" y="10987"/>
                    <a:pt x="6698" y="6698"/>
                  </a:cubicBezTo>
                  <a:cubicBezTo>
                    <a:pt x="10987" y="2409"/>
                    <a:pt x="16803" y="0"/>
                    <a:pt x="22868" y="0"/>
                  </a:cubicBezTo>
                  <a:close/>
                </a:path>
              </a:pathLst>
            </a:custGeom>
            <a:solidFill>
              <a:srgbClr val="4B444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47355" cy="2491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4748493">
            <a:off x="13490128" y="9480494"/>
            <a:ext cx="561536" cy="1002636"/>
          </a:xfrm>
          <a:custGeom>
            <a:avLst/>
            <a:gdLst/>
            <a:ahLst/>
            <a:cxnLst/>
            <a:rect r="r" b="b" t="t" l="l"/>
            <a:pathLst>
              <a:path h="1002636" w="561536">
                <a:moveTo>
                  <a:pt x="0" y="0"/>
                </a:moveTo>
                <a:lnTo>
                  <a:pt x="561536" y="0"/>
                </a:lnTo>
                <a:lnTo>
                  <a:pt x="561536" y="1002636"/>
                </a:lnTo>
                <a:lnTo>
                  <a:pt x="0" y="10026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3811001" y="9513286"/>
            <a:ext cx="2658043" cy="838707"/>
            <a:chOff x="0" y="0"/>
            <a:chExt cx="3544058" cy="1118275"/>
          </a:xfrm>
        </p:grpSpPr>
        <p:grpSp>
          <p:nvGrpSpPr>
            <p:cNvPr name="Group 7" id="7"/>
            <p:cNvGrpSpPr/>
            <p:nvPr/>
          </p:nvGrpSpPr>
          <p:grpSpPr>
            <a:xfrm rot="117060">
              <a:off x="27116" y="59305"/>
              <a:ext cx="3500940" cy="999666"/>
              <a:chOff x="0" y="0"/>
              <a:chExt cx="1753351" cy="500655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753351" cy="500655"/>
              </a:xfrm>
              <a:custGeom>
                <a:avLst/>
                <a:gdLst/>
                <a:ahLst/>
                <a:cxnLst/>
                <a:rect r="r" b="b" t="t" l="l"/>
                <a:pathLst>
                  <a:path h="500655" w="1753351">
                    <a:moveTo>
                      <a:pt x="0" y="0"/>
                    </a:moveTo>
                    <a:lnTo>
                      <a:pt x="1753351" y="0"/>
                    </a:lnTo>
                    <a:lnTo>
                      <a:pt x="1753351" y="500655"/>
                    </a:lnTo>
                    <a:lnTo>
                      <a:pt x="0" y="500655"/>
                    </a:lnTo>
                    <a:close/>
                  </a:path>
                </a:pathLst>
              </a:custGeom>
              <a:solidFill>
                <a:srgbClr val="868383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1753351" cy="538755"/>
              </a:xfrm>
              <a:prstGeom prst="rect">
                <a:avLst/>
              </a:prstGeom>
            </p:spPr>
            <p:txBody>
              <a:bodyPr anchor="ctr" rtlCol="false" tIns="30924" lIns="30924" bIns="30924" rIns="30924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10" id="10"/>
            <p:cNvSpPr/>
            <p:nvPr/>
          </p:nvSpPr>
          <p:spPr>
            <a:xfrm flipH="false" flipV="false" rot="0">
              <a:off x="0" y="19781"/>
              <a:ext cx="3518253" cy="1062256"/>
            </a:xfrm>
            <a:custGeom>
              <a:avLst/>
              <a:gdLst/>
              <a:ahLst/>
              <a:cxnLst/>
              <a:rect r="r" b="b" t="t" l="l"/>
              <a:pathLst>
                <a:path h="1062256" w="3518253">
                  <a:moveTo>
                    <a:pt x="0" y="0"/>
                  </a:moveTo>
                  <a:lnTo>
                    <a:pt x="3518253" y="0"/>
                  </a:lnTo>
                  <a:lnTo>
                    <a:pt x="3518253" y="1062256"/>
                  </a:lnTo>
                  <a:lnTo>
                    <a:pt x="0" y="10622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2355817" y="885825"/>
            <a:ext cx="13576365" cy="1236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b="true" sz="7200">
                <a:solidFill>
                  <a:srgbClr val="FFA3C1"/>
                </a:solidFill>
                <a:latin typeface="One Little Font Bold"/>
                <a:ea typeface="One Little Font Bold"/>
                <a:cs typeface="One Little Font Bold"/>
                <a:sym typeface="One Little Font Bold"/>
              </a:rPr>
              <a:t>Nilai Fungsi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30687" y="2403554"/>
            <a:ext cx="16230600" cy="2136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4"/>
              </a:lnSpc>
            </a:pPr>
            <a:r>
              <a:rPr lang="en-US" sz="3600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Contoh :</a:t>
            </a:r>
          </a:p>
          <a:p>
            <a:pPr algn="l">
              <a:lnSpc>
                <a:spcPts val="5724"/>
              </a:lnSpc>
            </a:pPr>
            <a:r>
              <a:rPr lang="en-US" sz="3600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fungsi f : A → B ditentukan oleh f(x) = 2x - 1. Jika A {2, 4, 6}, tentukan daerah hasilnya!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5625385" y="7186844"/>
            <a:ext cx="1643399" cy="337402"/>
            <a:chOff x="0" y="0"/>
            <a:chExt cx="507027" cy="10409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07027" cy="104096"/>
            </a:xfrm>
            <a:custGeom>
              <a:avLst/>
              <a:gdLst/>
              <a:ahLst/>
              <a:cxnLst/>
              <a:rect r="r" b="b" t="t" l="l"/>
              <a:pathLst>
                <a:path h="104096" w="507027">
                  <a:moveTo>
                    <a:pt x="0" y="0"/>
                  </a:moveTo>
                  <a:lnTo>
                    <a:pt x="507027" y="0"/>
                  </a:lnTo>
                  <a:lnTo>
                    <a:pt x="507027" y="104096"/>
                  </a:lnTo>
                  <a:lnTo>
                    <a:pt x="0" y="104096"/>
                  </a:lnTo>
                  <a:close/>
                </a:path>
              </a:pathLst>
            </a:custGeom>
            <a:solidFill>
              <a:srgbClr val="4B4444"/>
            </a:solidFill>
            <a:ln w="38100" cap="sq">
              <a:solidFill>
                <a:srgbClr val="FFFFFF"/>
              </a:solidFill>
              <a:prstDash val="lgDash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507027" cy="142196"/>
            </a:xfrm>
            <a:prstGeom prst="rect">
              <a:avLst/>
            </a:prstGeom>
          </p:spPr>
          <p:txBody>
            <a:bodyPr anchor="ctr" rtlCol="false" tIns="35863" lIns="35863" bIns="35863" rIns="35863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4862847" y="6666394"/>
            <a:ext cx="1595597" cy="857852"/>
            <a:chOff x="0" y="0"/>
            <a:chExt cx="1133851" cy="6096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12194" y="0"/>
              <a:ext cx="1109463" cy="609600"/>
            </a:xfrm>
            <a:custGeom>
              <a:avLst/>
              <a:gdLst/>
              <a:ahLst/>
              <a:cxnLst/>
              <a:rect r="r" b="b" t="t" l="l"/>
              <a:pathLst>
                <a:path h="609600" w="1109463">
                  <a:moveTo>
                    <a:pt x="234674" y="609600"/>
                  </a:moveTo>
                  <a:lnTo>
                    <a:pt x="874788" y="609600"/>
                  </a:lnTo>
                  <a:cubicBezTo>
                    <a:pt x="900866" y="609600"/>
                    <a:pt x="924019" y="592913"/>
                    <a:pt x="932266" y="568172"/>
                  </a:cubicBezTo>
                  <a:lnTo>
                    <a:pt x="1107847" y="41428"/>
                  </a:lnTo>
                  <a:cubicBezTo>
                    <a:pt x="1111047" y="31829"/>
                    <a:pt x="1109437" y="21279"/>
                    <a:pt x="1103522" y="13071"/>
                  </a:cubicBezTo>
                  <a:cubicBezTo>
                    <a:pt x="1097606" y="4863"/>
                    <a:pt x="1088105" y="0"/>
                    <a:pt x="1077988" y="0"/>
                  </a:cubicBezTo>
                  <a:lnTo>
                    <a:pt x="31474" y="0"/>
                  </a:lnTo>
                  <a:cubicBezTo>
                    <a:pt x="21357" y="0"/>
                    <a:pt x="11857" y="4863"/>
                    <a:pt x="5941" y="13071"/>
                  </a:cubicBezTo>
                  <a:cubicBezTo>
                    <a:pt x="25" y="21279"/>
                    <a:pt x="-1584" y="31829"/>
                    <a:pt x="1615" y="41428"/>
                  </a:cubicBezTo>
                  <a:lnTo>
                    <a:pt x="177197" y="568172"/>
                  </a:lnTo>
                  <a:cubicBezTo>
                    <a:pt x="185444" y="592913"/>
                    <a:pt x="208596" y="609600"/>
                    <a:pt x="234674" y="609600"/>
                  </a:cubicBezTo>
                  <a:close/>
                </a:path>
              </a:pathLst>
            </a:custGeom>
            <a:solidFill>
              <a:srgbClr val="4B4444"/>
            </a:solidFill>
            <a:ln w="38100" cap="sq">
              <a:solidFill>
                <a:srgbClr val="FFFFFF"/>
              </a:solidFill>
              <a:prstDash val="lgDash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127000" y="-38100"/>
              <a:ext cx="879851" cy="647700"/>
            </a:xfrm>
            <a:prstGeom prst="rect">
              <a:avLst/>
            </a:prstGeom>
          </p:spPr>
          <p:txBody>
            <a:bodyPr anchor="ctr" rtlCol="false" tIns="35863" lIns="35863" bIns="35863" rIns="35863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999339" y="6497693"/>
            <a:ext cx="1643399" cy="337402"/>
            <a:chOff x="0" y="0"/>
            <a:chExt cx="507027" cy="10409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07027" cy="104096"/>
            </a:xfrm>
            <a:custGeom>
              <a:avLst/>
              <a:gdLst/>
              <a:ahLst/>
              <a:cxnLst/>
              <a:rect r="r" b="b" t="t" l="l"/>
              <a:pathLst>
                <a:path h="104096" w="507027">
                  <a:moveTo>
                    <a:pt x="0" y="0"/>
                  </a:moveTo>
                  <a:lnTo>
                    <a:pt x="507027" y="0"/>
                  </a:lnTo>
                  <a:lnTo>
                    <a:pt x="507027" y="104096"/>
                  </a:lnTo>
                  <a:lnTo>
                    <a:pt x="0" y="104096"/>
                  </a:lnTo>
                  <a:close/>
                </a:path>
              </a:pathLst>
            </a:custGeom>
            <a:solidFill>
              <a:srgbClr val="4B4444"/>
            </a:solidFill>
            <a:ln w="38100" cap="sq">
              <a:solidFill>
                <a:srgbClr val="FFFFFF"/>
              </a:solidFill>
              <a:prstDash val="lgDash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507027" cy="142196"/>
            </a:xfrm>
            <a:prstGeom prst="rect">
              <a:avLst/>
            </a:prstGeom>
          </p:spPr>
          <p:txBody>
            <a:bodyPr anchor="ctr" rtlCol="false" tIns="35863" lIns="35863" bIns="35863" rIns="35863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7011360" y="5869602"/>
            <a:ext cx="4556981" cy="2634484"/>
            <a:chOff x="0" y="0"/>
            <a:chExt cx="1405935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405935" cy="812800"/>
            </a:xfrm>
            <a:custGeom>
              <a:avLst/>
              <a:gdLst/>
              <a:ahLst/>
              <a:cxnLst/>
              <a:rect r="r" b="b" t="t" l="l"/>
              <a:pathLst>
                <a:path h="812800" w="1405935">
                  <a:moveTo>
                    <a:pt x="33978" y="0"/>
                  </a:moveTo>
                  <a:lnTo>
                    <a:pt x="1371957" y="0"/>
                  </a:lnTo>
                  <a:cubicBezTo>
                    <a:pt x="1390723" y="0"/>
                    <a:pt x="1405935" y="15213"/>
                    <a:pt x="1405935" y="33978"/>
                  </a:cubicBezTo>
                  <a:lnTo>
                    <a:pt x="1405935" y="778822"/>
                  </a:lnTo>
                  <a:cubicBezTo>
                    <a:pt x="1405935" y="797587"/>
                    <a:pt x="1390723" y="812800"/>
                    <a:pt x="1371957" y="812800"/>
                  </a:cubicBezTo>
                  <a:lnTo>
                    <a:pt x="33978" y="812800"/>
                  </a:lnTo>
                  <a:cubicBezTo>
                    <a:pt x="15213" y="812800"/>
                    <a:pt x="0" y="797587"/>
                    <a:pt x="0" y="778822"/>
                  </a:cubicBezTo>
                  <a:lnTo>
                    <a:pt x="0" y="33978"/>
                  </a:lnTo>
                  <a:cubicBezTo>
                    <a:pt x="0" y="15213"/>
                    <a:pt x="15213" y="0"/>
                    <a:pt x="33978" y="0"/>
                  </a:cubicBezTo>
                  <a:close/>
                </a:path>
              </a:pathLst>
            </a:custGeom>
            <a:solidFill>
              <a:srgbClr val="4B4444"/>
            </a:solidFill>
            <a:ln w="38100" cap="sq">
              <a:solidFill>
                <a:srgbClr val="FFFFFF"/>
              </a:solidFill>
              <a:prstDash val="lgDash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405935" cy="850900"/>
            </a:xfrm>
            <a:prstGeom prst="rect">
              <a:avLst/>
            </a:prstGeom>
          </p:spPr>
          <p:txBody>
            <a:bodyPr anchor="ctr" rtlCol="false" tIns="35863" lIns="35863" bIns="35863" rIns="35863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094353" y="6489562"/>
            <a:ext cx="1595597" cy="910439"/>
            <a:chOff x="0" y="0"/>
            <a:chExt cx="812800" cy="46377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15125" y="0"/>
              <a:ext cx="782550" cy="463779"/>
            </a:xfrm>
            <a:custGeom>
              <a:avLst/>
              <a:gdLst/>
              <a:ahLst/>
              <a:cxnLst/>
              <a:rect r="r" b="b" t="t" l="l"/>
              <a:pathLst>
                <a:path h="463779" w="782550">
                  <a:moveTo>
                    <a:pt x="231743" y="0"/>
                  </a:moveTo>
                  <a:lnTo>
                    <a:pt x="550807" y="0"/>
                  </a:lnTo>
                  <a:cubicBezTo>
                    <a:pt x="577337" y="0"/>
                    <a:pt x="601353" y="15698"/>
                    <a:pt x="612000" y="39998"/>
                  </a:cubicBezTo>
                  <a:lnTo>
                    <a:pt x="780150" y="423782"/>
                  </a:lnTo>
                  <a:cubicBezTo>
                    <a:pt x="784017" y="432607"/>
                    <a:pt x="783170" y="442788"/>
                    <a:pt x="777899" y="450853"/>
                  </a:cubicBezTo>
                  <a:cubicBezTo>
                    <a:pt x="772627" y="458918"/>
                    <a:pt x="763642" y="463779"/>
                    <a:pt x="754007" y="463779"/>
                  </a:cubicBezTo>
                  <a:lnTo>
                    <a:pt x="28543" y="463779"/>
                  </a:lnTo>
                  <a:cubicBezTo>
                    <a:pt x="18908" y="463779"/>
                    <a:pt x="9923" y="458918"/>
                    <a:pt x="4651" y="450853"/>
                  </a:cubicBezTo>
                  <a:cubicBezTo>
                    <a:pt x="-620" y="442788"/>
                    <a:pt x="-1467" y="432607"/>
                    <a:pt x="2400" y="423782"/>
                  </a:cubicBezTo>
                  <a:lnTo>
                    <a:pt x="170550" y="39998"/>
                  </a:lnTo>
                  <a:cubicBezTo>
                    <a:pt x="181197" y="15698"/>
                    <a:pt x="205213" y="0"/>
                    <a:pt x="231743" y="0"/>
                  </a:cubicBezTo>
                  <a:close/>
                </a:path>
              </a:pathLst>
            </a:custGeom>
            <a:solidFill>
              <a:srgbClr val="4B4444"/>
            </a:solidFill>
            <a:ln w="38100" cap="sq">
              <a:solidFill>
                <a:srgbClr val="FFFFFF"/>
              </a:solidFill>
              <a:prstDash val="lgDash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127000" y="-38100"/>
              <a:ext cx="558800" cy="501879"/>
            </a:xfrm>
            <a:prstGeom prst="rect">
              <a:avLst/>
            </a:prstGeom>
          </p:spPr>
          <p:txBody>
            <a:bodyPr anchor="ctr" rtlCol="false" tIns="35863" lIns="35863" bIns="35863" rIns="35863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4602024" y="5717747"/>
            <a:ext cx="2046723" cy="736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25"/>
              </a:lnSpc>
            </a:pPr>
            <a:r>
              <a:rPr lang="en-US" sz="4232" spc="884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6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893438" y="6358909"/>
            <a:ext cx="2765921" cy="736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25"/>
              </a:lnSpc>
            </a:pPr>
            <a:r>
              <a:rPr lang="en-US" sz="4232" spc="884">
                <a:solidFill>
                  <a:srgbClr val="FFA3C1"/>
                </a:solidFill>
                <a:latin typeface="Antio"/>
                <a:ea typeface="Antio"/>
                <a:cs typeface="Antio"/>
                <a:sym typeface="Antio"/>
              </a:rPr>
              <a:t>2x -1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029963" y="7461650"/>
            <a:ext cx="1659987" cy="736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25"/>
              </a:lnSpc>
            </a:pPr>
            <a:r>
              <a:rPr lang="en-US" sz="4232" spc="884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11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87449" y="4825571"/>
            <a:ext cx="2524245" cy="688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4"/>
              </a:lnSpc>
            </a:pPr>
            <a:r>
              <a:rPr lang="en-US" sz="3600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Jawab :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602803" y="7304751"/>
            <a:ext cx="2778497" cy="736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25"/>
              </a:lnSpc>
            </a:pPr>
            <a:r>
              <a:rPr lang="en-US" sz="4232" spc="884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2(6) -1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27B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1130" y="486490"/>
            <a:ext cx="17265740" cy="9314020"/>
            <a:chOff x="0" y="0"/>
            <a:chExt cx="4547355" cy="24530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47355" cy="2453075"/>
            </a:xfrm>
            <a:custGeom>
              <a:avLst/>
              <a:gdLst/>
              <a:ahLst/>
              <a:cxnLst/>
              <a:rect r="r" b="b" t="t" l="l"/>
              <a:pathLst>
                <a:path h="2453075" w="4547355">
                  <a:moveTo>
                    <a:pt x="22868" y="0"/>
                  </a:moveTo>
                  <a:lnTo>
                    <a:pt x="4524487" y="0"/>
                  </a:lnTo>
                  <a:cubicBezTo>
                    <a:pt x="4530552" y="0"/>
                    <a:pt x="4536369" y="2409"/>
                    <a:pt x="4540657" y="6698"/>
                  </a:cubicBezTo>
                  <a:cubicBezTo>
                    <a:pt x="4544946" y="10987"/>
                    <a:pt x="4547355" y="16803"/>
                    <a:pt x="4547355" y="22868"/>
                  </a:cubicBezTo>
                  <a:lnTo>
                    <a:pt x="4547355" y="2430207"/>
                  </a:lnTo>
                  <a:cubicBezTo>
                    <a:pt x="4547355" y="2436272"/>
                    <a:pt x="4544946" y="2442089"/>
                    <a:pt x="4540657" y="2446377"/>
                  </a:cubicBezTo>
                  <a:cubicBezTo>
                    <a:pt x="4536369" y="2450666"/>
                    <a:pt x="4530552" y="2453075"/>
                    <a:pt x="4524487" y="2453075"/>
                  </a:cubicBezTo>
                  <a:lnTo>
                    <a:pt x="22868" y="2453075"/>
                  </a:lnTo>
                  <a:cubicBezTo>
                    <a:pt x="16803" y="2453075"/>
                    <a:pt x="10987" y="2450666"/>
                    <a:pt x="6698" y="2446377"/>
                  </a:cubicBezTo>
                  <a:cubicBezTo>
                    <a:pt x="2409" y="2442089"/>
                    <a:pt x="0" y="2436272"/>
                    <a:pt x="0" y="2430207"/>
                  </a:cubicBezTo>
                  <a:lnTo>
                    <a:pt x="0" y="22868"/>
                  </a:lnTo>
                  <a:cubicBezTo>
                    <a:pt x="0" y="16803"/>
                    <a:pt x="2409" y="10987"/>
                    <a:pt x="6698" y="6698"/>
                  </a:cubicBezTo>
                  <a:cubicBezTo>
                    <a:pt x="10987" y="2409"/>
                    <a:pt x="16803" y="0"/>
                    <a:pt x="22868" y="0"/>
                  </a:cubicBezTo>
                  <a:close/>
                </a:path>
              </a:pathLst>
            </a:custGeom>
            <a:solidFill>
              <a:srgbClr val="4B444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47355" cy="2491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4748493">
            <a:off x="13490128" y="9480494"/>
            <a:ext cx="561536" cy="1002636"/>
          </a:xfrm>
          <a:custGeom>
            <a:avLst/>
            <a:gdLst/>
            <a:ahLst/>
            <a:cxnLst/>
            <a:rect r="r" b="b" t="t" l="l"/>
            <a:pathLst>
              <a:path h="1002636" w="561536">
                <a:moveTo>
                  <a:pt x="0" y="0"/>
                </a:moveTo>
                <a:lnTo>
                  <a:pt x="561536" y="0"/>
                </a:lnTo>
                <a:lnTo>
                  <a:pt x="561536" y="1002636"/>
                </a:lnTo>
                <a:lnTo>
                  <a:pt x="0" y="10026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3811001" y="9513286"/>
            <a:ext cx="2658043" cy="838707"/>
            <a:chOff x="0" y="0"/>
            <a:chExt cx="3544058" cy="1118275"/>
          </a:xfrm>
        </p:grpSpPr>
        <p:grpSp>
          <p:nvGrpSpPr>
            <p:cNvPr name="Group 7" id="7"/>
            <p:cNvGrpSpPr/>
            <p:nvPr/>
          </p:nvGrpSpPr>
          <p:grpSpPr>
            <a:xfrm rot="117060">
              <a:off x="27116" y="59305"/>
              <a:ext cx="3500940" cy="999666"/>
              <a:chOff x="0" y="0"/>
              <a:chExt cx="1753351" cy="500655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753351" cy="500655"/>
              </a:xfrm>
              <a:custGeom>
                <a:avLst/>
                <a:gdLst/>
                <a:ahLst/>
                <a:cxnLst/>
                <a:rect r="r" b="b" t="t" l="l"/>
                <a:pathLst>
                  <a:path h="500655" w="1753351">
                    <a:moveTo>
                      <a:pt x="0" y="0"/>
                    </a:moveTo>
                    <a:lnTo>
                      <a:pt x="1753351" y="0"/>
                    </a:lnTo>
                    <a:lnTo>
                      <a:pt x="1753351" y="500655"/>
                    </a:lnTo>
                    <a:lnTo>
                      <a:pt x="0" y="500655"/>
                    </a:lnTo>
                    <a:close/>
                  </a:path>
                </a:pathLst>
              </a:custGeom>
              <a:solidFill>
                <a:srgbClr val="868383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1753351" cy="538755"/>
              </a:xfrm>
              <a:prstGeom prst="rect">
                <a:avLst/>
              </a:prstGeom>
            </p:spPr>
            <p:txBody>
              <a:bodyPr anchor="ctr" rtlCol="false" tIns="30924" lIns="30924" bIns="30924" rIns="30924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10" id="10"/>
            <p:cNvSpPr/>
            <p:nvPr/>
          </p:nvSpPr>
          <p:spPr>
            <a:xfrm flipH="false" flipV="false" rot="0">
              <a:off x="0" y="19781"/>
              <a:ext cx="3518253" cy="1062256"/>
            </a:xfrm>
            <a:custGeom>
              <a:avLst/>
              <a:gdLst/>
              <a:ahLst/>
              <a:cxnLst/>
              <a:rect r="r" b="b" t="t" l="l"/>
              <a:pathLst>
                <a:path h="1062256" w="3518253">
                  <a:moveTo>
                    <a:pt x="0" y="0"/>
                  </a:moveTo>
                  <a:lnTo>
                    <a:pt x="3518253" y="0"/>
                  </a:lnTo>
                  <a:lnTo>
                    <a:pt x="3518253" y="1062256"/>
                  </a:lnTo>
                  <a:lnTo>
                    <a:pt x="0" y="10622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2355817" y="885825"/>
            <a:ext cx="13576365" cy="1236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b="true" sz="7200">
                <a:solidFill>
                  <a:srgbClr val="FFA3C1"/>
                </a:solidFill>
                <a:latin typeface="One Little Font Bold"/>
                <a:ea typeface="One Little Font Bold"/>
                <a:cs typeface="One Little Font Bold"/>
                <a:sym typeface="One Little Font Bold"/>
              </a:rPr>
              <a:t>Nilai Fungsi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30687" y="2403554"/>
            <a:ext cx="16230600" cy="2136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4"/>
              </a:lnSpc>
            </a:pPr>
            <a:r>
              <a:rPr lang="en-US" sz="3600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Contoh :</a:t>
            </a:r>
          </a:p>
          <a:p>
            <a:pPr algn="l">
              <a:lnSpc>
                <a:spcPts val="5724"/>
              </a:lnSpc>
            </a:pPr>
            <a:r>
              <a:rPr lang="en-US" sz="3600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fungsi f : A → B ditentukan oleh f(x) = 2x - 1. Jika A {2, 4, 6}, tentukan daerah hasilnya!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87449" y="4825571"/>
            <a:ext cx="2524245" cy="688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4"/>
              </a:lnSpc>
            </a:pPr>
            <a:r>
              <a:rPr lang="en-US" sz="3600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Jawab 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30687" y="6390111"/>
            <a:ext cx="16230600" cy="688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24"/>
              </a:lnSpc>
            </a:pPr>
            <a:r>
              <a:rPr lang="en-US" sz="3600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Jadi daerah hasil dari fungsi tersebut adalah {3, 7, 11}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-1311898">
            <a:off x="13987523" y="7054731"/>
            <a:ext cx="1384556" cy="246592"/>
          </a:xfrm>
          <a:custGeom>
            <a:avLst/>
            <a:gdLst/>
            <a:ahLst/>
            <a:cxnLst/>
            <a:rect r="r" b="b" t="t" l="l"/>
            <a:pathLst>
              <a:path h="246592" w="1384556">
                <a:moveTo>
                  <a:pt x="0" y="0"/>
                </a:moveTo>
                <a:lnTo>
                  <a:pt x="1384557" y="0"/>
                </a:lnTo>
                <a:lnTo>
                  <a:pt x="1384557" y="246592"/>
                </a:lnTo>
                <a:lnTo>
                  <a:pt x="0" y="2465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-1311898">
            <a:off x="14326863" y="7224387"/>
            <a:ext cx="1202800" cy="214221"/>
          </a:xfrm>
          <a:custGeom>
            <a:avLst/>
            <a:gdLst/>
            <a:ahLst/>
            <a:cxnLst/>
            <a:rect r="r" b="b" t="t" l="l"/>
            <a:pathLst>
              <a:path h="214221" w="1202800">
                <a:moveTo>
                  <a:pt x="0" y="0"/>
                </a:moveTo>
                <a:lnTo>
                  <a:pt x="1202800" y="0"/>
                </a:lnTo>
                <a:lnTo>
                  <a:pt x="1202800" y="214220"/>
                </a:lnTo>
                <a:lnTo>
                  <a:pt x="0" y="21422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27B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1130" y="486490"/>
            <a:ext cx="17265740" cy="9314020"/>
            <a:chOff x="0" y="0"/>
            <a:chExt cx="4547355" cy="24530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47355" cy="2453075"/>
            </a:xfrm>
            <a:custGeom>
              <a:avLst/>
              <a:gdLst/>
              <a:ahLst/>
              <a:cxnLst/>
              <a:rect r="r" b="b" t="t" l="l"/>
              <a:pathLst>
                <a:path h="2453075" w="4547355">
                  <a:moveTo>
                    <a:pt x="22868" y="0"/>
                  </a:moveTo>
                  <a:lnTo>
                    <a:pt x="4524487" y="0"/>
                  </a:lnTo>
                  <a:cubicBezTo>
                    <a:pt x="4530552" y="0"/>
                    <a:pt x="4536369" y="2409"/>
                    <a:pt x="4540657" y="6698"/>
                  </a:cubicBezTo>
                  <a:cubicBezTo>
                    <a:pt x="4544946" y="10987"/>
                    <a:pt x="4547355" y="16803"/>
                    <a:pt x="4547355" y="22868"/>
                  </a:cubicBezTo>
                  <a:lnTo>
                    <a:pt x="4547355" y="2430207"/>
                  </a:lnTo>
                  <a:cubicBezTo>
                    <a:pt x="4547355" y="2436272"/>
                    <a:pt x="4544946" y="2442089"/>
                    <a:pt x="4540657" y="2446377"/>
                  </a:cubicBezTo>
                  <a:cubicBezTo>
                    <a:pt x="4536369" y="2450666"/>
                    <a:pt x="4530552" y="2453075"/>
                    <a:pt x="4524487" y="2453075"/>
                  </a:cubicBezTo>
                  <a:lnTo>
                    <a:pt x="22868" y="2453075"/>
                  </a:lnTo>
                  <a:cubicBezTo>
                    <a:pt x="16803" y="2453075"/>
                    <a:pt x="10987" y="2450666"/>
                    <a:pt x="6698" y="2446377"/>
                  </a:cubicBezTo>
                  <a:cubicBezTo>
                    <a:pt x="2409" y="2442089"/>
                    <a:pt x="0" y="2436272"/>
                    <a:pt x="0" y="2430207"/>
                  </a:cubicBezTo>
                  <a:lnTo>
                    <a:pt x="0" y="22868"/>
                  </a:lnTo>
                  <a:cubicBezTo>
                    <a:pt x="0" y="16803"/>
                    <a:pt x="2409" y="10987"/>
                    <a:pt x="6698" y="6698"/>
                  </a:cubicBezTo>
                  <a:cubicBezTo>
                    <a:pt x="10987" y="2409"/>
                    <a:pt x="16803" y="0"/>
                    <a:pt x="22868" y="0"/>
                  </a:cubicBezTo>
                  <a:close/>
                </a:path>
              </a:pathLst>
            </a:custGeom>
            <a:solidFill>
              <a:srgbClr val="4B444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47355" cy="2491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4748493">
            <a:off x="13490128" y="9480494"/>
            <a:ext cx="561536" cy="1002636"/>
          </a:xfrm>
          <a:custGeom>
            <a:avLst/>
            <a:gdLst/>
            <a:ahLst/>
            <a:cxnLst/>
            <a:rect r="r" b="b" t="t" l="l"/>
            <a:pathLst>
              <a:path h="1002636" w="561536">
                <a:moveTo>
                  <a:pt x="0" y="0"/>
                </a:moveTo>
                <a:lnTo>
                  <a:pt x="561536" y="0"/>
                </a:lnTo>
                <a:lnTo>
                  <a:pt x="561536" y="1002636"/>
                </a:lnTo>
                <a:lnTo>
                  <a:pt x="0" y="10026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355817" y="890098"/>
            <a:ext cx="13576365" cy="1236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b="true" sz="7200">
                <a:solidFill>
                  <a:srgbClr val="FFA3C1"/>
                </a:solidFill>
                <a:latin typeface="One Little Font Bold"/>
                <a:ea typeface="One Little Font Bold"/>
                <a:cs typeface="One Little Font Bold"/>
                <a:sym typeface="One Little Font Bold"/>
              </a:rPr>
              <a:t>Menggambar grafik fungsi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41926" y="3524285"/>
            <a:ext cx="5828394" cy="4307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4"/>
              </a:lnSpc>
            </a:pPr>
            <a:r>
              <a:rPr lang="en-US" sz="3600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Langkah berikut dapat kamu gunakan untuk menyajikan grafik fungsi dalam koordinat cartesius. Langkah ini hanya panduan, kamu boleh skip jika sudah mahir.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3811001" y="9513286"/>
            <a:ext cx="2658043" cy="838707"/>
            <a:chOff x="0" y="0"/>
            <a:chExt cx="3544058" cy="1118275"/>
          </a:xfrm>
        </p:grpSpPr>
        <p:grpSp>
          <p:nvGrpSpPr>
            <p:cNvPr name="Group 9" id="9"/>
            <p:cNvGrpSpPr/>
            <p:nvPr/>
          </p:nvGrpSpPr>
          <p:grpSpPr>
            <a:xfrm rot="117060">
              <a:off x="27116" y="59305"/>
              <a:ext cx="3500940" cy="999666"/>
              <a:chOff x="0" y="0"/>
              <a:chExt cx="1753351" cy="500655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753351" cy="500655"/>
              </a:xfrm>
              <a:custGeom>
                <a:avLst/>
                <a:gdLst/>
                <a:ahLst/>
                <a:cxnLst/>
                <a:rect r="r" b="b" t="t" l="l"/>
                <a:pathLst>
                  <a:path h="500655" w="1753351">
                    <a:moveTo>
                      <a:pt x="0" y="0"/>
                    </a:moveTo>
                    <a:lnTo>
                      <a:pt x="1753351" y="0"/>
                    </a:lnTo>
                    <a:lnTo>
                      <a:pt x="1753351" y="500655"/>
                    </a:lnTo>
                    <a:lnTo>
                      <a:pt x="0" y="500655"/>
                    </a:lnTo>
                    <a:close/>
                  </a:path>
                </a:pathLst>
              </a:custGeom>
              <a:solidFill>
                <a:srgbClr val="868383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1753351" cy="538755"/>
              </a:xfrm>
              <a:prstGeom prst="rect">
                <a:avLst/>
              </a:prstGeom>
            </p:spPr>
            <p:txBody>
              <a:bodyPr anchor="ctr" rtlCol="false" tIns="30924" lIns="30924" bIns="30924" rIns="30924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0">
              <a:off x="0" y="19781"/>
              <a:ext cx="3518253" cy="1062256"/>
            </a:xfrm>
            <a:custGeom>
              <a:avLst/>
              <a:gdLst/>
              <a:ahLst/>
              <a:cxnLst/>
              <a:rect r="r" b="b" t="t" l="l"/>
              <a:pathLst>
                <a:path h="1062256" w="3518253">
                  <a:moveTo>
                    <a:pt x="0" y="0"/>
                  </a:moveTo>
                  <a:lnTo>
                    <a:pt x="3518253" y="0"/>
                  </a:lnTo>
                  <a:lnTo>
                    <a:pt x="3518253" y="1062256"/>
                  </a:lnTo>
                  <a:lnTo>
                    <a:pt x="0" y="10622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8088344" y="3004070"/>
            <a:ext cx="1646407" cy="840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4800">
                <a:solidFill>
                  <a:srgbClr val="FFA3C1"/>
                </a:solidFill>
                <a:latin typeface="Antio"/>
                <a:ea typeface="Antio"/>
                <a:cs typeface="Antio"/>
                <a:sym typeface="Antio"/>
              </a:rPr>
              <a:t>#1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047394" y="3042551"/>
            <a:ext cx="6862427" cy="801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78"/>
              </a:lnSpc>
            </a:pPr>
            <a:r>
              <a:rPr lang="en-US" sz="4200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Membuat tabel nilai fungsi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886159" y="4691213"/>
            <a:ext cx="1873680" cy="840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4800">
                <a:solidFill>
                  <a:srgbClr val="FFA3C1"/>
                </a:solidFill>
                <a:latin typeface="Antio"/>
                <a:ea typeface="Antio"/>
                <a:cs typeface="Antio"/>
                <a:sym typeface="Antio"/>
              </a:rPr>
              <a:t>#2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047394" y="4625681"/>
            <a:ext cx="6862427" cy="1649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78"/>
              </a:lnSpc>
            </a:pPr>
            <a:r>
              <a:rPr lang="en-US" sz="4200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Mengubah tabel ke dalam himpunan pasangan berurut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957510" y="7035887"/>
            <a:ext cx="1514773" cy="840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4800">
                <a:solidFill>
                  <a:srgbClr val="FFA3C1"/>
                </a:solidFill>
                <a:latin typeface="Antio"/>
                <a:ea typeface="Antio"/>
                <a:cs typeface="Antio"/>
                <a:sym typeface="Antio"/>
              </a:rPr>
              <a:t>#3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047394" y="6926615"/>
            <a:ext cx="6862427" cy="1649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78"/>
              </a:lnSpc>
            </a:pPr>
            <a:r>
              <a:rPr lang="en-US" sz="4200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Menyajikan koordinat pada bidang cartesius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27B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1130" y="486490"/>
            <a:ext cx="17265740" cy="9314020"/>
            <a:chOff x="0" y="0"/>
            <a:chExt cx="4547355" cy="24530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47355" cy="2453075"/>
            </a:xfrm>
            <a:custGeom>
              <a:avLst/>
              <a:gdLst/>
              <a:ahLst/>
              <a:cxnLst/>
              <a:rect r="r" b="b" t="t" l="l"/>
              <a:pathLst>
                <a:path h="2453075" w="4547355">
                  <a:moveTo>
                    <a:pt x="22868" y="0"/>
                  </a:moveTo>
                  <a:lnTo>
                    <a:pt x="4524487" y="0"/>
                  </a:lnTo>
                  <a:cubicBezTo>
                    <a:pt x="4530552" y="0"/>
                    <a:pt x="4536369" y="2409"/>
                    <a:pt x="4540657" y="6698"/>
                  </a:cubicBezTo>
                  <a:cubicBezTo>
                    <a:pt x="4544946" y="10987"/>
                    <a:pt x="4547355" y="16803"/>
                    <a:pt x="4547355" y="22868"/>
                  </a:cubicBezTo>
                  <a:lnTo>
                    <a:pt x="4547355" y="2430207"/>
                  </a:lnTo>
                  <a:cubicBezTo>
                    <a:pt x="4547355" y="2436272"/>
                    <a:pt x="4544946" y="2442089"/>
                    <a:pt x="4540657" y="2446377"/>
                  </a:cubicBezTo>
                  <a:cubicBezTo>
                    <a:pt x="4536369" y="2450666"/>
                    <a:pt x="4530552" y="2453075"/>
                    <a:pt x="4524487" y="2453075"/>
                  </a:cubicBezTo>
                  <a:lnTo>
                    <a:pt x="22868" y="2453075"/>
                  </a:lnTo>
                  <a:cubicBezTo>
                    <a:pt x="16803" y="2453075"/>
                    <a:pt x="10987" y="2450666"/>
                    <a:pt x="6698" y="2446377"/>
                  </a:cubicBezTo>
                  <a:cubicBezTo>
                    <a:pt x="2409" y="2442089"/>
                    <a:pt x="0" y="2436272"/>
                    <a:pt x="0" y="2430207"/>
                  </a:cubicBezTo>
                  <a:lnTo>
                    <a:pt x="0" y="22868"/>
                  </a:lnTo>
                  <a:cubicBezTo>
                    <a:pt x="0" y="16803"/>
                    <a:pt x="2409" y="10987"/>
                    <a:pt x="6698" y="6698"/>
                  </a:cubicBezTo>
                  <a:cubicBezTo>
                    <a:pt x="10987" y="2409"/>
                    <a:pt x="16803" y="0"/>
                    <a:pt x="22868" y="0"/>
                  </a:cubicBezTo>
                  <a:close/>
                </a:path>
              </a:pathLst>
            </a:custGeom>
            <a:solidFill>
              <a:srgbClr val="4B444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47355" cy="2491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4748493">
            <a:off x="13490128" y="9480494"/>
            <a:ext cx="561536" cy="1002636"/>
          </a:xfrm>
          <a:custGeom>
            <a:avLst/>
            <a:gdLst/>
            <a:ahLst/>
            <a:cxnLst/>
            <a:rect r="r" b="b" t="t" l="l"/>
            <a:pathLst>
              <a:path h="1002636" w="561536">
                <a:moveTo>
                  <a:pt x="0" y="0"/>
                </a:moveTo>
                <a:lnTo>
                  <a:pt x="561536" y="0"/>
                </a:lnTo>
                <a:lnTo>
                  <a:pt x="561536" y="1002636"/>
                </a:lnTo>
                <a:lnTo>
                  <a:pt x="0" y="10026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355817" y="890098"/>
            <a:ext cx="13576365" cy="1236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b="true" sz="7200">
                <a:solidFill>
                  <a:srgbClr val="FFA3C1"/>
                </a:solidFill>
                <a:latin typeface="One Little Font Bold"/>
                <a:ea typeface="One Little Font Bold"/>
                <a:cs typeface="One Little Font Bold"/>
                <a:sym typeface="One Little Font Bold"/>
              </a:rPr>
              <a:t>Menggambar grafik fungsi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23861" y="2958061"/>
            <a:ext cx="12224626" cy="4192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678"/>
              </a:lnSpc>
            </a:pPr>
            <a:r>
              <a:rPr lang="en-US" sz="4200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Contoh :</a:t>
            </a:r>
          </a:p>
          <a:p>
            <a:pPr algn="just">
              <a:lnSpc>
                <a:spcPts val="6678"/>
              </a:lnSpc>
            </a:pPr>
          </a:p>
          <a:p>
            <a:pPr algn="just">
              <a:lnSpc>
                <a:spcPts val="6678"/>
              </a:lnSpc>
            </a:pPr>
            <a:r>
              <a:rPr lang="en-US" sz="4200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Gambarlah grafik fungsi f(x) = 2x jika domainnya</a:t>
            </a:r>
          </a:p>
          <a:p>
            <a:pPr algn="just">
              <a:lnSpc>
                <a:spcPts val="6678"/>
              </a:lnSpc>
            </a:pPr>
            <a:r>
              <a:rPr lang="en-US" sz="4200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a. {0, 1, 2, 3, 4}</a:t>
            </a:r>
          </a:p>
          <a:p>
            <a:pPr algn="just">
              <a:lnSpc>
                <a:spcPts val="6678"/>
              </a:lnSpc>
            </a:pPr>
            <a:r>
              <a:rPr lang="en-US" sz="4200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b. bilangan real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3811001" y="9513286"/>
            <a:ext cx="2658043" cy="838707"/>
            <a:chOff x="0" y="0"/>
            <a:chExt cx="3544058" cy="1118275"/>
          </a:xfrm>
        </p:grpSpPr>
        <p:grpSp>
          <p:nvGrpSpPr>
            <p:cNvPr name="Group 9" id="9"/>
            <p:cNvGrpSpPr/>
            <p:nvPr/>
          </p:nvGrpSpPr>
          <p:grpSpPr>
            <a:xfrm rot="117060">
              <a:off x="27116" y="59305"/>
              <a:ext cx="3500940" cy="999666"/>
              <a:chOff x="0" y="0"/>
              <a:chExt cx="1753351" cy="500655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753351" cy="500655"/>
              </a:xfrm>
              <a:custGeom>
                <a:avLst/>
                <a:gdLst/>
                <a:ahLst/>
                <a:cxnLst/>
                <a:rect r="r" b="b" t="t" l="l"/>
                <a:pathLst>
                  <a:path h="500655" w="1753351">
                    <a:moveTo>
                      <a:pt x="0" y="0"/>
                    </a:moveTo>
                    <a:lnTo>
                      <a:pt x="1753351" y="0"/>
                    </a:lnTo>
                    <a:lnTo>
                      <a:pt x="1753351" y="500655"/>
                    </a:lnTo>
                    <a:lnTo>
                      <a:pt x="0" y="500655"/>
                    </a:lnTo>
                    <a:close/>
                  </a:path>
                </a:pathLst>
              </a:custGeom>
              <a:solidFill>
                <a:srgbClr val="868383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1753351" cy="538755"/>
              </a:xfrm>
              <a:prstGeom prst="rect">
                <a:avLst/>
              </a:prstGeom>
            </p:spPr>
            <p:txBody>
              <a:bodyPr anchor="ctr" rtlCol="false" tIns="30924" lIns="30924" bIns="30924" rIns="30924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0">
              <a:off x="0" y="19781"/>
              <a:ext cx="3518253" cy="1062256"/>
            </a:xfrm>
            <a:custGeom>
              <a:avLst/>
              <a:gdLst/>
              <a:ahLst/>
              <a:cxnLst/>
              <a:rect r="r" b="b" t="t" l="l"/>
              <a:pathLst>
                <a:path h="1062256" w="3518253">
                  <a:moveTo>
                    <a:pt x="0" y="0"/>
                  </a:moveTo>
                  <a:lnTo>
                    <a:pt x="3518253" y="0"/>
                  </a:lnTo>
                  <a:lnTo>
                    <a:pt x="3518253" y="1062256"/>
                  </a:lnTo>
                  <a:lnTo>
                    <a:pt x="0" y="10622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27B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1130" y="486490"/>
            <a:ext cx="17265740" cy="9314020"/>
            <a:chOff x="0" y="0"/>
            <a:chExt cx="4547355" cy="24530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47355" cy="2453075"/>
            </a:xfrm>
            <a:custGeom>
              <a:avLst/>
              <a:gdLst/>
              <a:ahLst/>
              <a:cxnLst/>
              <a:rect r="r" b="b" t="t" l="l"/>
              <a:pathLst>
                <a:path h="2453075" w="4547355">
                  <a:moveTo>
                    <a:pt x="22868" y="0"/>
                  </a:moveTo>
                  <a:lnTo>
                    <a:pt x="4524487" y="0"/>
                  </a:lnTo>
                  <a:cubicBezTo>
                    <a:pt x="4530552" y="0"/>
                    <a:pt x="4536369" y="2409"/>
                    <a:pt x="4540657" y="6698"/>
                  </a:cubicBezTo>
                  <a:cubicBezTo>
                    <a:pt x="4544946" y="10987"/>
                    <a:pt x="4547355" y="16803"/>
                    <a:pt x="4547355" y="22868"/>
                  </a:cubicBezTo>
                  <a:lnTo>
                    <a:pt x="4547355" y="2430207"/>
                  </a:lnTo>
                  <a:cubicBezTo>
                    <a:pt x="4547355" y="2436272"/>
                    <a:pt x="4544946" y="2442089"/>
                    <a:pt x="4540657" y="2446377"/>
                  </a:cubicBezTo>
                  <a:cubicBezTo>
                    <a:pt x="4536369" y="2450666"/>
                    <a:pt x="4530552" y="2453075"/>
                    <a:pt x="4524487" y="2453075"/>
                  </a:cubicBezTo>
                  <a:lnTo>
                    <a:pt x="22868" y="2453075"/>
                  </a:lnTo>
                  <a:cubicBezTo>
                    <a:pt x="16803" y="2453075"/>
                    <a:pt x="10987" y="2450666"/>
                    <a:pt x="6698" y="2446377"/>
                  </a:cubicBezTo>
                  <a:cubicBezTo>
                    <a:pt x="2409" y="2442089"/>
                    <a:pt x="0" y="2436272"/>
                    <a:pt x="0" y="2430207"/>
                  </a:cubicBezTo>
                  <a:lnTo>
                    <a:pt x="0" y="22868"/>
                  </a:lnTo>
                  <a:cubicBezTo>
                    <a:pt x="0" y="16803"/>
                    <a:pt x="2409" y="10987"/>
                    <a:pt x="6698" y="6698"/>
                  </a:cubicBezTo>
                  <a:cubicBezTo>
                    <a:pt x="10987" y="2409"/>
                    <a:pt x="16803" y="0"/>
                    <a:pt x="22868" y="0"/>
                  </a:cubicBezTo>
                  <a:close/>
                </a:path>
              </a:pathLst>
            </a:custGeom>
            <a:solidFill>
              <a:srgbClr val="4B444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47355" cy="2491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4748493">
            <a:off x="13490128" y="9480494"/>
            <a:ext cx="561536" cy="1002636"/>
          </a:xfrm>
          <a:custGeom>
            <a:avLst/>
            <a:gdLst/>
            <a:ahLst/>
            <a:cxnLst/>
            <a:rect r="r" b="b" t="t" l="l"/>
            <a:pathLst>
              <a:path h="1002636" w="561536">
                <a:moveTo>
                  <a:pt x="0" y="0"/>
                </a:moveTo>
                <a:lnTo>
                  <a:pt x="561536" y="0"/>
                </a:lnTo>
                <a:lnTo>
                  <a:pt x="561536" y="1002636"/>
                </a:lnTo>
                <a:lnTo>
                  <a:pt x="0" y="10026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355817" y="890098"/>
            <a:ext cx="13576365" cy="1236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b="true" sz="7200">
                <a:solidFill>
                  <a:srgbClr val="FFA3C1"/>
                </a:solidFill>
                <a:latin typeface="One Little Font Bold"/>
                <a:ea typeface="One Little Font Bold"/>
                <a:cs typeface="One Little Font Bold"/>
                <a:sym typeface="One Little Font Bold"/>
              </a:rPr>
              <a:t>Menggambar grafik fungsi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35313" y="2563886"/>
            <a:ext cx="12224626" cy="688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724"/>
              </a:lnSpc>
            </a:pPr>
            <a:r>
              <a:rPr lang="en-US" sz="3600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Jawab :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3811001" y="9513286"/>
            <a:ext cx="2658043" cy="838707"/>
            <a:chOff x="0" y="0"/>
            <a:chExt cx="3544058" cy="1118275"/>
          </a:xfrm>
        </p:grpSpPr>
        <p:grpSp>
          <p:nvGrpSpPr>
            <p:cNvPr name="Group 9" id="9"/>
            <p:cNvGrpSpPr/>
            <p:nvPr/>
          </p:nvGrpSpPr>
          <p:grpSpPr>
            <a:xfrm rot="117060">
              <a:off x="27116" y="59305"/>
              <a:ext cx="3500940" cy="999666"/>
              <a:chOff x="0" y="0"/>
              <a:chExt cx="1753351" cy="500655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753351" cy="500655"/>
              </a:xfrm>
              <a:custGeom>
                <a:avLst/>
                <a:gdLst/>
                <a:ahLst/>
                <a:cxnLst/>
                <a:rect r="r" b="b" t="t" l="l"/>
                <a:pathLst>
                  <a:path h="500655" w="1753351">
                    <a:moveTo>
                      <a:pt x="0" y="0"/>
                    </a:moveTo>
                    <a:lnTo>
                      <a:pt x="1753351" y="0"/>
                    </a:lnTo>
                    <a:lnTo>
                      <a:pt x="1753351" y="500655"/>
                    </a:lnTo>
                    <a:lnTo>
                      <a:pt x="0" y="500655"/>
                    </a:lnTo>
                    <a:close/>
                  </a:path>
                </a:pathLst>
              </a:custGeom>
              <a:solidFill>
                <a:srgbClr val="868383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1753351" cy="538755"/>
              </a:xfrm>
              <a:prstGeom prst="rect">
                <a:avLst/>
              </a:prstGeom>
            </p:spPr>
            <p:txBody>
              <a:bodyPr anchor="ctr" rtlCol="false" tIns="30924" lIns="30924" bIns="30924" rIns="30924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0">
              <a:off x="0" y="19781"/>
              <a:ext cx="3518253" cy="1062256"/>
            </a:xfrm>
            <a:custGeom>
              <a:avLst/>
              <a:gdLst/>
              <a:ahLst/>
              <a:cxnLst/>
              <a:rect r="r" b="b" t="t" l="l"/>
              <a:pathLst>
                <a:path h="1062256" w="3518253">
                  <a:moveTo>
                    <a:pt x="0" y="0"/>
                  </a:moveTo>
                  <a:lnTo>
                    <a:pt x="3518253" y="0"/>
                  </a:lnTo>
                  <a:lnTo>
                    <a:pt x="3518253" y="1062256"/>
                  </a:lnTo>
                  <a:lnTo>
                    <a:pt x="0" y="10622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235313" y="3483705"/>
            <a:ext cx="6706788" cy="688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724"/>
              </a:lnSpc>
            </a:pPr>
            <a:r>
              <a:rPr lang="en-US" sz="3600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a. f(x) = 2x domain {0, 1, 2,  3, 4}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526172" y="6149320"/>
            <a:ext cx="6522015" cy="142299"/>
          </a:xfrm>
          <a:custGeom>
            <a:avLst/>
            <a:gdLst/>
            <a:ahLst/>
            <a:cxnLst/>
            <a:rect r="r" b="b" t="t" l="l"/>
            <a:pathLst>
              <a:path h="142299" w="6522015">
                <a:moveTo>
                  <a:pt x="0" y="0"/>
                </a:moveTo>
                <a:lnTo>
                  <a:pt x="6522015" y="0"/>
                </a:lnTo>
                <a:lnTo>
                  <a:pt x="6522015" y="142299"/>
                </a:lnTo>
                <a:lnTo>
                  <a:pt x="0" y="1422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526172" y="7279062"/>
            <a:ext cx="6573465" cy="143421"/>
          </a:xfrm>
          <a:custGeom>
            <a:avLst/>
            <a:gdLst/>
            <a:ahLst/>
            <a:cxnLst/>
            <a:rect r="r" b="b" t="t" l="l"/>
            <a:pathLst>
              <a:path h="143421" w="6573465">
                <a:moveTo>
                  <a:pt x="0" y="0"/>
                </a:moveTo>
                <a:lnTo>
                  <a:pt x="6573465" y="0"/>
                </a:lnTo>
                <a:lnTo>
                  <a:pt x="6573465" y="143421"/>
                </a:lnTo>
                <a:lnTo>
                  <a:pt x="0" y="1434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577622" y="8490044"/>
            <a:ext cx="6522015" cy="142299"/>
          </a:xfrm>
          <a:custGeom>
            <a:avLst/>
            <a:gdLst/>
            <a:ahLst/>
            <a:cxnLst/>
            <a:rect r="r" b="b" t="t" l="l"/>
            <a:pathLst>
              <a:path h="142299" w="6522015">
                <a:moveTo>
                  <a:pt x="0" y="0"/>
                </a:moveTo>
                <a:lnTo>
                  <a:pt x="6522015" y="0"/>
                </a:lnTo>
                <a:lnTo>
                  <a:pt x="6522015" y="142298"/>
                </a:lnTo>
                <a:lnTo>
                  <a:pt x="0" y="14229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7" id="17"/>
          <p:cNvSpPr/>
          <p:nvPr/>
        </p:nvSpPr>
        <p:spPr>
          <a:xfrm>
            <a:off x="2366540" y="5951339"/>
            <a:ext cx="73676" cy="2799989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>
            <a:off x="3539745" y="5951339"/>
            <a:ext cx="73676" cy="2799989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>
            <a:off x="4714392" y="5951339"/>
            <a:ext cx="73676" cy="2799989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>
            <a:off x="5927165" y="5951339"/>
            <a:ext cx="73676" cy="2799989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>
            <a:off x="7171219" y="5880189"/>
            <a:ext cx="73676" cy="2799989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2" id="22"/>
          <p:cNvSpPr txBox="true"/>
          <p:nvPr/>
        </p:nvSpPr>
        <p:spPr>
          <a:xfrm rot="0">
            <a:off x="2835147" y="6545168"/>
            <a:ext cx="690153" cy="607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60"/>
              </a:lnSpc>
              <a:spcBef>
                <a:spcPct val="0"/>
              </a:spcBef>
            </a:pPr>
            <a:r>
              <a:rPr lang="en-US" sz="3600" spc="215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0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009793" y="6545168"/>
            <a:ext cx="690153" cy="607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60"/>
              </a:lnSpc>
              <a:spcBef>
                <a:spcPct val="0"/>
              </a:spcBef>
            </a:pPr>
            <a:r>
              <a:rPr lang="en-US" sz="3600" spc="215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1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185455" y="6545168"/>
            <a:ext cx="690153" cy="607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60"/>
              </a:lnSpc>
              <a:spcBef>
                <a:spcPct val="0"/>
              </a:spcBef>
            </a:pPr>
            <a:r>
              <a:rPr lang="en-US" sz="3600" spc="215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2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403947" y="6545168"/>
            <a:ext cx="690153" cy="607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60"/>
              </a:lnSpc>
              <a:spcBef>
                <a:spcPct val="0"/>
              </a:spcBef>
            </a:pPr>
            <a:r>
              <a:rPr lang="en-US" sz="3600" spc="215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3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835147" y="7676032"/>
            <a:ext cx="690153" cy="607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60"/>
              </a:lnSpc>
              <a:spcBef>
                <a:spcPct val="0"/>
              </a:spcBef>
            </a:pPr>
            <a:r>
              <a:rPr lang="en-US" sz="3600" spc="215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0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009793" y="7676032"/>
            <a:ext cx="690153" cy="607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60"/>
              </a:lnSpc>
              <a:spcBef>
                <a:spcPct val="0"/>
              </a:spcBef>
            </a:pPr>
            <a:r>
              <a:rPr lang="en-US" sz="3600" spc="215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2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227692" y="7701019"/>
            <a:ext cx="605678" cy="607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60"/>
              </a:lnSpc>
              <a:spcBef>
                <a:spcPct val="0"/>
              </a:spcBef>
            </a:pPr>
            <a:r>
              <a:rPr lang="en-US" sz="3600" spc="215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4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403947" y="7651044"/>
            <a:ext cx="690153" cy="607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60"/>
              </a:lnSpc>
              <a:spcBef>
                <a:spcPct val="0"/>
              </a:spcBef>
            </a:pPr>
            <a:r>
              <a:rPr lang="en-US" sz="3600" spc="215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6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35313" y="6463360"/>
            <a:ext cx="1033125" cy="607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60"/>
              </a:lnSpc>
              <a:spcBef>
                <a:spcPct val="0"/>
              </a:spcBef>
            </a:pPr>
            <a:r>
              <a:rPr lang="en-US" sz="3600" spc="215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x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35313" y="7706302"/>
            <a:ext cx="1076456" cy="607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60"/>
              </a:lnSpc>
              <a:spcBef>
                <a:spcPct val="0"/>
              </a:spcBef>
            </a:pPr>
            <a:r>
              <a:rPr lang="en-US" sz="3600" spc="215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f (x)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618048" y="6491068"/>
            <a:ext cx="690153" cy="607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60"/>
              </a:lnSpc>
              <a:spcBef>
                <a:spcPct val="0"/>
              </a:spcBef>
            </a:pPr>
            <a:r>
              <a:rPr lang="en-US" sz="3600" spc="215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4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618048" y="7651044"/>
            <a:ext cx="690153" cy="607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60"/>
              </a:lnSpc>
              <a:spcBef>
                <a:spcPct val="0"/>
              </a:spcBef>
            </a:pPr>
            <a:r>
              <a:rPr lang="en-US" sz="3600" spc="215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8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751875" y="4610322"/>
            <a:ext cx="6706788" cy="688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724"/>
              </a:lnSpc>
            </a:pPr>
            <a:r>
              <a:rPr lang="en-US" sz="3600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Jika kita buat tabelnya maka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530963" y="3483705"/>
            <a:ext cx="7389397" cy="2136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4"/>
              </a:lnSpc>
            </a:pPr>
            <a:r>
              <a:rPr lang="en-US" sz="3600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Dari tabel kita mendapat himpunan pasangan berurut yang mewakili koordinat  yaitu :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517876" y="5794228"/>
            <a:ext cx="7389397" cy="688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4"/>
              </a:lnSpc>
            </a:pPr>
            <a:r>
              <a:rPr lang="en-US" sz="3600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{(0,0), (1,2), (2,4), (3,6), (4,8)}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27B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1130" y="486490"/>
            <a:ext cx="17265740" cy="9314020"/>
            <a:chOff x="0" y="0"/>
            <a:chExt cx="4547355" cy="24530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47355" cy="2453075"/>
            </a:xfrm>
            <a:custGeom>
              <a:avLst/>
              <a:gdLst/>
              <a:ahLst/>
              <a:cxnLst/>
              <a:rect r="r" b="b" t="t" l="l"/>
              <a:pathLst>
                <a:path h="2453075" w="4547355">
                  <a:moveTo>
                    <a:pt x="22868" y="0"/>
                  </a:moveTo>
                  <a:lnTo>
                    <a:pt x="4524487" y="0"/>
                  </a:lnTo>
                  <a:cubicBezTo>
                    <a:pt x="4530552" y="0"/>
                    <a:pt x="4536369" y="2409"/>
                    <a:pt x="4540657" y="6698"/>
                  </a:cubicBezTo>
                  <a:cubicBezTo>
                    <a:pt x="4544946" y="10987"/>
                    <a:pt x="4547355" y="16803"/>
                    <a:pt x="4547355" y="22868"/>
                  </a:cubicBezTo>
                  <a:lnTo>
                    <a:pt x="4547355" y="2430207"/>
                  </a:lnTo>
                  <a:cubicBezTo>
                    <a:pt x="4547355" y="2436272"/>
                    <a:pt x="4544946" y="2442089"/>
                    <a:pt x="4540657" y="2446377"/>
                  </a:cubicBezTo>
                  <a:cubicBezTo>
                    <a:pt x="4536369" y="2450666"/>
                    <a:pt x="4530552" y="2453075"/>
                    <a:pt x="4524487" y="2453075"/>
                  </a:cubicBezTo>
                  <a:lnTo>
                    <a:pt x="22868" y="2453075"/>
                  </a:lnTo>
                  <a:cubicBezTo>
                    <a:pt x="16803" y="2453075"/>
                    <a:pt x="10987" y="2450666"/>
                    <a:pt x="6698" y="2446377"/>
                  </a:cubicBezTo>
                  <a:cubicBezTo>
                    <a:pt x="2409" y="2442089"/>
                    <a:pt x="0" y="2436272"/>
                    <a:pt x="0" y="2430207"/>
                  </a:cubicBezTo>
                  <a:lnTo>
                    <a:pt x="0" y="22868"/>
                  </a:lnTo>
                  <a:cubicBezTo>
                    <a:pt x="0" y="16803"/>
                    <a:pt x="2409" y="10987"/>
                    <a:pt x="6698" y="6698"/>
                  </a:cubicBezTo>
                  <a:cubicBezTo>
                    <a:pt x="10987" y="2409"/>
                    <a:pt x="16803" y="0"/>
                    <a:pt x="22868" y="0"/>
                  </a:cubicBezTo>
                  <a:close/>
                </a:path>
              </a:pathLst>
            </a:custGeom>
            <a:solidFill>
              <a:srgbClr val="4B444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47355" cy="2491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4748493">
            <a:off x="13490128" y="9480494"/>
            <a:ext cx="561536" cy="1002636"/>
          </a:xfrm>
          <a:custGeom>
            <a:avLst/>
            <a:gdLst/>
            <a:ahLst/>
            <a:cxnLst/>
            <a:rect r="r" b="b" t="t" l="l"/>
            <a:pathLst>
              <a:path h="1002636" w="561536">
                <a:moveTo>
                  <a:pt x="0" y="0"/>
                </a:moveTo>
                <a:lnTo>
                  <a:pt x="561536" y="0"/>
                </a:lnTo>
                <a:lnTo>
                  <a:pt x="561536" y="1002636"/>
                </a:lnTo>
                <a:lnTo>
                  <a:pt x="0" y="10026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355817" y="890098"/>
            <a:ext cx="13576365" cy="1236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b="true" sz="7200">
                <a:solidFill>
                  <a:srgbClr val="FFA3C1"/>
                </a:solidFill>
                <a:latin typeface="One Little Font Bold"/>
                <a:ea typeface="One Little Font Bold"/>
                <a:cs typeface="One Little Font Bold"/>
                <a:sym typeface="One Little Font Bold"/>
              </a:rPr>
              <a:t>Menggambar grafik fungsi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35313" y="2563886"/>
            <a:ext cx="5233731" cy="688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724"/>
              </a:lnSpc>
            </a:pPr>
            <a:r>
              <a:rPr lang="en-US" sz="3600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Jawab :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3811001" y="9513286"/>
            <a:ext cx="2658043" cy="838707"/>
            <a:chOff x="0" y="0"/>
            <a:chExt cx="3544058" cy="1118275"/>
          </a:xfrm>
        </p:grpSpPr>
        <p:grpSp>
          <p:nvGrpSpPr>
            <p:cNvPr name="Group 9" id="9"/>
            <p:cNvGrpSpPr/>
            <p:nvPr/>
          </p:nvGrpSpPr>
          <p:grpSpPr>
            <a:xfrm rot="117060">
              <a:off x="27116" y="59305"/>
              <a:ext cx="3500940" cy="999666"/>
              <a:chOff x="0" y="0"/>
              <a:chExt cx="1753351" cy="500655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753351" cy="500655"/>
              </a:xfrm>
              <a:custGeom>
                <a:avLst/>
                <a:gdLst/>
                <a:ahLst/>
                <a:cxnLst/>
                <a:rect r="r" b="b" t="t" l="l"/>
                <a:pathLst>
                  <a:path h="500655" w="1753351">
                    <a:moveTo>
                      <a:pt x="0" y="0"/>
                    </a:moveTo>
                    <a:lnTo>
                      <a:pt x="1753351" y="0"/>
                    </a:lnTo>
                    <a:lnTo>
                      <a:pt x="1753351" y="500655"/>
                    </a:lnTo>
                    <a:lnTo>
                      <a:pt x="0" y="500655"/>
                    </a:lnTo>
                    <a:close/>
                  </a:path>
                </a:pathLst>
              </a:custGeom>
              <a:solidFill>
                <a:srgbClr val="868383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1753351" cy="538755"/>
              </a:xfrm>
              <a:prstGeom prst="rect">
                <a:avLst/>
              </a:prstGeom>
            </p:spPr>
            <p:txBody>
              <a:bodyPr anchor="ctr" rtlCol="false" tIns="30924" lIns="30924" bIns="30924" rIns="30924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0">
              <a:off x="0" y="19781"/>
              <a:ext cx="3518253" cy="1062256"/>
            </a:xfrm>
            <a:custGeom>
              <a:avLst/>
              <a:gdLst/>
              <a:ahLst/>
              <a:cxnLst/>
              <a:rect r="r" b="b" t="t" l="l"/>
              <a:pathLst>
                <a:path h="1062256" w="3518253">
                  <a:moveTo>
                    <a:pt x="0" y="0"/>
                  </a:moveTo>
                  <a:lnTo>
                    <a:pt x="3518253" y="0"/>
                  </a:lnTo>
                  <a:lnTo>
                    <a:pt x="3518253" y="1062256"/>
                  </a:lnTo>
                  <a:lnTo>
                    <a:pt x="0" y="10622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235313" y="4432348"/>
            <a:ext cx="5773932" cy="2136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4"/>
              </a:lnSpc>
            </a:pPr>
            <a:r>
              <a:rPr lang="en-US" sz="3600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Karena ada 5 pasang koordinat, maka grafiknya membentuk 5 titik.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35313" y="3305731"/>
            <a:ext cx="7389397" cy="688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4"/>
              </a:lnSpc>
            </a:pPr>
            <a:r>
              <a:rPr lang="en-US" sz="3600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{(0,0), (1,2), (2,4), (3,6), (4,8)}</a:t>
            </a:r>
          </a:p>
        </p:txBody>
      </p:sp>
      <p:sp>
        <p:nvSpPr>
          <p:cNvPr name="AutoShape 15" id="15"/>
          <p:cNvSpPr/>
          <p:nvPr/>
        </p:nvSpPr>
        <p:spPr>
          <a:xfrm>
            <a:off x="9644295" y="8441701"/>
            <a:ext cx="6705111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arrow" len="sm" w="med"/>
            <a:tailEnd type="arrow" len="sm" w="med"/>
          </a:ln>
        </p:spPr>
      </p:sp>
      <p:sp>
        <p:nvSpPr>
          <p:cNvPr name="AutoShape 16" id="16"/>
          <p:cNvSpPr/>
          <p:nvPr/>
        </p:nvSpPr>
        <p:spPr>
          <a:xfrm>
            <a:off x="10609566" y="2961641"/>
            <a:ext cx="0" cy="6296659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arrow" len="sm" w="med"/>
            <a:tailEnd type="arrow" len="sm" w="med"/>
          </a:ln>
        </p:spPr>
      </p:sp>
      <p:sp>
        <p:nvSpPr>
          <p:cNvPr name="TextBox 17" id="17"/>
          <p:cNvSpPr txBox="true"/>
          <p:nvPr/>
        </p:nvSpPr>
        <p:spPr>
          <a:xfrm rot="0">
            <a:off x="10950943" y="8167693"/>
            <a:ext cx="457623" cy="543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6"/>
              </a:lnSpc>
              <a:spcBef>
                <a:spcPct val="0"/>
              </a:spcBef>
            </a:pPr>
            <a:r>
              <a:rPr lang="en-US" sz="3205" spc="192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|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408566" y="8167693"/>
            <a:ext cx="457623" cy="543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6"/>
              </a:lnSpc>
              <a:spcBef>
                <a:spcPct val="0"/>
              </a:spcBef>
            </a:pPr>
            <a:r>
              <a:rPr lang="en-US" sz="3205" spc="192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|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929285" y="8167693"/>
            <a:ext cx="457623" cy="543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6"/>
              </a:lnSpc>
              <a:spcBef>
                <a:spcPct val="0"/>
              </a:spcBef>
            </a:pPr>
            <a:r>
              <a:rPr lang="en-US" sz="3205" spc="192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|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386908" y="8167693"/>
            <a:ext cx="457623" cy="543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6"/>
              </a:lnSpc>
              <a:spcBef>
                <a:spcPct val="0"/>
              </a:spcBef>
            </a:pPr>
            <a:r>
              <a:rPr lang="en-US" sz="3205" spc="192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|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907693" y="8167693"/>
            <a:ext cx="457623" cy="543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6"/>
              </a:lnSpc>
              <a:spcBef>
                <a:spcPct val="0"/>
              </a:spcBef>
            </a:pPr>
            <a:r>
              <a:rPr lang="en-US" sz="3205" spc="192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|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444873" y="8167693"/>
            <a:ext cx="457623" cy="543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6"/>
              </a:lnSpc>
              <a:spcBef>
                <a:spcPct val="0"/>
              </a:spcBef>
            </a:pPr>
            <a:r>
              <a:rPr lang="en-US" sz="3205" spc="192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|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902496" y="8167693"/>
            <a:ext cx="457623" cy="543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6"/>
              </a:lnSpc>
              <a:spcBef>
                <a:spcPct val="0"/>
              </a:spcBef>
            </a:pPr>
            <a:r>
              <a:rPr lang="en-US" sz="3205" spc="192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|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423282" y="8167693"/>
            <a:ext cx="457623" cy="543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6"/>
              </a:lnSpc>
              <a:spcBef>
                <a:spcPct val="0"/>
              </a:spcBef>
            </a:pPr>
            <a:r>
              <a:rPr lang="en-US" sz="3205" spc="192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|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880904" y="8167693"/>
            <a:ext cx="457623" cy="543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6"/>
              </a:lnSpc>
              <a:spcBef>
                <a:spcPct val="0"/>
              </a:spcBef>
            </a:pPr>
            <a:r>
              <a:rPr lang="en-US" sz="3205" spc="192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|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5401690" y="8167693"/>
            <a:ext cx="457623" cy="543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6"/>
              </a:lnSpc>
              <a:spcBef>
                <a:spcPct val="0"/>
              </a:spcBef>
            </a:pPr>
            <a:r>
              <a:rPr lang="en-US" sz="3205" spc="192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|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950943" y="8576554"/>
            <a:ext cx="457623" cy="374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84"/>
              </a:lnSpc>
              <a:spcBef>
                <a:spcPct val="0"/>
              </a:spcBef>
            </a:pPr>
            <a:r>
              <a:rPr lang="en-US" sz="2210" spc="132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1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408566" y="8576554"/>
            <a:ext cx="457623" cy="374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84"/>
              </a:lnSpc>
              <a:spcBef>
                <a:spcPct val="0"/>
              </a:spcBef>
            </a:pPr>
            <a:r>
              <a:rPr lang="en-US" sz="2210" spc="132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2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929285" y="8576554"/>
            <a:ext cx="457623" cy="374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84"/>
              </a:lnSpc>
              <a:spcBef>
                <a:spcPct val="0"/>
              </a:spcBef>
            </a:pPr>
            <a:r>
              <a:rPr lang="en-US" sz="2210" spc="132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3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386908" y="8576554"/>
            <a:ext cx="457623" cy="374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84"/>
              </a:lnSpc>
              <a:spcBef>
                <a:spcPct val="0"/>
              </a:spcBef>
            </a:pPr>
            <a:r>
              <a:rPr lang="en-US" sz="2210" spc="132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4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907693" y="8576554"/>
            <a:ext cx="457623" cy="374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84"/>
              </a:lnSpc>
              <a:spcBef>
                <a:spcPct val="0"/>
              </a:spcBef>
            </a:pPr>
            <a:r>
              <a:rPr lang="en-US" sz="2210" spc="132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5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428479" y="8576554"/>
            <a:ext cx="457623" cy="374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84"/>
              </a:lnSpc>
              <a:spcBef>
                <a:spcPct val="0"/>
              </a:spcBef>
            </a:pPr>
            <a:r>
              <a:rPr lang="en-US" sz="2210" spc="132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6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902496" y="8576554"/>
            <a:ext cx="457623" cy="374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84"/>
              </a:lnSpc>
              <a:spcBef>
                <a:spcPct val="0"/>
              </a:spcBef>
            </a:pPr>
            <a:r>
              <a:rPr lang="en-US" sz="2210" spc="132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7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4423282" y="8576554"/>
            <a:ext cx="457623" cy="374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84"/>
              </a:lnSpc>
              <a:spcBef>
                <a:spcPct val="0"/>
              </a:spcBef>
            </a:pPr>
            <a:r>
              <a:rPr lang="en-US" sz="2210" spc="132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8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4875946" y="8576554"/>
            <a:ext cx="457623" cy="374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84"/>
              </a:lnSpc>
              <a:spcBef>
                <a:spcPct val="0"/>
              </a:spcBef>
            </a:pPr>
            <a:r>
              <a:rPr lang="en-US" sz="2210" spc="132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9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5396732" y="8576554"/>
            <a:ext cx="457623" cy="374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84"/>
              </a:lnSpc>
              <a:spcBef>
                <a:spcPct val="0"/>
              </a:spcBef>
            </a:pPr>
            <a:r>
              <a:rPr lang="en-US" sz="2210" spc="132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10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212485" y="8485857"/>
            <a:ext cx="457623" cy="374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84"/>
              </a:lnSpc>
              <a:spcBef>
                <a:spcPct val="0"/>
              </a:spcBef>
            </a:pPr>
            <a:r>
              <a:rPr lang="en-US" sz="2210" spc="132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0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983674" y="7753336"/>
            <a:ext cx="457623" cy="374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84"/>
              </a:lnSpc>
              <a:spcBef>
                <a:spcPct val="0"/>
              </a:spcBef>
            </a:pPr>
            <a:r>
              <a:rPr lang="en-US" sz="2210" spc="132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1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364964" y="7531013"/>
            <a:ext cx="457623" cy="543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6"/>
              </a:lnSpc>
              <a:spcBef>
                <a:spcPct val="0"/>
              </a:spcBef>
            </a:pPr>
            <a:r>
              <a:rPr lang="en-US" sz="3205" spc="192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_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364964" y="7072096"/>
            <a:ext cx="457623" cy="543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6"/>
              </a:lnSpc>
              <a:spcBef>
                <a:spcPct val="0"/>
              </a:spcBef>
            </a:pPr>
            <a:r>
              <a:rPr lang="en-US" sz="3205" spc="192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_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364964" y="6585744"/>
            <a:ext cx="457623" cy="543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6"/>
              </a:lnSpc>
              <a:spcBef>
                <a:spcPct val="0"/>
              </a:spcBef>
            </a:pPr>
            <a:r>
              <a:rPr lang="en-US" sz="3205" spc="192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_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364964" y="6099393"/>
            <a:ext cx="457623" cy="543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6"/>
              </a:lnSpc>
              <a:spcBef>
                <a:spcPct val="0"/>
              </a:spcBef>
            </a:pPr>
            <a:r>
              <a:rPr lang="en-US" sz="3205" spc="192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_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364964" y="5613041"/>
            <a:ext cx="457623" cy="543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6"/>
              </a:lnSpc>
              <a:spcBef>
                <a:spcPct val="0"/>
              </a:spcBef>
            </a:pPr>
            <a:r>
              <a:rPr lang="en-US" sz="3205" spc="192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_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0364964" y="5126689"/>
            <a:ext cx="457623" cy="543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6"/>
              </a:lnSpc>
              <a:spcBef>
                <a:spcPct val="0"/>
              </a:spcBef>
            </a:pPr>
            <a:r>
              <a:rPr lang="en-US" sz="3205" spc="192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_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0364964" y="4557369"/>
            <a:ext cx="457623" cy="543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6"/>
              </a:lnSpc>
              <a:spcBef>
                <a:spcPct val="0"/>
              </a:spcBef>
            </a:pPr>
            <a:r>
              <a:rPr lang="en-US" sz="3205" spc="192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_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9983674" y="7334322"/>
            <a:ext cx="457623" cy="374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84"/>
              </a:lnSpc>
              <a:spcBef>
                <a:spcPct val="0"/>
              </a:spcBef>
            </a:pPr>
            <a:r>
              <a:rPr lang="en-US" sz="2210" spc="132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2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9983674" y="6913239"/>
            <a:ext cx="457623" cy="374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84"/>
              </a:lnSpc>
              <a:spcBef>
                <a:spcPct val="0"/>
              </a:spcBef>
            </a:pPr>
            <a:r>
              <a:rPr lang="en-US" sz="2210" spc="132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3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9983674" y="6408737"/>
            <a:ext cx="457623" cy="374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84"/>
              </a:lnSpc>
              <a:spcBef>
                <a:spcPct val="0"/>
              </a:spcBef>
            </a:pPr>
            <a:r>
              <a:rPr lang="en-US" sz="2210" spc="132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4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9983674" y="5903437"/>
            <a:ext cx="457623" cy="374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84"/>
              </a:lnSpc>
              <a:spcBef>
                <a:spcPct val="0"/>
              </a:spcBef>
            </a:pPr>
            <a:r>
              <a:rPr lang="en-US" sz="2210" spc="132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5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9983674" y="5422173"/>
            <a:ext cx="457623" cy="374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84"/>
              </a:lnSpc>
              <a:spcBef>
                <a:spcPct val="0"/>
              </a:spcBef>
            </a:pPr>
            <a:r>
              <a:rPr lang="en-US" sz="2210" spc="132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6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9983674" y="4894337"/>
            <a:ext cx="457623" cy="374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84"/>
              </a:lnSpc>
              <a:spcBef>
                <a:spcPct val="0"/>
              </a:spcBef>
            </a:pPr>
            <a:r>
              <a:rPr lang="en-US" sz="2210" spc="132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7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0364964" y="4078376"/>
            <a:ext cx="457623" cy="543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6"/>
              </a:lnSpc>
              <a:spcBef>
                <a:spcPct val="0"/>
              </a:spcBef>
            </a:pPr>
            <a:r>
              <a:rPr lang="en-US" sz="3205" spc="192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_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0364964" y="3584665"/>
            <a:ext cx="457623" cy="543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6"/>
              </a:lnSpc>
              <a:spcBef>
                <a:spcPct val="0"/>
              </a:spcBef>
            </a:pPr>
            <a:r>
              <a:rPr lang="en-US" sz="3205" spc="192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_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0364964" y="3087787"/>
            <a:ext cx="457623" cy="543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6"/>
              </a:lnSpc>
              <a:spcBef>
                <a:spcPct val="0"/>
              </a:spcBef>
            </a:pPr>
            <a:r>
              <a:rPr lang="en-US" sz="3205" spc="192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_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9983674" y="4315348"/>
            <a:ext cx="457623" cy="374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84"/>
              </a:lnSpc>
              <a:spcBef>
                <a:spcPct val="0"/>
              </a:spcBef>
            </a:pPr>
            <a:r>
              <a:rPr lang="en-US" sz="2210" spc="132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8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9983674" y="3831102"/>
            <a:ext cx="457623" cy="374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84"/>
              </a:lnSpc>
              <a:spcBef>
                <a:spcPct val="0"/>
              </a:spcBef>
            </a:pPr>
            <a:r>
              <a:rPr lang="en-US" sz="2210" spc="132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9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9983674" y="3410019"/>
            <a:ext cx="457623" cy="374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84"/>
              </a:lnSpc>
              <a:spcBef>
                <a:spcPct val="0"/>
              </a:spcBef>
            </a:pPr>
            <a:r>
              <a:rPr lang="en-US" sz="2210" spc="132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10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0969966" y="6853926"/>
            <a:ext cx="725879" cy="1040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18"/>
              </a:lnSpc>
            </a:pPr>
            <a:r>
              <a:rPr lang="en-US" sz="7957">
                <a:solidFill>
                  <a:srgbClr val="FFA3C1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.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1432217" y="5911331"/>
            <a:ext cx="725879" cy="1040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18"/>
              </a:lnSpc>
            </a:pPr>
            <a:r>
              <a:rPr lang="en-US" sz="7957">
                <a:solidFill>
                  <a:srgbClr val="FFA3C1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.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1929285" y="4901530"/>
            <a:ext cx="725879" cy="1040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18"/>
              </a:lnSpc>
            </a:pPr>
            <a:r>
              <a:rPr lang="en-US" sz="7957">
                <a:solidFill>
                  <a:srgbClr val="FFA3C1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.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2341368" y="3944423"/>
            <a:ext cx="725879" cy="1040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18"/>
              </a:lnSpc>
            </a:pPr>
            <a:r>
              <a:rPr lang="en-US" sz="7957">
                <a:solidFill>
                  <a:srgbClr val="FFA3C1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.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1241296" y="7170173"/>
            <a:ext cx="1050928" cy="539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  <a:spcBef>
                <a:spcPct val="0"/>
              </a:spcBef>
            </a:pPr>
            <a:r>
              <a:rPr lang="en-US" sz="3200" spc="192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(1,2)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1751377" y="6173859"/>
            <a:ext cx="1050928" cy="539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  <a:spcBef>
                <a:spcPct val="0"/>
              </a:spcBef>
            </a:pPr>
            <a:r>
              <a:rPr lang="en-US" sz="3200" spc="192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(2,4)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2276841" y="5258025"/>
            <a:ext cx="1050928" cy="539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  <a:spcBef>
                <a:spcPct val="0"/>
              </a:spcBef>
            </a:pPr>
            <a:r>
              <a:rPr lang="en-US" sz="3200" spc="192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(3,6)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2835173" y="4277090"/>
            <a:ext cx="1050928" cy="539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  <a:spcBef>
                <a:spcPct val="0"/>
              </a:spcBef>
            </a:pPr>
            <a:r>
              <a:rPr lang="en-US" sz="3200" spc="192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(4,8)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0326520" y="2279651"/>
            <a:ext cx="624423" cy="539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  <a:spcBef>
                <a:spcPct val="0"/>
              </a:spcBef>
            </a:pPr>
            <a:r>
              <a:rPr lang="en-US" sz="3200" spc="192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y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6349406" y="8129941"/>
            <a:ext cx="667679" cy="539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  <a:spcBef>
                <a:spcPct val="0"/>
              </a:spcBef>
            </a:pPr>
            <a:r>
              <a:rPr lang="en-US" sz="3200" spc="192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x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0459647" y="7820816"/>
            <a:ext cx="725879" cy="1040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18"/>
              </a:lnSpc>
            </a:pPr>
            <a:r>
              <a:rPr lang="en-US" sz="7957">
                <a:solidFill>
                  <a:srgbClr val="FFA3C1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.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0715832" y="7776382"/>
            <a:ext cx="1050928" cy="539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  <a:spcBef>
                <a:spcPct val="0"/>
              </a:spcBef>
            </a:pPr>
            <a:r>
              <a:rPr lang="en-US" sz="3200" spc="192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(0,0)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27B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1130" y="486490"/>
            <a:ext cx="17265740" cy="9314020"/>
            <a:chOff x="0" y="0"/>
            <a:chExt cx="4547355" cy="24530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47355" cy="2453075"/>
            </a:xfrm>
            <a:custGeom>
              <a:avLst/>
              <a:gdLst/>
              <a:ahLst/>
              <a:cxnLst/>
              <a:rect r="r" b="b" t="t" l="l"/>
              <a:pathLst>
                <a:path h="2453075" w="4547355">
                  <a:moveTo>
                    <a:pt x="22868" y="0"/>
                  </a:moveTo>
                  <a:lnTo>
                    <a:pt x="4524487" y="0"/>
                  </a:lnTo>
                  <a:cubicBezTo>
                    <a:pt x="4530552" y="0"/>
                    <a:pt x="4536369" y="2409"/>
                    <a:pt x="4540657" y="6698"/>
                  </a:cubicBezTo>
                  <a:cubicBezTo>
                    <a:pt x="4544946" y="10987"/>
                    <a:pt x="4547355" y="16803"/>
                    <a:pt x="4547355" y="22868"/>
                  </a:cubicBezTo>
                  <a:lnTo>
                    <a:pt x="4547355" y="2430207"/>
                  </a:lnTo>
                  <a:cubicBezTo>
                    <a:pt x="4547355" y="2436272"/>
                    <a:pt x="4544946" y="2442089"/>
                    <a:pt x="4540657" y="2446377"/>
                  </a:cubicBezTo>
                  <a:cubicBezTo>
                    <a:pt x="4536369" y="2450666"/>
                    <a:pt x="4530552" y="2453075"/>
                    <a:pt x="4524487" y="2453075"/>
                  </a:cubicBezTo>
                  <a:lnTo>
                    <a:pt x="22868" y="2453075"/>
                  </a:lnTo>
                  <a:cubicBezTo>
                    <a:pt x="16803" y="2453075"/>
                    <a:pt x="10987" y="2450666"/>
                    <a:pt x="6698" y="2446377"/>
                  </a:cubicBezTo>
                  <a:cubicBezTo>
                    <a:pt x="2409" y="2442089"/>
                    <a:pt x="0" y="2436272"/>
                    <a:pt x="0" y="2430207"/>
                  </a:cubicBezTo>
                  <a:lnTo>
                    <a:pt x="0" y="22868"/>
                  </a:lnTo>
                  <a:cubicBezTo>
                    <a:pt x="0" y="16803"/>
                    <a:pt x="2409" y="10987"/>
                    <a:pt x="6698" y="6698"/>
                  </a:cubicBezTo>
                  <a:cubicBezTo>
                    <a:pt x="10987" y="2409"/>
                    <a:pt x="16803" y="0"/>
                    <a:pt x="22868" y="0"/>
                  </a:cubicBezTo>
                  <a:close/>
                </a:path>
              </a:pathLst>
            </a:custGeom>
            <a:solidFill>
              <a:srgbClr val="4B444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47355" cy="2491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4748493">
            <a:off x="13490128" y="9480494"/>
            <a:ext cx="561536" cy="1002636"/>
          </a:xfrm>
          <a:custGeom>
            <a:avLst/>
            <a:gdLst/>
            <a:ahLst/>
            <a:cxnLst/>
            <a:rect r="r" b="b" t="t" l="l"/>
            <a:pathLst>
              <a:path h="1002636" w="561536">
                <a:moveTo>
                  <a:pt x="0" y="0"/>
                </a:moveTo>
                <a:lnTo>
                  <a:pt x="561536" y="0"/>
                </a:lnTo>
                <a:lnTo>
                  <a:pt x="561536" y="1002636"/>
                </a:lnTo>
                <a:lnTo>
                  <a:pt x="0" y="10026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355817" y="890098"/>
            <a:ext cx="13576365" cy="1236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b="true" sz="7200">
                <a:solidFill>
                  <a:srgbClr val="FFA3C1"/>
                </a:solidFill>
                <a:latin typeface="One Little Font Bold"/>
                <a:ea typeface="One Little Font Bold"/>
                <a:cs typeface="One Little Font Bold"/>
                <a:sym typeface="One Little Font Bold"/>
              </a:rPr>
              <a:t>Menggambar grafik fungsi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35313" y="2563886"/>
            <a:ext cx="5233731" cy="688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724"/>
              </a:lnSpc>
            </a:pPr>
            <a:r>
              <a:rPr lang="en-US" sz="3600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Jawab :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3811001" y="9513286"/>
            <a:ext cx="2658043" cy="838707"/>
            <a:chOff x="0" y="0"/>
            <a:chExt cx="3544058" cy="1118275"/>
          </a:xfrm>
        </p:grpSpPr>
        <p:grpSp>
          <p:nvGrpSpPr>
            <p:cNvPr name="Group 9" id="9"/>
            <p:cNvGrpSpPr/>
            <p:nvPr/>
          </p:nvGrpSpPr>
          <p:grpSpPr>
            <a:xfrm rot="117060">
              <a:off x="27116" y="59305"/>
              <a:ext cx="3500940" cy="999666"/>
              <a:chOff x="0" y="0"/>
              <a:chExt cx="1753351" cy="500655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753351" cy="500655"/>
              </a:xfrm>
              <a:custGeom>
                <a:avLst/>
                <a:gdLst/>
                <a:ahLst/>
                <a:cxnLst/>
                <a:rect r="r" b="b" t="t" l="l"/>
                <a:pathLst>
                  <a:path h="500655" w="1753351">
                    <a:moveTo>
                      <a:pt x="0" y="0"/>
                    </a:moveTo>
                    <a:lnTo>
                      <a:pt x="1753351" y="0"/>
                    </a:lnTo>
                    <a:lnTo>
                      <a:pt x="1753351" y="500655"/>
                    </a:lnTo>
                    <a:lnTo>
                      <a:pt x="0" y="500655"/>
                    </a:lnTo>
                    <a:close/>
                  </a:path>
                </a:pathLst>
              </a:custGeom>
              <a:solidFill>
                <a:srgbClr val="868383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1753351" cy="538755"/>
              </a:xfrm>
              <a:prstGeom prst="rect">
                <a:avLst/>
              </a:prstGeom>
            </p:spPr>
            <p:txBody>
              <a:bodyPr anchor="ctr" rtlCol="false" tIns="30924" lIns="30924" bIns="30924" rIns="30924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0">
              <a:off x="0" y="19781"/>
              <a:ext cx="3518253" cy="1062256"/>
            </a:xfrm>
            <a:custGeom>
              <a:avLst/>
              <a:gdLst/>
              <a:ahLst/>
              <a:cxnLst/>
              <a:rect r="r" b="b" t="t" l="l"/>
              <a:pathLst>
                <a:path h="1062256" w="3518253">
                  <a:moveTo>
                    <a:pt x="0" y="0"/>
                  </a:moveTo>
                  <a:lnTo>
                    <a:pt x="3518253" y="0"/>
                  </a:lnTo>
                  <a:lnTo>
                    <a:pt x="3518253" y="1062256"/>
                  </a:lnTo>
                  <a:lnTo>
                    <a:pt x="0" y="10622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235313" y="4729488"/>
            <a:ext cx="7033861" cy="2860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4"/>
              </a:lnSpc>
            </a:pPr>
            <a:r>
              <a:rPr lang="en-US" sz="3600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Karena domain bilangan real, maka banyaknya pemetaan menjadi tak hingga, artinya grafik fungsi tersebut membentuk sebuah </a:t>
            </a:r>
            <a:r>
              <a:rPr lang="en-US" sz="3600" u="sng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garis</a:t>
            </a:r>
            <a:r>
              <a:rPr lang="en-US" sz="3600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35313" y="3305731"/>
            <a:ext cx="8408982" cy="688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4"/>
              </a:lnSpc>
            </a:pPr>
            <a:r>
              <a:rPr lang="en-US" sz="3600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b. f(x) = 2x, domain bilangan real.</a:t>
            </a:r>
          </a:p>
        </p:txBody>
      </p:sp>
      <p:sp>
        <p:nvSpPr>
          <p:cNvPr name="AutoShape 15" id="15"/>
          <p:cNvSpPr/>
          <p:nvPr/>
        </p:nvSpPr>
        <p:spPr>
          <a:xfrm>
            <a:off x="9644295" y="8441701"/>
            <a:ext cx="6705111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arrow" len="sm" w="med"/>
            <a:tailEnd type="arrow" len="sm" w="med"/>
          </a:ln>
        </p:spPr>
      </p:sp>
      <p:sp>
        <p:nvSpPr>
          <p:cNvPr name="AutoShape 16" id="16"/>
          <p:cNvSpPr/>
          <p:nvPr/>
        </p:nvSpPr>
        <p:spPr>
          <a:xfrm>
            <a:off x="10609566" y="2961641"/>
            <a:ext cx="0" cy="6296659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arrow" len="sm" w="med"/>
            <a:tailEnd type="arrow" len="sm" w="med"/>
          </a:ln>
        </p:spPr>
      </p:sp>
      <p:sp>
        <p:nvSpPr>
          <p:cNvPr name="TextBox 17" id="17"/>
          <p:cNvSpPr txBox="true"/>
          <p:nvPr/>
        </p:nvSpPr>
        <p:spPr>
          <a:xfrm rot="0">
            <a:off x="10950943" y="8167693"/>
            <a:ext cx="457623" cy="543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6"/>
              </a:lnSpc>
              <a:spcBef>
                <a:spcPct val="0"/>
              </a:spcBef>
            </a:pPr>
            <a:r>
              <a:rPr lang="en-US" sz="3205" spc="192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|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408566" y="8167693"/>
            <a:ext cx="457623" cy="543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6"/>
              </a:lnSpc>
              <a:spcBef>
                <a:spcPct val="0"/>
              </a:spcBef>
            </a:pPr>
            <a:r>
              <a:rPr lang="en-US" sz="3205" spc="192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|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929285" y="8167693"/>
            <a:ext cx="457623" cy="543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6"/>
              </a:lnSpc>
              <a:spcBef>
                <a:spcPct val="0"/>
              </a:spcBef>
            </a:pPr>
            <a:r>
              <a:rPr lang="en-US" sz="3205" spc="192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|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386908" y="8167693"/>
            <a:ext cx="457623" cy="543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6"/>
              </a:lnSpc>
              <a:spcBef>
                <a:spcPct val="0"/>
              </a:spcBef>
            </a:pPr>
            <a:r>
              <a:rPr lang="en-US" sz="3205" spc="192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|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907693" y="8167693"/>
            <a:ext cx="457623" cy="543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6"/>
              </a:lnSpc>
              <a:spcBef>
                <a:spcPct val="0"/>
              </a:spcBef>
            </a:pPr>
            <a:r>
              <a:rPr lang="en-US" sz="3205" spc="192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|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444873" y="8167693"/>
            <a:ext cx="457623" cy="543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6"/>
              </a:lnSpc>
              <a:spcBef>
                <a:spcPct val="0"/>
              </a:spcBef>
            </a:pPr>
            <a:r>
              <a:rPr lang="en-US" sz="3205" spc="192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|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902496" y="8167693"/>
            <a:ext cx="457623" cy="543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6"/>
              </a:lnSpc>
              <a:spcBef>
                <a:spcPct val="0"/>
              </a:spcBef>
            </a:pPr>
            <a:r>
              <a:rPr lang="en-US" sz="3205" spc="192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|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423282" y="8167693"/>
            <a:ext cx="457623" cy="543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6"/>
              </a:lnSpc>
              <a:spcBef>
                <a:spcPct val="0"/>
              </a:spcBef>
            </a:pPr>
            <a:r>
              <a:rPr lang="en-US" sz="3205" spc="192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|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880904" y="8167693"/>
            <a:ext cx="457623" cy="543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6"/>
              </a:lnSpc>
              <a:spcBef>
                <a:spcPct val="0"/>
              </a:spcBef>
            </a:pPr>
            <a:r>
              <a:rPr lang="en-US" sz="3205" spc="192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|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5401690" y="8167693"/>
            <a:ext cx="457623" cy="543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6"/>
              </a:lnSpc>
              <a:spcBef>
                <a:spcPct val="0"/>
              </a:spcBef>
            </a:pPr>
            <a:r>
              <a:rPr lang="en-US" sz="3205" spc="192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|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950943" y="8576554"/>
            <a:ext cx="457623" cy="374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84"/>
              </a:lnSpc>
              <a:spcBef>
                <a:spcPct val="0"/>
              </a:spcBef>
            </a:pPr>
            <a:r>
              <a:rPr lang="en-US" sz="2210" spc="132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1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408566" y="8576554"/>
            <a:ext cx="457623" cy="374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84"/>
              </a:lnSpc>
              <a:spcBef>
                <a:spcPct val="0"/>
              </a:spcBef>
            </a:pPr>
            <a:r>
              <a:rPr lang="en-US" sz="2210" spc="132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2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929285" y="8576554"/>
            <a:ext cx="457623" cy="374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84"/>
              </a:lnSpc>
              <a:spcBef>
                <a:spcPct val="0"/>
              </a:spcBef>
            </a:pPr>
            <a:r>
              <a:rPr lang="en-US" sz="2210" spc="132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3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386908" y="8576554"/>
            <a:ext cx="457623" cy="374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84"/>
              </a:lnSpc>
              <a:spcBef>
                <a:spcPct val="0"/>
              </a:spcBef>
            </a:pPr>
            <a:r>
              <a:rPr lang="en-US" sz="2210" spc="132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4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907693" y="8576554"/>
            <a:ext cx="457623" cy="374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84"/>
              </a:lnSpc>
              <a:spcBef>
                <a:spcPct val="0"/>
              </a:spcBef>
            </a:pPr>
            <a:r>
              <a:rPr lang="en-US" sz="2210" spc="132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5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428479" y="8576554"/>
            <a:ext cx="457623" cy="374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84"/>
              </a:lnSpc>
              <a:spcBef>
                <a:spcPct val="0"/>
              </a:spcBef>
            </a:pPr>
            <a:r>
              <a:rPr lang="en-US" sz="2210" spc="132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6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902496" y="8576554"/>
            <a:ext cx="457623" cy="374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84"/>
              </a:lnSpc>
              <a:spcBef>
                <a:spcPct val="0"/>
              </a:spcBef>
            </a:pPr>
            <a:r>
              <a:rPr lang="en-US" sz="2210" spc="132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7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4423282" y="8576554"/>
            <a:ext cx="457623" cy="374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84"/>
              </a:lnSpc>
              <a:spcBef>
                <a:spcPct val="0"/>
              </a:spcBef>
            </a:pPr>
            <a:r>
              <a:rPr lang="en-US" sz="2210" spc="132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8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4875946" y="8576554"/>
            <a:ext cx="457623" cy="374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84"/>
              </a:lnSpc>
              <a:spcBef>
                <a:spcPct val="0"/>
              </a:spcBef>
            </a:pPr>
            <a:r>
              <a:rPr lang="en-US" sz="2210" spc="132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9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5396732" y="8576554"/>
            <a:ext cx="457623" cy="374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84"/>
              </a:lnSpc>
              <a:spcBef>
                <a:spcPct val="0"/>
              </a:spcBef>
            </a:pPr>
            <a:r>
              <a:rPr lang="en-US" sz="2210" spc="132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10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983674" y="7753336"/>
            <a:ext cx="457623" cy="374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84"/>
              </a:lnSpc>
              <a:spcBef>
                <a:spcPct val="0"/>
              </a:spcBef>
            </a:pPr>
            <a:r>
              <a:rPr lang="en-US" sz="2210" spc="132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1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364964" y="7531013"/>
            <a:ext cx="457623" cy="543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6"/>
              </a:lnSpc>
              <a:spcBef>
                <a:spcPct val="0"/>
              </a:spcBef>
            </a:pPr>
            <a:r>
              <a:rPr lang="en-US" sz="3205" spc="192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_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364964" y="7072096"/>
            <a:ext cx="457623" cy="543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6"/>
              </a:lnSpc>
              <a:spcBef>
                <a:spcPct val="0"/>
              </a:spcBef>
            </a:pPr>
            <a:r>
              <a:rPr lang="en-US" sz="3205" spc="192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_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364964" y="6585744"/>
            <a:ext cx="457623" cy="543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6"/>
              </a:lnSpc>
              <a:spcBef>
                <a:spcPct val="0"/>
              </a:spcBef>
            </a:pPr>
            <a:r>
              <a:rPr lang="en-US" sz="3205" spc="192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_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364964" y="6099393"/>
            <a:ext cx="457623" cy="543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6"/>
              </a:lnSpc>
              <a:spcBef>
                <a:spcPct val="0"/>
              </a:spcBef>
            </a:pPr>
            <a:r>
              <a:rPr lang="en-US" sz="3205" spc="192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_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364964" y="5613041"/>
            <a:ext cx="457623" cy="543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6"/>
              </a:lnSpc>
              <a:spcBef>
                <a:spcPct val="0"/>
              </a:spcBef>
            </a:pPr>
            <a:r>
              <a:rPr lang="en-US" sz="3205" spc="192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_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364964" y="5126689"/>
            <a:ext cx="457623" cy="543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6"/>
              </a:lnSpc>
              <a:spcBef>
                <a:spcPct val="0"/>
              </a:spcBef>
            </a:pPr>
            <a:r>
              <a:rPr lang="en-US" sz="3205" spc="192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_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0364964" y="4557369"/>
            <a:ext cx="457623" cy="543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6"/>
              </a:lnSpc>
              <a:spcBef>
                <a:spcPct val="0"/>
              </a:spcBef>
            </a:pPr>
            <a:r>
              <a:rPr lang="en-US" sz="3205" spc="192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_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983674" y="7334322"/>
            <a:ext cx="457623" cy="374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84"/>
              </a:lnSpc>
              <a:spcBef>
                <a:spcPct val="0"/>
              </a:spcBef>
            </a:pPr>
            <a:r>
              <a:rPr lang="en-US" sz="2210" spc="132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2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9983674" y="6913239"/>
            <a:ext cx="457623" cy="374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84"/>
              </a:lnSpc>
              <a:spcBef>
                <a:spcPct val="0"/>
              </a:spcBef>
            </a:pPr>
            <a:r>
              <a:rPr lang="en-US" sz="2210" spc="132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3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9983674" y="6408737"/>
            <a:ext cx="457623" cy="374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84"/>
              </a:lnSpc>
              <a:spcBef>
                <a:spcPct val="0"/>
              </a:spcBef>
            </a:pPr>
            <a:r>
              <a:rPr lang="en-US" sz="2210" spc="132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4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9983674" y="5903437"/>
            <a:ext cx="457623" cy="374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84"/>
              </a:lnSpc>
              <a:spcBef>
                <a:spcPct val="0"/>
              </a:spcBef>
            </a:pPr>
            <a:r>
              <a:rPr lang="en-US" sz="2210" spc="132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5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9983674" y="5422173"/>
            <a:ext cx="457623" cy="374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84"/>
              </a:lnSpc>
              <a:spcBef>
                <a:spcPct val="0"/>
              </a:spcBef>
            </a:pPr>
            <a:r>
              <a:rPr lang="en-US" sz="2210" spc="132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6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9983674" y="4894337"/>
            <a:ext cx="457623" cy="374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84"/>
              </a:lnSpc>
              <a:spcBef>
                <a:spcPct val="0"/>
              </a:spcBef>
            </a:pPr>
            <a:r>
              <a:rPr lang="en-US" sz="2210" spc="132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7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0364964" y="4078376"/>
            <a:ext cx="457623" cy="543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6"/>
              </a:lnSpc>
              <a:spcBef>
                <a:spcPct val="0"/>
              </a:spcBef>
            </a:pPr>
            <a:r>
              <a:rPr lang="en-US" sz="3205" spc="192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_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0364964" y="3584665"/>
            <a:ext cx="457623" cy="543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6"/>
              </a:lnSpc>
              <a:spcBef>
                <a:spcPct val="0"/>
              </a:spcBef>
            </a:pPr>
            <a:r>
              <a:rPr lang="en-US" sz="3205" spc="192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_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0364964" y="3087787"/>
            <a:ext cx="457623" cy="543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6"/>
              </a:lnSpc>
              <a:spcBef>
                <a:spcPct val="0"/>
              </a:spcBef>
            </a:pPr>
            <a:r>
              <a:rPr lang="en-US" sz="3205" spc="192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_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9983674" y="4315348"/>
            <a:ext cx="457623" cy="374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84"/>
              </a:lnSpc>
              <a:spcBef>
                <a:spcPct val="0"/>
              </a:spcBef>
            </a:pPr>
            <a:r>
              <a:rPr lang="en-US" sz="2210" spc="132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8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9983674" y="3831102"/>
            <a:ext cx="457623" cy="374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84"/>
              </a:lnSpc>
              <a:spcBef>
                <a:spcPct val="0"/>
              </a:spcBef>
            </a:pPr>
            <a:r>
              <a:rPr lang="en-US" sz="2210" spc="132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9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9983674" y="3410019"/>
            <a:ext cx="457623" cy="374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84"/>
              </a:lnSpc>
              <a:spcBef>
                <a:spcPct val="0"/>
              </a:spcBef>
            </a:pPr>
            <a:r>
              <a:rPr lang="en-US" sz="2210" spc="132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10</a:t>
            </a:r>
          </a:p>
        </p:txBody>
      </p:sp>
      <p:sp>
        <p:nvSpPr>
          <p:cNvPr name="AutoShape 57" id="57"/>
          <p:cNvSpPr/>
          <p:nvPr/>
        </p:nvSpPr>
        <p:spPr>
          <a:xfrm flipV="true">
            <a:off x="10364964" y="3277539"/>
            <a:ext cx="2794260" cy="5673981"/>
          </a:xfrm>
          <a:prstGeom prst="line">
            <a:avLst/>
          </a:prstGeom>
          <a:ln cap="flat" w="38100">
            <a:solidFill>
              <a:srgbClr val="EFC6D3"/>
            </a:solidFill>
            <a:prstDash val="solid"/>
            <a:headEnd type="arrow" len="sm" w="med"/>
            <a:tailEnd type="arrow" len="sm" w="med"/>
          </a:ln>
        </p:spPr>
      </p:sp>
      <p:sp>
        <p:nvSpPr>
          <p:cNvPr name="TextBox 58" id="58"/>
          <p:cNvSpPr txBox="true"/>
          <p:nvPr/>
        </p:nvSpPr>
        <p:spPr>
          <a:xfrm rot="0">
            <a:off x="10969966" y="6853926"/>
            <a:ext cx="725879" cy="1040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18"/>
              </a:lnSpc>
            </a:pPr>
            <a:r>
              <a:rPr lang="en-US" sz="7957">
                <a:solidFill>
                  <a:srgbClr val="FFA3C1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.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1432217" y="5911331"/>
            <a:ext cx="725879" cy="1040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18"/>
              </a:lnSpc>
            </a:pPr>
            <a:r>
              <a:rPr lang="en-US" sz="7957">
                <a:solidFill>
                  <a:srgbClr val="FFA3C1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.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1929285" y="4901530"/>
            <a:ext cx="725879" cy="1040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18"/>
              </a:lnSpc>
            </a:pPr>
            <a:r>
              <a:rPr lang="en-US" sz="7957">
                <a:solidFill>
                  <a:srgbClr val="FFA3C1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.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2341368" y="3944423"/>
            <a:ext cx="725879" cy="1040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18"/>
              </a:lnSpc>
            </a:pPr>
            <a:r>
              <a:rPr lang="en-US" sz="7957">
                <a:solidFill>
                  <a:srgbClr val="FFA3C1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.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1107168" y="7170173"/>
            <a:ext cx="1050928" cy="539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  <a:spcBef>
                <a:spcPct val="0"/>
              </a:spcBef>
            </a:pPr>
            <a:r>
              <a:rPr lang="en-US" sz="3200" spc="192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(1,2)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1653379" y="6173859"/>
            <a:ext cx="1050928" cy="539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  <a:spcBef>
                <a:spcPct val="0"/>
              </a:spcBef>
            </a:pPr>
            <a:r>
              <a:rPr lang="en-US" sz="3200" spc="192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(2,4)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2276841" y="5258025"/>
            <a:ext cx="1050928" cy="539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  <a:spcBef>
                <a:spcPct val="0"/>
              </a:spcBef>
            </a:pPr>
            <a:r>
              <a:rPr lang="en-US" sz="3200" spc="192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(3,6)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2835173" y="4277090"/>
            <a:ext cx="1050928" cy="539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  <a:spcBef>
                <a:spcPct val="0"/>
              </a:spcBef>
            </a:pPr>
            <a:r>
              <a:rPr lang="en-US" sz="3200" spc="192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(4,8)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0326520" y="2279651"/>
            <a:ext cx="624423" cy="539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  <a:spcBef>
                <a:spcPct val="0"/>
              </a:spcBef>
            </a:pPr>
            <a:r>
              <a:rPr lang="en-US" sz="3200" spc="192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y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6349406" y="8129941"/>
            <a:ext cx="667679" cy="539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  <a:spcBef>
                <a:spcPct val="0"/>
              </a:spcBef>
            </a:pPr>
            <a:r>
              <a:rPr lang="en-US" sz="3200" spc="192">
                <a:solidFill>
                  <a:srgbClr val="FFFFFF"/>
                </a:solidFill>
                <a:latin typeface="Antio"/>
                <a:ea typeface="Antio"/>
                <a:cs typeface="Antio"/>
                <a:sym typeface="Antio"/>
              </a:rPr>
              <a:t>x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0459647" y="7820816"/>
            <a:ext cx="725879" cy="1040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18"/>
              </a:lnSpc>
            </a:pPr>
            <a:r>
              <a:rPr lang="en-US" sz="7957">
                <a:solidFill>
                  <a:srgbClr val="FFA3C1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.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27B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1130" y="486490"/>
            <a:ext cx="17265740" cy="9314020"/>
            <a:chOff x="0" y="0"/>
            <a:chExt cx="4547355" cy="24530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47355" cy="2453075"/>
            </a:xfrm>
            <a:custGeom>
              <a:avLst/>
              <a:gdLst/>
              <a:ahLst/>
              <a:cxnLst/>
              <a:rect r="r" b="b" t="t" l="l"/>
              <a:pathLst>
                <a:path h="2453075" w="4547355">
                  <a:moveTo>
                    <a:pt x="22868" y="0"/>
                  </a:moveTo>
                  <a:lnTo>
                    <a:pt x="4524487" y="0"/>
                  </a:lnTo>
                  <a:cubicBezTo>
                    <a:pt x="4530552" y="0"/>
                    <a:pt x="4536369" y="2409"/>
                    <a:pt x="4540657" y="6698"/>
                  </a:cubicBezTo>
                  <a:cubicBezTo>
                    <a:pt x="4544946" y="10987"/>
                    <a:pt x="4547355" y="16803"/>
                    <a:pt x="4547355" y="22868"/>
                  </a:cubicBezTo>
                  <a:lnTo>
                    <a:pt x="4547355" y="2430207"/>
                  </a:lnTo>
                  <a:cubicBezTo>
                    <a:pt x="4547355" y="2436272"/>
                    <a:pt x="4544946" y="2442089"/>
                    <a:pt x="4540657" y="2446377"/>
                  </a:cubicBezTo>
                  <a:cubicBezTo>
                    <a:pt x="4536369" y="2450666"/>
                    <a:pt x="4530552" y="2453075"/>
                    <a:pt x="4524487" y="2453075"/>
                  </a:cubicBezTo>
                  <a:lnTo>
                    <a:pt x="22868" y="2453075"/>
                  </a:lnTo>
                  <a:cubicBezTo>
                    <a:pt x="16803" y="2453075"/>
                    <a:pt x="10987" y="2450666"/>
                    <a:pt x="6698" y="2446377"/>
                  </a:cubicBezTo>
                  <a:cubicBezTo>
                    <a:pt x="2409" y="2442089"/>
                    <a:pt x="0" y="2436272"/>
                    <a:pt x="0" y="2430207"/>
                  </a:cubicBezTo>
                  <a:lnTo>
                    <a:pt x="0" y="22868"/>
                  </a:lnTo>
                  <a:cubicBezTo>
                    <a:pt x="0" y="16803"/>
                    <a:pt x="2409" y="10987"/>
                    <a:pt x="6698" y="6698"/>
                  </a:cubicBezTo>
                  <a:cubicBezTo>
                    <a:pt x="10987" y="2409"/>
                    <a:pt x="16803" y="0"/>
                    <a:pt x="22868" y="0"/>
                  </a:cubicBezTo>
                  <a:close/>
                </a:path>
              </a:pathLst>
            </a:custGeom>
            <a:solidFill>
              <a:srgbClr val="4B444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47355" cy="2491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4748493">
            <a:off x="13490128" y="9480494"/>
            <a:ext cx="561536" cy="1002636"/>
          </a:xfrm>
          <a:custGeom>
            <a:avLst/>
            <a:gdLst/>
            <a:ahLst/>
            <a:cxnLst/>
            <a:rect r="r" b="b" t="t" l="l"/>
            <a:pathLst>
              <a:path h="1002636" w="561536">
                <a:moveTo>
                  <a:pt x="0" y="0"/>
                </a:moveTo>
                <a:lnTo>
                  <a:pt x="561536" y="0"/>
                </a:lnTo>
                <a:lnTo>
                  <a:pt x="561536" y="1002636"/>
                </a:lnTo>
                <a:lnTo>
                  <a:pt x="0" y="10026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3811001" y="9513286"/>
            <a:ext cx="2658043" cy="838707"/>
            <a:chOff x="0" y="0"/>
            <a:chExt cx="3544058" cy="1118275"/>
          </a:xfrm>
        </p:grpSpPr>
        <p:grpSp>
          <p:nvGrpSpPr>
            <p:cNvPr name="Group 7" id="7"/>
            <p:cNvGrpSpPr/>
            <p:nvPr/>
          </p:nvGrpSpPr>
          <p:grpSpPr>
            <a:xfrm rot="117060">
              <a:off x="27116" y="59305"/>
              <a:ext cx="3500940" cy="999666"/>
              <a:chOff x="0" y="0"/>
              <a:chExt cx="1753351" cy="500655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753351" cy="500655"/>
              </a:xfrm>
              <a:custGeom>
                <a:avLst/>
                <a:gdLst/>
                <a:ahLst/>
                <a:cxnLst/>
                <a:rect r="r" b="b" t="t" l="l"/>
                <a:pathLst>
                  <a:path h="500655" w="1753351">
                    <a:moveTo>
                      <a:pt x="0" y="0"/>
                    </a:moveTo>
                    <a:lnTo>
                      <a:pt x="1753351" y="0"/>
                    </a:lnTo>
                    <a:lnTo>
                      <a:pt x="1753351" y="500655"/>
                    </a:lnTo>
                    <a:lnTo>
                      <a:pt x="0" y="500655"/>
                    </a:lnTo>
                    <a:close/>
                  </a:path>
                </a:pathLst>
              </a:custGeom>
              <a:solidFill>
                <a:srgbClr val="868383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1753351" cy="538755"/>
              </a:xfrm>
              <a:prstGeom prst="rect">
                <a:avLst/>
              </a:prstGeom>
            </p:spPr>
            <p:txBody>
              <a:bodyPr anchor="ctr" rtlCol="false" tIns="30924" lIns="30924" bIns="30924" rIns="30924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10" id="10"/>
            <p:cNvSpPr/>
            <p:nvPr/>
          </p:nvSpPr>
          <p:spPr>
            <a:xfrm flipH="false" flipV="false" rot="0">
              <a:off x="0" y="19781"/>
              <a:ext cx="3518253" cy="1062256"/>
            </a:xfrm>
            <a:custGeom>
              <a:avLst/>
              <a:gdLst/>
              <a:ahLst/>
              <a:cxnLst/>
              <a:rect r="r" b="b" t="t" l="l"/>
              <a:pathLst>
                <a:path h="1062256" w="3518253">
                  <a:moveTo>
                    <a:pt x="0" y="0"/>
                  </a:moveTo>
                  <a:lnTo>
                    <a:pt x="3518253" y="0"/>
                  </a:lnTo>
                  <a:lnTo>
                    <a:pt x="3518253" y="1062256"/>
                  </a:lnTo>
                  <a:lnTo>
                    <a:pt x="0" y="10622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0347624" y="2780544"/>
            <a:ext cx="3703870" cy="4114800"/>
          </a:xfrm>
          <a:custGeom>
            <a:avLst/>
            <a:gdLst/>
            <a:ahLst/>
            <a:cxnLst/>
            <a:rect r="r" b="b" t="t" l="l"/>
            <a:pathLst>
              <a:path h="4114800" w="3703870">
                <a:moveTo>
                  <a:pt x="0" y="0"/>
                </a:moveTo>
                <a:lnTo>
                  <a:pt x="3703871" y="0"/>
                </a:lnTo>
                <a:lnTo>
                  <a:pt x="37038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991321" y="3531235"/>
            <a:ext cx="7199437" cy="3062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19"/>
              </a:lnSpc>
            </a:pPr>
            <a:r>
              <a:rPr lang="en-US" b="true" sz="8799">
                <a:solidFill>
                  <a:srgbClr val="FFA3C1"/>
                </a:solidFill>
                <a:latin typeface="One Little Font Bold"/>
                <a:ea typeface="One Little Font Bold"/>
                <a:cs typeface="One Little Font Bold"/>
                <a:sym typeface="One Little Font Bold"/>
              </a:rPr>
              <a:t>Ayo Kita berlatih!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27B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1130" y="486490"/>
            <a:ext cx="17265740" cy="9314020"/>
            <a:chOff x="0" y="0"/>
            <a:chExt cx="4547355" cy="24530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47355" cy="2453075"/>
            </a:xfrm>
            <a:custGeom>
              <a:avLst/>
              <a:gdLst/>
              <a:ahLst/>
              <a:cxnLst/>
              <a:rect r="r" b="b" t="t" l="l"/>
              <a:pathLst>
                <a:path h="2453075" w="4547355">
                  <a:moveTo>
                    <a:pt x="22868" y="0"/>
                  </a:moveTo>
                  <a:lnTo>
                    <a:pt x="4524487" y="0"/>
                  </a:lnTo>
                  <a:cubicBezTo>
                    <a:pt x="4530552" y="0"/>
                    <a:pt x="4536369" y="2409"/>
                    <a:pt x="4540657" y="6698"/>
                  </a:cubicBezTo>
                  <a:cubicBezTo>
                    <a:pt x="4544946" y="10987"/>
                    <a:pt x="4547355" y="16803"/>
                    <a:pt x="4547355" y="22868"/>
                  </a:cubicBezTo>
                  <a:lnTo>
                    <a:pt x="4547355" y="2430207"/>
                  </a:lnTo>
                  <a:cubicBezTo>
                    <a:pt x="4547355" y="2436272"/>
                    <a:pt x="4544946" y="2442089"/>
                    <a:pt x="4540657" y="2446377"/>
                  </a:cubicBezTo>
                  <a:cubicBezTo>
                    <a:pt x="4536369" y="2450666"/>
                    <a:pt x="4530552" y="2453075"/>
                    <a:pt x="4524487" y="2453075"/>
                  </a:cubicBezTo>
                  <a:lnTo>
                    <a:pt x="22868" y="2453075"/>
                  </a:lnTo>
                  <a:cubicBezTo>
                    <a:pt x="16803" y="2453075"/>
                    <a:pt x="10987" y="2450666"/>
                    <a:pt x="6698" y="2446377"/>
                  </a:cubicBezTo>
                  <a:cubicBezTo>
                    <a:pt x="2409" y="2442089"/>
                    <a:pt x="0" y="2436272"/>
                    <a:pt x="0" y="2430207"/>
                  </a:cubicBezTo>
                  <a:lnTo>
                    <a:pt x="0" y="22868"/>
                  </a:lnTo>
                  <a:cubicBezTo>
                    <a:pt x="0" y="16803"/>
                    <a:pt x="2409" y="10987"/>
                    <a:pt x="6698" y="6698"/>
                  </a:cubicBezTo>
                  <a:cubicBezTo>
                    <a:pt x="10987" y="2409"/>
                    <a:pt x="16803" y="0"/>
                    <a:pt x="22868" y="0"/>
                  </a:cubicBezTo>
                  <a:close/>
                </a:path>
              </a:pathLst>
            </a:custGeom>
            <a:solidFill>
              <a:srgbClr val="4B444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47355" cy="2491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4748493">
            <a:off x="13490128" y="9480494"/>
            <a:ext cx="561536" cy="1002636"/>
          </a:xfrm>
          <a:custGeom>
            <a:avLst/>
            <a:gdLst/>
            <a:ahLst/>
            <a:cxnLst/>
            <a:rect r="r" b="b" t="t" l="l"/>
            <a:pathLst>
              <a:path h="1002636" w="561536">
                <a:moveTo>
                  <a:pt x="0" y="0"/>
                </a:moveTo>
                <a:lnTo>
                  <a:pt x="561536" y="0"/>
                </a:lnTo>
                <a:lnTo>
                  <a:pt x="561536" y="1002636"/>
                </a:lnTo>
                <a:lnTo>
                  <a:pt x="0" y="10026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355817" y="885825"/>
            <a:ext cx="13576365" cy="1236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b="true" sz="7200">
                <a:solidFill>
                  <a:srgbClr val="FFA3C1"/>
                </a:solidFill>
                <a:latin typeface="One Little Font Bold"/>
                <a:ea typeface="One Little Font Bold"/>
                <a:cs typeface="One Little Font Bold"/>
                <a:sym typeface="One Little Font Bold"/>
              </a:rPr>
              <a:t>Pertanyaan #1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05201" y="5747147"/>
            <a:ext cx="4270825" cy="801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78"/>
              </a:lnSpc>
            </a:pPr>
            <a:r>
              <a:rPr lang="en-US" sz="4200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a. 8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05201" y="7472267"/>
            <a:ext cx="4270825" cy="801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78"/>
              </a:lnSpc>
            </a:pPr>
            <a:r>
              <a:rPr lang="en-US" sz="4200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b. 12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34758" y="2646426"/>
            <a:ext cx="15222861" cy="2497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78"/>
              </a:lnSpc>
            </a:pPr>
            <a:r>
              <a:rPr lang="en-US" sz="4200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A adalah himpunan faktor dari 6, dan B adalah himpunan faktor prima dari 20. Maka banyaknya pemetaan yang mungkin dari A ke B adalah …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703188" y="5747147"/>
            <a:ext cx="5167593" cy="801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78"/>
              </a:lnSpc>
            </a:pPr>
            <a:r>
              <a:rPr lang="en-US" sz="4200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c. 16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703188" y="7472267"/>
            <a:ext cx="5167593" cy="801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78"/>
              </a:lnSpc>
            </a:pPr>
            <a:r>
              <a:rPr lang="en-US" sz="4200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d. 81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3811001" y="9513286"/>
            <a:ext cx="2658043" cy="838707"/>
            <a:chOff x="0" y="0"/>
            <a:chExt cx="3544058" cy="1118275"/>
          </a:xfrm>
        </p:grpSpPr>
        <p:grpSp>
          <p:nvGrpSpPr>
            <p:cNvPr name="Group 13" id="13"/>
            <p:cNvGrpSpPr/>
            <p:nvPr/>
          </p:nvGrpSpPr>
          <p:grpSpPr>
            <a:xfrm rot="117060">
              <a:off x="27116" y="59305"/>
              <a:ext cx="3500940" cy="999666"/>
              <a:chOff x="0" y="0"/>
              <a:chExt cx="1753351" cy="500655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753351" cy="500655"/>
              </a:xfrm>
              <a:custGeom>
                <a:avLst/>
                <a:gdLst/>
                <a:ahLst/>
                <a:cxnLst/>
                <a:rect r="r" b="b" t="t" l="l"/>
                <a:pathLst>
                  <a:path h="500655" w="1753351">
                    <a:moveTo>
                      <a:pt x="0" y="0"/>
                    </a:moveTo>
                    <a:lnTo>
                      <a:pt x="1753351" y="0"/>
                    </a:lnTo>
                    <a:lnTo>
                      <a:pt x="1753351" y="500655"/>
                    </a:lnTo>
                    <a:lnTo>
                      <a:pt x="0" y="500655"/>
                    </a:lnTo>
                    <a:close/>
                  </a:path>
                </a:pathLst>
              </a:custGeom>
              <a:solidFill>
                <a:srgbClr val="868383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1753351" cy="538755"/>
              </a:xfrm>
              <a:prstGeom prst="rect">
                <a:avLst/>
              </a:prstGeom>
            </p:spPr>
            <p:txBody>
              <a:bodyPr anchor="ctr" rtlCol="false" tIns="30924" lIns="30924" bIns="30924" rIns="30924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16" id="16"/>
            <p:cNvSpPr/>
            <p:nvPr/>
          </p:nvSpPr>
          <p:spPr>
            <a:xfrm flipH="false" flipV="false" rot="0">
              <a:off x="0" y="19781"/>
              <a:ext cx="3518253" cy="1062256"/>
            </a:xfrm>
            <a:custGeom>
              <a:avLst/>
              <a:gdLst/>
              <a:ahLst/>
              <a:cxnLst/>
              <a:rect r="r" b="b" t="t" l="l"/>
              <a:pathLst>
                <a:path h="1062256" w="3518253">
                  <a:moveTo>
                    <a:pt x="0" y="0"/>
                  </a:moveTo>
                  <a:lnTo>
                    <a:pt x="3518253" y="0"/>
                  </a:lnTo>
                  <a:lnTo>
                    <a:pt x="3518253" y="1062256"/>
                  </a:lnTo>
                  <a:lnTo>
                    <a:pt x="0" y="10622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27B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1130" y="486490"/>
            <a:ext cx="17265740" cy="9314020"/>
            <a:chOff x="0" y="0"/>
            <a:chExt cx="4547355" cy="24530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47355" cy="2453075"/>
            </a:xfrm>
            <a:custGeom>
              <a:avLst/>
              <a:gdLst/>
              <a:ahLst/>
              <a:cxnLst/>
              <a:rect r="r" b="b" t="t" l="l"/>
              <a:pathLst>
                <a:path h="2453075" w="4547355">
                  <a:moveTo>
                    <a:pt x="22868" y="0"/>
                  </a:moveTo>
                  <a:lnTo>
                    <a:pt x="4524487" y="0"/>
                  </a:lnTo>
                  <a:cubicBezTo>
                    <a:pt x="4530552" y="0"/>
                    <a:pt x="4536369" y="2409"/>
                    <a:pt x="4540657" y="6698"/>
                  </a:cubicBezTo>
                  <a:cubicBezTo>
                    <a:pt x="4544946" y="10987"/>
                    <a:pt x="4547355" y="16803"/>
                    <a:pt x="4547355" y="22868"/>
                  </a:cubicBezTo>
                  <a:lnTo>
                    <a:pt x="4547355" y="2430207"/>
                  </a:lnTo>
                  <a:cubicBezTo>
                    <a:pt x="4547355" y="2436272"/>
                    <a:pt x="4544946" y="2442089"/>
                    <a:pt x="4540657" y="2446377"/>
                  </a:cubicBezTo>
                  <a:cubicBezTo>
                    <a:pt x="4536369" y="2450666"/>
                    <a:pt x="4530552" y="2453075"/>
                    <a:pt x="4524487" y="2453075"/>
                  </a:cubicBezTo>
                  <a:lnTo>
                    <a:pt x="22868" y="2453075"/>
                  </a:lnTo>
                  <a:cubicBezTo>
                    <a:pt x="16803" y="2453075"/>
                    <a:pt x="10987" y="2450666"/>
                    <a:pt x="6698" y="2446377"/>
                  </a:cubicBezTo>
                  <a:cubicBezTo>
                    <a:pt x="2409" y="2442089"/>
                    <a:pt x="0" y="2436272"/>
                    <a:pt x="0" y="2430207"/>
                  </a:cubicBezTo>
                  <a:lnTo>
                    <a:pt x="0" y="22868"/>
                  </a:lnTo>
                  <a:cubicBezTo>
                    <a:pt x="0" y="16803"/>
                    <a:pt x="2409" y="10987"/>
                    <a:pt x="6698" y="6698"/>
                  </a:cubicBezTo>
                  <a:cubicBezTo>
                    <a:pt x="10987" y="2409"/>
                    <a:pt x="16803" y="0"/>
                    <a:pt x="22868" y="0"/>
                  </a:cubicBezTo>
                  <a:close/>
                </a:path>
              </a:pathLst>
            </a:custGeom>
            <a:solidFill>
              <a:srgbClr val="4B444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47355" cy="2491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4748493">
            <a:off x="13490128" y="9480494"/>
            <a:ext cx="561536" cy="1002636"/>
          </a:xfrm>
          <a:custGeom>
            <a:avLst/>
            <a:gdLst/>
            <a:ahLst/>
            <a:cxnLst/>
            <a:rect r="r" b="b" t="t" l="l"/>
            <a:pathLst>
              <a:path h="1002636" w="561536">
                <a:moveTo>
                  <a:pt x="0" y="0"/>
                </a:moveTo>
                <a:lnTo>
                  <a:pt x="561536" y="0"/>
                </a:lnTo>
                <a:lnTo>
                  <a:pt x="561536" y="1002636"/>
                </a:lnTo>
                <a:lnTo>
                  <a:pt x="0" y="10026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355817" y="885825"/>
            <a:ext cx="13576365" cy="1236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b="true" sz="7200">
                <a:solidFill>
                  <a:srgbClr val="FFA3C1"/>
                </a:solidFill>
                <a:latin typeface="One Little Font Bold"/>
                <a:ea typeface="One Little Font Bold"/>
                <a:cs typeface="One Little Font Bold"/>
                <a:sym typeface="One Little Font Bold"/>
              </a:rPr>
              <a:t>Pertanyaan #1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05201" y="5747147"/>
            <a:ext cx="4270825" cy="801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78"/>
              </a:lnSpc>
            </a:pPr>
            <a:r>
              <a:rPr lang="en-US" sz="4200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a. 8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05201" y="7472267"/>
            <a:ext cx="4270825" cy="801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78"/>
              </a:lnSpc>
            </a:pPr>
            <a:r>
              <a:rPr lang="en-US" sz="4200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b. 12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34758" y="2646426"/>
            <a:ext cx="15222861" cy="2497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78"/>
              </a:lnSpc>
            </a:pPr>
            <a:r>
              <a:rPr lang="en-US" sz="4200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A adalah himpunan faktor dari 6, dan B adalah himpunan faktor prima dari 20. Maka banyaknya pemetaan yang mungkin dari A ke B adalah …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703188" y="5747147"/>
            <a:ext cx="5167593" cy="801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78"/>
              </a:lnSpc>
            </a:pPr>
            <a:r>
              <a:rPr lang="en-US" sz="4200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c. 16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144000" y="7331054"/>
            <a:ext cx="4409749" cy="1245975"/>
            <a:chOff x="0" y="0"/>
            <a:chExt cx="1161415" cy="32815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61415" cy="328158"/>
            </a:xfrm>
            <a:custGeom>
              <a:avLst/>
              <a:gdLst/>
              <a:ahLst/>
              <a:cxnLst/>
              <a:rect r="r" b="b" t="t" l="l"/>
              <a:pathLst>
                <a:path h="328158" w="1161415">
                  <a:moveTo>
                    <a:pt x="89538" y="0"/>
                  </a:moveTo>
                  <a:lnTo>
                    <a:pt x="1071878" y="0"/>
                  </a:lnTo>
                  <a:cubicBezTo>
                    <a:pt x="1095625" y="0"/>
                    <a:pt x="1118399" y="9433"/>
                    <a:pt x="1135190" y="26225"/>
                  </a:cubicBezTo>
                  <a:cubicBezTo>
                    <a:pt x="1151982" y="43016"/>
                    <a:pt x="1161415" y="65791"/>
                    <a:pt x="1161415" y="89538"/>
                  </a:cubicBezTo>
                  <a:lnTo>
                    <a:pt x="1161415" y="238621"/>
                  </a:lnTo>
                  <a:cubicBezTo>
                    <a:pt x="1161415" y="262367"/>
                    <a:pt x="1151982" y="285142"/>
                    <a:pt x="1135190" y="301933"/>
                  </a:cubicBezTo>
                  <a:cubicBezTo>
                    <a:pt x="1118399" y="318725"/>
                    <a:pt x="1095625" y="328158"/>
                    <a:pt x="1071878" y="328158"/>
                  </a:cubicBezTo>
                  <a:lnTo>
                    <a:pt x="89538" y="328158"/>
                  </a:lnTo>
                  <a:cubicBezTo>
                    <a:pt x="65791" y="328158"/>
                    <a:pt x="43016" y="318725"/>
                    <a:pt x="26225" y="301933"/>
                  </a:cubicBezTo>
                  <a:cubicBezTo>
                    <a:pt x="9433" y="285142"/>
                    <a:pt x="0" y="262367"/>
                    <a:pt x="0" y="238621"/>
                  </a:cubicBezTo>
                  <a:lnTo>
                    <a:pt x="0" y="89538"/>
                  </a:lnTo>
                  <a:cubicBezTo>
                    <a:pt x="0" y="65791"/>
                    <a:pt x="9433" y="43016"/>
                    <a:pt x="26225" y="26225"/>
                  </a:cubicBezTo>
                  <a:cubicBezTo>
                    <a:pt x="43016" y="9433"/>
                    <a:pt x="65791" y="0"/>
                    <a:pt x="89538" y="0"/>
                  </a:cubicBezTo>
                  <a:close/>
                </a:path>
              </a:pathLst>
            </a:custGeom>
            <a:solidFill>
              <a:srgbClr val="4B4444"/>
            </a:solidFill>
            <a:ln w="47625" cap="rnd">
              <a:solidFill>
                <a:srgbClr val="CFCECE"/>
              </a:solidFill>
              <a:prstDash val="lgDash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161415" cy="3662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9703188" y="7472267"/>
            <a:ext cx="5167593" cy="801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78"/>
              </a:lnSpc>
            </a:pPr>
            <a:r>
              <a:rPr lang="en-US" sz="4200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d. 81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3811001" y="9513286"/>
            <a:ext cx="2658043" cy="838707"/>
            <a:chOff x="0" y="0"/>
            <a:chExt cx="3544058" cy="1118275"/>
          </a:xfrm>
        </p:grpSpPr>
        <p:grpSp>
          <p:nvGrpSpPr>
            <p:cNvPr name="Group 16" id="16"/>
            <p:cNvGrpSpPr/>
            <p:nvPr/>
          </p:nvGrpSpPr>
          <p:grpSpPr>
            <a:xfrm rot="117060">
              <a:off x="27116" y="59305"/>
              <a:ext cx="3500940" cy="999666"/>
              <a:chOff x="0" y="0"/>
              <a:chExt cx="1753351" cy="500655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753351" cy="500655"/>
              </a:xfrm>
              <a:custGeom>
                <a:avLst/>
                <a:gdLst/>
                <a:ahLst/>
                <a:cxnLst/>
                <a:rect r="r" b="b" t="t" l="l"/>
                <a:pathLst>
                  <a:path h="500655" w="1753351">
                    <a:moveTo>
                      <a:pt x="0" y="0"/>
                    </a:moveTo>
                    <a:lnTo>
                      <a:pt x="1753351" y="0"/>
                    </a:lnTo>
                    <a:lnTo>
                      <a:pt x="1753351" y="500655"/>
                    </a:lnTo>
                    <a:lnTo>
                      <a:pt x="0" y="500655"/>
                    </a:lnTo>
                    <a:close/>
                  </a:path>
                </a:pathLst>
              </a:custGeom>
              <a:solidFill>
                <a:srgbClr val="868383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753351" cy="538755"/>
              </a:xfrm>
              <a:prstGeom prst="rect">
                <a:avLst/>
              </a:prstGeom>
            </p:spPr>
            <p:txBody>
              <a:bodyPr anchor="ctr" rtlCol="false" tIns="30924" lIns="30924" bIns="30924" rIns="30924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19" id="19"/>
            <p:cNvSpPr/>
            <p:nvPr/>
          </p:nvSpPr>
          <p:spPr>
            <a:xfrm flipH="false" flipV="false" rot="0">
              <a:off x="0" y="19781"/>
              <a:ext cx="3518253" cy="1062256"/>
            </a:xfrm>
            <a:custGeom>
              <a:avLst/>
              <a:gdLst/>
              <a:ahLst/>
              <a:cxnLst/>
              <a:rect r="r" b="b" t="t" l="l"/>
              <a:pathLst>
                <a:path h="1062256" w="3518253">
                  <a:moveTo>
                    <a:pt x="0" y="0"/>
                  </a:moveTo>
                  <a:lnTo>
                    <a:pt x="3518253" y="0"/>
                  </a:lnTo>
                  <a:lnTo>
                    <a:pt x="3518253" y="1062256"/>
                  </a:lnTo>
                  <a:lnTo>
                    <a:pt x="0" y="10622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27B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1130" y="486490"/>
            <a:ext cx="17265740" cy="9314020"/>
            <a:chOff x="0" y="0"/>
            <a:chExt cx="4547355" cy="24530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47355" cy="2453075"/>
            </a:xfrm>
            <a:custGeom>
              <a:avLst/>
              <a:gdLst/>
              <a:ahLst/>
              <a:cxnLst/>
              <a:rect r="r" b="b" t="t" l="l"/>
              <a:pathLst>
                <a:path h="2453075" w="4547355">
                  <a:moveTo>
                    <a:pt x="22868" y="0"/>
                  </a:moveTo>
                  <a:lnTo>
                    <a:pt x="4524487" y="0"/>
                  </a:lnTo>
                  <a:cubicBezTo>
                    <a:pt x="4530552" y="0"/>
                    <a:pt x="4536369" y="2409"/>
                    <a:pt x="4540657" y="6698"/>
                  </a:cubicBezTo>
                  <a:cubicBezTo>
                    <a:pt x="4544946" y="10987"/>
                    <a:pt x="4547355" y="16803"/>
                    <a:pt x="4547355" y="22868"/>
                  </a:cubicBezTo>
                  <a:lnTo>
                    <a:pt x="4547355" y="2430207"/>
                  </a:lnTo>
                  <a:cubicBezTo>
                    <a:pt x="4547355" y="2436272"/>
                    <a:pt x="4544946" y="2442089"/>
                    <a:pt x="4540657" y="2446377"/>
                  </a:cubicBezTo>
                  <a:cubicBezTo>
                    <a:pt x="4536369" y="2450666"/>
                    <a:pt x="4530552" y="2453075"/>
                    <a:pt x="4524487" y="2453075"/>
                  </a:cubicBezTo>
                  <a:lnTo>
                    <a:pt x="22868" y="2453075"/>
                  </a:lnTo>
                  <a:cubicBezTo>
                    <a:pt x="16803" y="2453075"/>
                    <a:pt x="10987" y="2450666"/>
                    <a:pt x="6698" y="2446377"/>
                  </a:cubicBezTo>
                  <a:cubicBezTo>
                    <a:pt x="2409" y="2442089"/>
                    <a:pt x="0" y="2436272"/>
                    <a:pt x="0" y="2430207"/>
                  </a:cubicBezTo>
                  <a:lnTo>
                    <a:pt x="0" y="22868"/>
                  </a:lnTo>
                  <a:cubicBezTo>
                    <a:pt x="0" y="16803"/>
                    <a:pt x="2409" y="10987"/>
                    <a:pt x="6698" y="6698"/>
                  </a:cubicBezTo>
                  <a:cubicBezTo>
                    <a:pt x="10987" y="2409"/>
                    <a:pt x="16803" y="0"/>
                    <a:pt x="22868" y="0"/>
                  </a:cubicBezTo>
                  <a:close/>
                </a:path>
              </a:pathLst>
            </a:custGeom>
            <a:solidFill>
              <a:srgbClr val="4B444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47355" cy="2491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4748493">
            <a:off x="13490128" y="9480494"/>
            <a:ext cx="561536" cy="1002636"/>
          </a:xfrm>
          <a:custGeom>
            <a:avLst/>
            <a:gdLst/>
            <a:ahLst/>
            <a:cxnLst/>
            <a:rect r="r" b="b" t="t" l="l"/>
            <a:pathLst>
              <a:path h="1002636" w="561536">
                <a:moveTo>
                  <a:pt x="0" y="0"/>
                </a:moveTo>
                <a:lnTo>
                  <a:pt x="561536" y="0"/>
                </a:lnTo>
                <a:lnTo>
                  <a:pt x="561536" y="1002636"/>
                </a:lnTo>
                <a:lnTo>
                  <a:pt x="0" y="10026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355817" y="885825"/>
            <a:ext cx="13576365" cy="1236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b="true" sz="7200">
                <a:solidFill>
                  <a:srgbClr val="FFA3C1"/>
                </a:solidFill>
                <a:latin typeface="One Little Font Bold"/>
                <a:ea typeface="One Little Font Bold"/>
                <a:cs typeface="One Little Font Bold"/>
                <a:sym typeface="One Little Font Bold"/>
              </a:rPr>
              <a:t>Pertanyaan #2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28433" y="4522566"/>
            <a:ext cx="4270825" cy="801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78"/>
              </a:lnSpc>
            </a:pPr>
            <a:r>
              <a:rPr lang="en-US" sz="4200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a. -4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28433" y="6247686"/>
            <a:ext cx="4270825" cy="801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78"/>
              </a:lnSpc>
            </a:pPr>
            <a:r>
              <a:rPr lang="en-US" sz="4200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b. -3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34758" y="2646426"/>
            <a:ext cx="15222861" cy="801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78"/>
              </a:lnSpc>
            </a:pPr>
            <a:r>
              <a:rPr lang="en-US" sz="4200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Fungsi g memiliki formula 7-5x, berapakah nilai dari g(-2)?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26420" y="4522566"/>
            <a:ext cx="5167593" cy="801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78"/>
              </a:lnSpc>
            </a:pPr>
            <a:r>
              <a:rPr lang="en-US" sz="4200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c. 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26420" y="6247686"/>
            <a:ext cx="5167593" cy="801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78"/>
              </a:lnSpc>
            </a:pPr>
            <a:r>
              <a:rPr lang="en-US" sz="4200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d. 17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3811001" y="9513286"/>
            <a:ext cx="2658043" cy="838707"/>
            <a:chOff x="0" y="0"/>
            <a:chExt cx="3544058" cy="1118275"/>
          </a:xfrm>
        </p:grpSpPr>
        <p:grpSp>
          <p:nvGrpSpPr>
            <p:cNvPr name="Group 13" id="13"/>
            <p:cNvGrpSpPr/>
            <p:nvPr/>
          </p:nvGrpSpPr>
          <p:grpSpPr>
            <a:xfrm rot="117060">
              <a:off x="27116" y="59305"/>
              <a:ext cx="3500940" cy="999666"/>
              <a:chOff x="0" y="0"/>
              <a:chExt cx="1753351" cy="500655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753351" cy="500655"/>
              </a:xfrm>
              <a:custGeom>
                <a:avLst/>
                <a:gdLst/>
                <a:ahLst/>
                <a:cxnLst/>
                <a:rect r="r" b="b" t="t" l="l"/>
                <a:pathLst>
                  <a:path h="500655" w="1753351">
                    <a:moveTo>
                      <a:pt x="0" y="0"/>
                    </a:moveTo>
                    <a:lnTo>
                      <a:pt x="1753351" y="0"/>
                    </a:lnTo>
                    <a:lnTo>
                      <a:pt x="1753351" y="500655"/>
                    </a:lnTo>
                    <a:lnTo>
                      <a:pt x="0" y="500655"/>
                    </a:lnTo>
                    <a:close/>
                  </a:path>
                </a:pathLst>
              </a:custGeom>
              <a:solidFill>
                <a:srgbClr val="868383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1753351" cy="538755"/>
              </a:xfrm>
              <a:prstGeom prst="rect">
                <a:avLst/>
              </a:prstGeom>
            </p:spPr>
            <p:txBody>
              <a:bodyPr anchor="ctr" rtlCol="false" tIns="30924" lIns="30924" bIns="30924" rIns="30924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16" id="16"/>
            <p:cNvSpPr/>
            <p:nvPr/>
          </p:nvSpPr>
          <p:spPr>
            <a:xfrm flipH="false" flipV="false" rot="0">
              <a:off x="0" y="19781"/>
              <a:ext cx="3518253" cy="1062256"/>
            </a:xfrm>
            <a:custGeom>
              <a:avLst/>
              <a:gdLst/>
              <a:ahLst/>
              <a:cxnLst/>
              <a:rect r="r" b="b" t="t" l="l"/>
              <a:pathLst>
                <a:path h="1062256" w="3518253">
                  <a:moveTo>
                    <a:pt x="0" y="0"/>
                  </a:moveTo>
                  <a:lnTo>
                    <a:pt x="3518253" y="0"/>
                  </a:lnTo>
                  <a:lnTo>
                    <a:pt x="3518253" y="1062256"/>
                  </a:lnTo>
                  <a:lnTo>
                    <a:pt x="0" y="10622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27B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1130" y="486490"/>
            <a:ext cx="17265740" cy="9314020"/>
            <a:chOff x="0" y="0"/>
            <a:chExt cx="4547355" cy="24530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47355" cy="2453075"/>
            </a:xfrm>
            <a:custGeom>
              <a:avLst/>
              <a:gdLst/>
              <a:ahLst/>
              <a:cxnLst/>
              <a:rect r="r" b="b" t="t" l="l"/>
              <a:pathLst>
                <a:path h="2453075" w="4547355">
                  <a:moveTo>
                    <a:pt x="22868" y="0"/>
                  </a:moveTo>
                  <a:lnTo>
                    <a:pt x="4524487" y="0"/>
                  </a:lnTo>
                  <a:cubicBezTo>
                    <a:pt x="4530552" y="0"/>
                    <a:pt x="4536369" y="2409"/>
                    <a:pt x="4540657" y="6698"/>
                  </a:cubicBezTo>
                  <a:cubicBezTo>
                    <a:pt x="4544946" y="10987"/>
                    <a:pt x="4547355" y="16803"/>
                    <a:pt x="4547355" y="22868"/>
                  </a:cubicBezTo>
                  <a:lnTo>
                    <a:pt x="4547355" y="2430207"/>
                  </a:lnTo>
                  <a:cubicBezTo>
                    <a:pt x="4547355" y="2436272"/>
                    <a:pt x="4544946" y="2442089"/>
                    <a:pt x="4540657" y="2446377"/>
                  </a:cubicBezTo>
                  <a:cubicBezTo>
                    <a:pt x="4536369" y="2450666"/>
                    <a:pt x="4530552" y="2453075"/>
                    <a:pt x="4524487" y="2453075"/>
                  </a:cubicBezTo>
                  <a:lnTo>
                    <a:pt x="22868" y="2453075"/>
                  </a:lnTo>
                  <a:cubicBezTo>
                    <a:pt x="16803" y="2453075"/>
                    <a:pt x="10987" y="2450666"/>
                    <a:pt x="6698" y="2446377"/>
                  </a:cubicBezTo>
                  <a:cubicBezTo>
                    <a:pt x="2409" y="2442089"/>
                    <a:pt x="0" y="2436272"/>
                    <a:pt x="0" y="2430207"/>
                  </a:cubicBezTo>
                  <a:lnTo>
                    <a:pt x="0" y="22868"/>
                  </a:lnTo>
                  <a:cubicBezTo>
                    <a:pt x="0" y="16803"/>
                    <a:pt x="2409" y="10987"/>
                    <a:pt x="6698" y="6698"/>
                  </a:cubicBezTo>
                  <a:cubicBezTo>
                    <a:pt x="10987" y="2409"/>
                    <a:pt x="16803" y="0"/>
                    <a:pt x="22868" y="0"/>
                  </a:cubicBezTo>
                  <a:close/>
                </a:path>
              </a:pathLst>
            </a:custGeom>
            <a:solidFill>
              <a:srgbClr val="4B444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47355" cy="2491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4748493">
            <a:off x="13490128" y="9480494"/>
            <a:ext cx="561536" cy="1002636"/>
          </a:xfrm>
          <a:custGeom>
            <a:avLst/>
            <a:gdLst/>
            <a:ahLst/>
            <a:cxnLst/>
            <a:rect r="r" b="b" t="t" l="l"/>
            <a:pathLst>
              <a:path h="1002636" w="561536">
                <a:moveTo>
                  <a:pt x="0" y="0"/>
                </a:moveTo>
                <a:lnTo>
                  <a:pt x="561536" y="0"/>
                </a:lnTo>
                <a:lnTo>
                  <a:pt x="561536" y="1002636"/>
                </a:lnTo>
                <a:lnTo>
                  <a:pt x="0" y="10026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355817" y="885825"/>
            <a:ext cx="13576365" cy="1236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b="true" sz="7200">
                <a:solidFill>
                  <a:srgbClr val="FFA3C1"/>
                </a:solidFill>
                <a:latin typeface="One Little Font Bold"/>
                <a:ea typeface="One Little Font Bold"/>
                <a:cs typeface="One Little Font Bold"/>
                <a:sym typeface="One Little Font Bold"/>
              </a:rPr>
              <a:t>Pertanyaan #2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28433" y="4522566"/>
            <a:ext cx="4270825" cy="801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78"/>
              </a:lnSpc>
            </a:pPr>
            <a:r>
              <a:rPr lang="en-US" sz="4200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a. -4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28433" y="6247686"/>
            <a:ext cx="4270825" cy="801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78"/>
              </a:lnSpc>
            </a:pPr>
            <a:r>
              <a:rPr lang="en-US" sz="4200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b. -3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34758" y="2646426"/>
            <a:ext cx="15222861" cy="801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78"/>
              </a:lnSpc>
            </a:pPr>
            <a:r>
              <a:rPr lang="en-US" sz="4200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Fungsi g memiliki formula 7-5x, berapakah nilai dari g(-2)?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26420" y="4522566"/>
            <a:ext cx="5167593" cy="801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78"/>
              </a:lnSpc>
            </a:pPr>
            <a:r>
              <a:rPr lang="en-US" sz="4200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c. 3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8846188" y="6106473"/>
            <a:ext cx="4409749" cy="1245975"/>
            <a:chOff x="0" y="0"/>
            <a:chExt cx="1161415" cy="32815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61415" cy="328158"/>
            </a:xfrm>
            <a:custGeom>
              <a:avLst/>
              <a:gdLst/>
              <a:ahLst/>
              <a:cxnLst/>
              <a:rect r="r" b="b" t="t" l="l"/>
              <a:pathLst>
                <a:path h="328158" w="1161415">
                  <a:moveTo>
                    <a:pt x="89538" y="0"/>
                  </a:moveTo>
                  <a:lnTo>
                    <a:pt x="1071878" y="0"/>
                  </a:lnTo>
                  <a:cubicBezTo>
                    <a:pt x="1095625" y="0"/>
                    <a:pt x="1118399" y="9433"/>
                    <a:pt x="1135190" y="26225"/>
                  </a:cubicBezTo>
                  <a:cubicBezTo>
                    <a:pt x="1151982" y="43016"/>
                    <a:pt x="1161415" y="65791"/>
                    <a:pt x="1161415" y="89538"/>
                  </a:cubicBezTo>
                  <a:lnTo>
                    <a:pt x="1161415" y="238621"/>
                  </a:lnTo>
                  <a:cubicBezTo>
                    <a:pt x="1161415" y="262367"/>
                    <a:pt x="1151982" y="285142"/>
                    <a:pt x="1135190" y="301933"/>
                  </a:cubicBezTo>
                  <a:cubicBezTo>
                    <a:pt x="1118399" y="318725"/>
                    <a:pt x="1095625" y="328158"/>
                    <a:pt x="1071878" y="328158"/>
                  </a:cubicBezTo>
                  <a:lnTo>
                    <a:pt x="89538" y="328158"/>
                  </a:lnTo>
                  <a:cubicBezTo>
                    <a:pt x="65791" y="328158"/>
                    <a:pt x="43016" y="318725"/>
                    <a:pt x="26225" y="301933"/>
                  </a:cubicBezTo>
                  <a:cubicBezTo>
                    <a:pt x="9433" y="285142"/>
                    <a:pt x="0" y="262367"/>
                    <a:pt x="0" y="238621"/>
                  </a:cubicBezTo>
                  <a:lnTo>
                    <a:pt x="0" y="89538"/>
                  </a:lnTo>
                  <a:cubicBezTo>
                    <a:pt x="0" y="65791"/>
                    <a:pt x="9433" y="43016"/>
                    <a:pt x="26225" y="26225"/>
                  </a:cubicBezTo>
                  <a:cubicBezTo>
                    <a:pt x="43016" y="9433"/>
                    <a:pt x="65791" y="0"/>
                    <a:pt x="89538" y="0"/>
                  </a:cubicBezTo>
                  <a:close/>
                </a:path>
              </a:pathLst>
            </a:custGeom>
            <a:solidFill>
              <a:srgbClr val="4B4444"/>
            </a:solidFill>
            <a:ln w="47625" cap="rnd">
              <a:solidFill>
                <a:srgbClr val="CFCECE"/>
              </a:solidFill>
              <a:prstDash val="lgDash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161415" cy="3662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9526420" y="6247686"/>
            <a:ext cx="5167593" cy="801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78"/>
              </a:lnSpc>
            </a:pPr>
            <a:r>
              <a:rPr lang="en-US" sz="4200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d. 17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3811001" y="9513286"/>
            <a:ext cx="2658043" cy="838707"/>
            <a:chOff x="0" y="0"/>
            <a:chExt cx="3544058" cy="1118275"/>
          </a:xfrm>
        </p:grpSpPr>
        <p:grpSp>
          <p:nvGrpSpPr>
            <p:cNvPr name="Group 16" id="16"/>
            <p:cNvGrpSpPr/>
            <p:nvPr/>
          </p:nvGrpSpPr>
          <p:grpSpPr>
            <a:xfrm rot="117060">
              <a:off x="27116" y="59305"/>
              <a:ext cx="3500940" cy="999666"/>
              <a:chOff x="0" y="0"/>
              <a:chExt cx="1753351" cy="500655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753351" cy="500655"/>
              </a:xfrm>
              <a:custGeom>
                <a:avLst/>
                <a:gdLst/>
                <a:ahLst/>
                <a:cxnLst/>
                <a:rect r="r" b="b" t="t" l="l"/>
                <a:pathLst>
                  <a:path h="500655" w="1753351">
                    <a:moveTo>
                      <a:pt x="0" y="0"/>
                    </a:moveTo>
                    <a:lnTo>
                      <a:pt x="1753351" y="0"/>
                    </a:lnTo>
                    <a:lnTo>
                      <a:pt x="1753351" y="500655"/>
                    </a:lnTo>
                    <a:lnTo>
                      <a:pt x="0" y="500655"/>
                    </a:lnTo>
                    <a:close/>
                  </a:path>
                </a:pathLst>
              </a:custGeom>
              <a:solidFill>
                <a:srgbClr val="868383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753351" cy="538755"/>
              </a:xfrm>
              <a:prstGeom prst="rect">
                <a:avLst/>
              </a:prstGeom>
            </p:spPr>
            <p:txBody>
              <a:bodyPr anchor="ctr" rtlCol="false" tIns="30924" lIns="30924" bIns="30924" rIns="30924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19" id="19"/>
            <p:cNvSpPr/>
            <p:nvPr/>
          </p:nvSpPr>
          <p:spPr>
            <a:xfrm flipH="false" flipV="false" rot="0">
              <a:off x="0" y="19781"/>
              <a:ext cx="3518253" cy="1062256"/>
            </a:xfrm>
            <a:custGeom>
              <a:avLst/>
              <a:gdLst/>
              <a:ahLst/>
              <a:cxnLst/>
              <a:rect r="r" b="b" t="t" l="l"/>
              <a:pathLst>
                <a:path h="1062256" w="3518253">
                  <a:moveTo>
                    <a:pt x="0" y="0"/>
                  </a:moveTo>
                  <a:lnTo>
                    <a:pt x="3518253" y="0"/>
                  </a:lnTo>
                  <a:lnTo>
                    <a:pt x="3518253" y="1062256"/>
                  </a:lnTo>
                  <a:lnTo>
                    <a:pt x="0" y="10622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27B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1130" y="486490"/>
            <a:ext cx="17265740" cy="9314020"/>
            <a:chOff x="0" y="0"/>
            <a:chExt cx="4547355" cy="24530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47355" cy="2453075"/>
            </a:xfrm>
            <a:custGeom>
              <a:avLst/>
              <a:gdLst/>
              <a:ahLst/>
              <a:cxnLst/>
              <a:rect r="r" b="b" t="t" l="l"/>
              <a:pathLst>
                <a:path h="2453075" w="4547355">
                  <a:moveTo>
                    <a:pt x="22868" y="0"/>
                  </a:moveTo>
                  <a:lnTo>
                    <a:pt x="4524487" y="0"/>
                  </a:lnTo>
                  <a:cubicBezTo>
                    <a:pt x="4530552" y="0"/>
                    <a:pt x="4536369" y="2409"/>
                    <a:pt x="4540657" y="6698"/>
                  </a:cubicBezTo>
                  <a:cubicBezTo>
                    <a:pt x="4544946" y="10987"/>
                    <a:pt x="4547355" y="16803"/>
                    <a:pt x="4547355" y="22868"/>
                  </a:cubicBezTo>
                  <a:lnTo>
                    <a:pt x="4547355" y="2430207"/>
                  </a:lnTo>
                  <a:cubicBezTo>
                    <a:pt x="4547355" y="2436272"/>
                    <a:pt x="4544946" y="2442089"/>
                    <a:pt x="4540657" y="2446377"/>
                  </a:cubicBezTo>
                  <a:cubicBezTo>
                    <a:pt x="4536369" y="2450666"/>
                    <a:pt x="4530552" y="2453075"/>
                    <a:pt x="4524487" y="2453075"/>
                  </a:cubicBezTo>
                  <a:lnTo>
                    <a:pt x="22868" y="2453075"/>
                  </a:lnTo>
                  <a:cubicBezTo>
                    <a:pt x="16803" y="2453075"/>
                    <a:pt x="10987" y="2450666"/>
                    <a:pt x="6698" y="2446377"/>
                  </a:cubicBezTo>
                  <a:cubicBezTo>
                    <a:pt x="2409" y="2442089"/>
                    <a:pt x="0" y="2436272"/>
                    <a:pt x="0" y="2430207"/>
                  </a:cubicBezTo>
                  <a:lnTo>
                    <a:pt x="0" y="22868"/>
                  </a:lnTo>
                  <a:cubicBezTo>
                    <a:pt x="0" y="16803"/>
                    <a:pt x="2409" y="10987"/>
                    <a:pt x="6698" y="6698"/>
                  </a:cubicBezTo>
                  <a:cubicBezTo>
                    <a:pt x="10987" y="2409"/>
                    <a:pt x="16803" y="0"/>
                    <a:pt x="22868" y="0"/>
                  </a:cubicBezTo>
                  <a:close/>
                </a:path>
              </a:pathLst>
            </a:custGeom>
            <a:solidFill>
              <a:srgbClr val="4B444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47355" cy="2491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4748493">
            <a:off x="13490128" y="9480494"/>
            <a:ext cx="561536" cy="1002636"/>
          </a:xfrm>
          <a:custGeom>
            <a:avLst/>
            <a:gdLst/>
            <a:ahLst/>
            <a:cxnLst/>
            <a:rect r="r" b="b" t="t" l="l"/>
            <a:pathLst>
              <a:path h="1002636" w="561536">
                <a:moveTo>
                  <a:pt x="0" y="0"/>
                </a:moveTo>
                <a:lnTo>
                  <a:pt x="561536" y="0"/>
                </a:lnTo>
                <a:lnTo>
                  <a:pt x="561536" y="1002636"/>
                </a:lnTo>
                <a:lnTo>
                  <a:pt x="0" y="10026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355817" y="885825"/>
            <a:ext cx="13576365" cy="1236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b="true" sz="7200">
                <a:solidFill>
                  <a:srgbClr val="FFA3C1"/>
                </a:solidFill>
                <a:latin typeface="One Little Font Bold"/>
                <a:ea typeface="One Little Font Bold"/>
                <a:cs typeface="One Little Font Bold"/>
                <a:sym typeface="One Little Font Bold"/>
              </a:rPr>
              <a:t>Pertanyaan #3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53685" y="5153880"/>
            <a:ext cx="4270825" cy="801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78"/>
              </a:lnSpc>
            </a:pPr>
            <a:r>
              <a:rPr lang="en-US" sz="4200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a. {0, 4 10, 18, 28}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53685" y="6879001"/>
            <a:ext cx="4270825" cy="801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78"/>
              </a:lnSpc>
            </a:pPr>
            <a:r>
              <a:rPr lang="en-US" sz="4200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b. {0, 4, 8, 16. 32}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34758" y="2646426"/>
            <a:ext cx="16024542" cy="1649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78"/>
              </a:lnSpc>
            </a:pPr>
            <a:r>
              <a:rPr lang="en-US" sz="4200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Pada pemetaan f(x) = x   - 3x dengan domain {x | 3 ≤ x ≤ 7, x∊bilangan asli}. Rangenya adalah …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51672" y="5153880"/>
            <a:ext cx="5167593" cy="801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78"/>
              </a:lnSpc>
            </a:pPr>
            <a:r>
              <a:rPr lang="en-US" sz="4200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c. {0, 4, 8, 12, 16}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51672" y="6879001"/>
            <a:ext cx="5167593" cy="801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78"/>
              </a:lnSpc>
            </a:pPr>
            <a:r>
              <a:rPr lang="en-US" sz="4200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d. {0, 4, 9, 16, 25}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3811001" y="9513286"/>
            <a:ext cx="2658043" cy="838707"/>
            <a:chOff x="0" y="0"/>
            <a:chExt cx="3544058" cy="1118275"/>
          </a:xfrm>
        </p:grpSpPr>
        <p:grpSp>
          <p:nvGrpSpPr>
            <p:cNvPr name="Group 13" id="13"/>
            <p:cNvGrpSpPr/>
            <p:nvPr/>
          </p:nvGrpSpPr>
          <p:grpSpPr>
            <a:xfrm rot="117060">
              <a:off x="27116" y="59305"/>
              <a:ext cx="3500940" cy="999666"/>
              <a:chOff x="0" y="0"/>
              <a:chExt cx="1753351" cy="500655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753351" cy="500655"/>
              </a:xfrm>
              <a:custGeom>
                <a:avLst/>
                <a:gdLst/>
                <a:ahLst/>
                <a:cxnLst/>
                <a:rect r="r" b="b" t="t" l="l"/>
                <a:pathLst>
                  <a:path h="500655" w="1753351">
                    <a:moveTo>
                      <a:pt x="0" y="0"/>
                    </a:moveTo>
                    <a:lnTo>
                      <a:pt x="1753351" y="0"/>
                    </a:lnTo>
                    <a:lnTo>
                      <a:pt x="1753351" y="500655"/>
                    </a:lnTo>
                    <a:lnTo>
                      <a:pt x="0" y="500655"/>
                    </a:lnTo>
                    <a:close/>
                  </a:path>
                </a:pathLst>
              </a:custGeom>
              <a:solidFill>
                <a:srgbClr val="868383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1753351" cy="538755"/>
              </a:xfrm>
              <a:prstGeom prst="rect">
                <a:avLst/>
              </a:prstGeom>
            </p:spPr>
            <p:txBody>
              <a:bodyPr anchor="ctr" rtlCol="false" tIns="30924" lIns="30924" bIns="30924" rIns="30924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16" id="16"/>
            <p:cNvSpPr/>
            <p:nvPr/>
          </p:nvSpPr>
          <p:spPr>
            <a:xfrm flipH="false" flipV="false" rot="0">
              <a:off x="0" y="19781"/>
              <a:ext cx="3518253" cy="1062256"/>
            </a:xfrm>
            <a:custGeom>
              <a:avLst/>
              <a:gdLst/>
              <a:ahLst/>
              <a:cxnLst/>
              <a:rect r="r" b="b" t="t" l="l"/>
              <a:pathLst>
                <a:path h="1062256" w="3518253">
                  <a:moveTo>
                    <a:pt x="0" y="0"/>
                  </a:moveTo>
                  <a:lnTo>
                    <a:pt x="3518253" y="0"/>
                  </a:lnTo>
                  <a:lnTo>
                    <a:pt x="3518253" y="1062256"/>
                  </a:lnTo>
                  <a:lnTo>
                    <a:pt x="0" y="10622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6175617" y="2636901"/>
            <a:ext cx="924300" cy="537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51"/>
              </a:lnSpc>
            </a:pPr>
            <a:r>
              <a:rPr lang="en-US" sz="2799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2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27B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1130" y="486490"/>
            <a:ext cx="17265740" cy="9314020"/>
            <a:chOff x="0" y="0"/>
            <a:chExt cx="4547355" cy="24530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47355" cy="2453075"/>
            </a:xfrm>
            <a:custGeom>
              <a:avLst/>
              <a:gdLst/>
              <a:ahLst/>
              <a:cxnLst/>
              <a:rect r="r" b="b" t="t" l="l"/>
              <a:pathLst>
                <a:path h="2453075" w="4547355">
                  <a:moveTo>
                    <a:pt x="22868" y="0"/>
                  </a:moveTo>
                  <a:lnTo>
                    <a:pt x="4524487" y="0"/>
                  </a:lnTo>
                  <a:cubicBezTo>
                    <a:pt x="4530552" y="0"/>
                    <a:pt x="4536369" y="2409"/>
                    <a:pt x="4540657" y="6698"/>
                  </a:cubicBezTo>
                  <a:cubicBezTo>
                    <a:pt x="4544946" y="10987"/>
                    <a:pt x="4547355" y="16803"/>
                    <a:pt x="4547355" y="22868"/>
                  </a:cubicBezTo>
                  <a:lnTo>
                    <a:pt x="4547355" y="2430207"/>
                  </a:lnTo>
                  <a:cubicBezTo>
                    <a:pt x="4547355" y="2436272"/>
                    <a:pt x="4544946" y="2442089"/>
                    <a:pt x="4540657" y="2446377"/>
                  </a:cubicBezTo>
                  <a:cubicBezTo>
                    <a:pt x="4536369" y="2450666"/>
                    <a:pt x="4530552" y="2453075"/>
                    <a:pt x="4524487" y="2453075"/>
                  </a:cubicBezTo>
                  <a:lnTo>
                    <a:pt x="22868" y="2453075"/>
                  </a:lnTo>
                  <a:cubicBezTo>
                    <a:pt x="16803" y="2453075"/>
                    <a:pt x="10987" y="2450666"/>
                    <a:pt x="6698" y="2446377"/>
                  </a:cubicBezTo>
                  <a:cubicBezTo>
                    <a:pt x="2409" y="2442089"/>
                    <a:pt x="0" y="2436272"/>
                    <a:pt x="0" y="2430207"/>
                  </a:cubicBezTo>
                  <a:lnTo>
                    <a:pt x="0" y="22868"/>
                  </a:lnTo>
                  <a:cubicBezTo>
                    <a:pt x="0" y="16803"/>
                    <a:pt x="2409" y="10987"/>
                    <a:pt x="6698" y="6698"/>
                  </a:cubicBezTo>
                  <a:cubicBezTo>
                    <a:pt x="10987" y="2409"/>
                    <a:pt x="16803" y="0"/>
                    <a:pt x="22868" y="0"/>
                  </a:cubicBezTo>
                  <a:close/>
                </a:path>
              </a:pathLst>
            </a:custGeom>
            <a:solidFill>
              <a:srgbClr val="4B444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47355" cy="2491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4748493">
            <a:off x="13490128" y="9480494"/>
            <a:ext cx="561536" cy="1002636"/>
          </a:xfrm>
          <a:custGeom>
            <a:avLst/>
            <a:gdLst/>
            <a:ahLst/>
            <a:cxnLst/>
            <a:rect r="r" b="b" t="t" l="l"/>
            <a:pathLst>
              <a:path h="1002636" w="561536">
                <a:moveTo>
                  <a:pt x="0" y="0"/>
                </a:moveTo>
                <a:lnTo>
                  <a:pt x="561536" y="0"/>
                </a:lnTo>
                <a:lnTo>
                  <a:pt x="561536" y="1002636"/>
                </a:lnTo>
                <a:lnTo>
                  <a:pt x="0" y="10026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355817" y="885825"/>
            <a:ext cx="13576365" cy="1236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b="true" sz="7200">
                <a:solidFill>
                  <a:srgbClr val="FFA3C1"/>
                </a:solidFill>
                <a:latin typeface="One Little Font Bold"/>
                <a:ea typeface="One Little Font Bold"/>
                <a:cs typeface="One Little Font Bold"/>
                <a:sym typeface="One Little Font Bold"/>
              </a:rPr>
              <a:t>Pertanyaan #3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234758" y="5045363"/>
            <a:ext cx="5609067" cy="1245975"/>
            <a:chOff x="0" y="0"/>
            <a:chExt cx="1477285" cy="32815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77285" cy="328158"/>
            </a:xfrm>
            <a:custGeom>
              <a:avLst/>
              <a:gdLst/>
              <a:ahLst/>
              <a:cxnLst/>
              <a:rect r="r" b="b" t="t" l="l"/>
              <a:pathLst>
                <a:path h="328158" w="1477285">
                  <a:moveTo>
                    <a:pt x="70393" y="0"/>
                  </a:moveTo>
                  <a:lnTo>
                    <a:pt x="1406892" y="0"/>
                  </a:lnTo>
                  <a:cubicBezTo>
                    <a:pt x="1445769" y="0"/>
                    <a:pt x="1477285" y="31516"/>
                    <a:pt x="1477285" y="70393"/>
                  </a:cubicBezTo>
                  <a:lnTo>
                    <a:pt x="1477285" y="257765"/>
                  </a:lnTo>
                  <a:cubicBezTo>
                    <a:pt x="1477285" y="296642"/>
                    <a:pt x="1445769" y="328158"/>
                    <a:pt x="1406892" y="328158"/>
                  </a:cubicBezTo>
                  <a:lnTo>
                    <a:pt x="70393" y="328158"/>
                  </a:lnTo>
                  <a:cubicBezTo>
                    <a:pt x="31516" y="328158"/>
                    <a:pt x="0" y="296642"/>
                    <a:pt x="0" y="257765"/>
                  </a:cubicBezTo>
                  <a:lnTo>
                    <a:pt x="0" y="70393"/>
                  </a:lnTo>
                  <a:cubicBezTo>
                    <a:pt x="0" y="31516"/>
                    <a:pt x="31516" y="0"/>
                    <a:pt x="70393" y="0"/>
                  </a:cubicBezTo>
                  <a:close/>
                </a:path>
              </a:pathLst>
            </a:custGeom>
            <a:solidFill>
              <a:srgbClr val="4B4444"/>
            </a:solidFill>
            <a:ln w="47625" cap="rnd">
              <a:solidFill>
                <a:srgbClr val="CFCECE"/>
              </a:solidFill>
              <a:prstDash val="lgDash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477285" cy="3662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653685" y="5153880"/>
            <a:ext cx="4270825" cy="801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78"/>
              </a:lnSpc>
            </a:pPr>
            <a:r>
              <a:rPr lang="en-US" sz="4200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a. {0, 4 10, 18, 28}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53685" y="6879001"/>
            <a:ext cx="4270825" cy="801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78"/>
              </a:lnSpc>
            </a:pPr>
            <a:r>
              <a:rPr lang="en-US" sz="4200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b. {0, 4, 8, 16. 32}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34758" y="2646426"/>
            <a:ext cx="16024542" cy="1649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78"/>
              </a:lnSpc>
            </a:pPr>
            <a:r>
              <a:rPr lang="en-US" sz="4200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Pada pemetaan f(x) = x   - 3x dengan domain {x | 3 ≤ x ≤ 7, x∊bilangan asli}. Rangenya adalah …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551672" y="5153880"/>
            <a:ext cx="5167593" cy="801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78"/>
              </a:lnSpc>
            </a:pPr>
            <a:r>
              <a:rPr lang="en-US" sz="4200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c. {0, 4, 8, 12, 16}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551672" y="6879001"/>
            <a:ext cx="5167593" cy="801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78"/>
              </a:lnSpc>
            </a:pPr>
            <a:r>
              <a:rPr lang="en-US" sz="4200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d. {0, 4, 9, 16, 25}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3811001" y="9513286"/>
            <a:ext cx="2658043" cy="838707"/>
            <a:chOff x="0" y="0"/>
            <a:chExt cx="3544058" cy="1118275"/>
          </a:xfrm>
        </p:grpSpPr>
        <p:grpSp>
          <p:nvGrpSpPr>
            <p:cNvPr name="Group 16" id="16"/>
            <p:cNvGrpSpPr/>
            <p:nvPr/>
          </p:nvGrpSpPr>
          <p:grpSpPr>
            <a:xfrm rot="117060">
              <a:off x="27116" y="59305"/>
              <a:ext cx="3500940" cy="999666"/>
              <a:chOff x="0" y="0"/>
              <a:chExt cx="1753351" cy="500655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753351" cy="500655"/>
              </a:xfrm>
              <a:custGeom>
                <a:avLst/>
                <a:gdLst/>
                <a:ahLst/>
                <a:cxnLst/>
                <a:rect r="r" b="b" t="t" l="l"/>
                <a:pathLst>
                  <a:path h="500655" w="1753351">
                    <a:moveTo>
                      <a:pt x="0" y="0"/>
                    </a:moveTo>
                    <a:lnTo>
                      <a:pt x="1753351" y="0"/>
                    </a:lnTo>
                    <a:lnTo>
                      <a:pt x="1753351" y="500655"/>
                    </a:lnTo>
                    <a:lnTo>
                      <a:pt x="0" y="500655"/>
                    </a:lnTo>
                    <a:close/>
                  </a:path>
                </a:pathLst>
              </a:custGeom>
              <a:solidFill>
                <a:srgbClr val="868383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753351" cy="538755"/>
              </a:xfrm>
              <a:prstGeom prst="rect">
                <a:avLst/>
              </a:prstGeom>
            </p:spPr>
            <p:txBody>
              <a:bodyPr anchor="ctr" rtlCol="false" tIns="30924" lIns="30924" bIns="30924" rIns="30924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19" id="19"/>
            <p:cNvSpPr/>
            <p:nvPr/>
          </p:nvSpPr>
          <p:spPr>
            <a:xfrm flipH="false" flipV="false" rot="0">
              <a:off x="0" y="19781"/>
              <a:ext cx="3518253" cy="1062256"/>
            </a:xfrm>
            <a:custGeom>
              <a:avLst/>
              <a:gdLst/>
              <a:ahLst/>
              <a:cxnLst/>
              <a:rect r="r" b="b" t="t" l="l"/>
              <a:pathLst>
                <a:path h="1062256" w="3518253">
                  <a:moveTo>
                    <a:pt x="0" y="0"/>
                  </a:moveTo>
                  <a:lnTo>
                    <a:pt x="3518253" y="0"/>
                  </a:lnTo>
                  <a:lnTo>
                    <a:pt x="3518253" y="1062256"/>
                  </a:lnTo>
                  <a:lnTo>
                    <a:pt x="0" y="10622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6175617" y="2636901"/>
            <a:ext cx="924300" cy="537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51"/>
              </a:lnSpc>
            </a:pPr>
            <a:r>
              <a:rPr lang="en-US" sz="2799">
                <a:solidFill>
                  <a:srgbClr val="FFFFFF"/>
                </a:solidFill>
                <a:latin typeface="Gidole"/>
                <a:ea typeface="Gidole"/>
                <a:cs typeface="Gidole"/>
                <a:sym typeface="Gidole"/>
              </a:rPr>
              <a:t>2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27B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1130" y="486490"/>
            <a:ext cx="17265740" cy="9314020"/>
            <a:chOff x="0" y="0"/>
            <a:chExt cx="4547355" cy="24530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47355" cy="2453075"/>
            </a:xfrm>
            <a:custGeom>
              <a:avLst/>
              <a:gdLst/>
              <a:ahLst/>
              <a:cxnLst/>
              <a:rect r="r" b="b" t="t" l="l"/>
              <a:pathLst>
                <a:path h="2453075" w="4547355">
                  <a:moveTo>
                    <a:pt x="22868" y="0"/>
                  </a:moveTo>
                  <a:lnTo>
                    <a:pt x="4524487" y="0"/>
                  </a:lnTo>
                  <a:cubicBezTo>
                    <a:pt x="4530552" y="0"/>
                    <a:pt x="4536369" y="2409"/>
                    <a:pt x="4540657" y="6698"/>
                  </a:cubicBezTo>
                  <a:cubicBezTo>
                    <a:pt x="4544946" y="10987"/>
                    <a:pt x="4547355" y="16803"/>
                    <a:pt x="4547355" y="22868"/>
                  </a:cubicBezTo>
                  <a:lnTo>
                    <a:pt x="4547355" y="2430207"/>
                  </a:lnTo>
                  <a:cubicBezTo>
                    <a:pt x="4547355" y="2436272"/>
                    <a:pt x="4544946" y="2442089"/>
                    <a:pt x="4540657" y="2446377"/>
                  </a:cubicBezTo>
                  <a:cubicBezTo>
                    <a:pt x="4536369" y="2450666"/>
                    <a:pt x="4530552" y="2453075"/>
                    <a:pt x="4524487" y="2453075"/>
                  </a:cubicBezTo>
                  <a:lnTo>
                    <a:pt x="22868" y="2453075"/>
                  </a:lnTo>
                  <a:cubicBezTo>
                    <a:pt x="16803" y="2453075"/>
                    <a:pt x="10987" y="2450666"/>
                    <a:pt x="6698" y="2446377"/>
                  </a:cubicBezTo>
                  <a:cubicBezTo>
                    <a:pt x="2409" y="2442089"/>
                    <a:pt x="0" y="2436272"/>
                    <a:pt x="0" y="2430207"/>
                  </a:cubicBezTo>
                  <a:lnTo>
                    <a:pt x="0" y="22868"/>
                  </a:lnTo>
                  <a:cubicBezTo>
                    <a:pt x="0" y="16803"/>
                    <a:pt x="2409" y="10987"/>
                    <a:pt x="6698" y="6698"/>
                  </a:cubicBezTo>
                  <a:cubicBezTo>
                    <a:pt x="10987" y="2409"/>
                    <a:pt x="16803" y="0"/>
                    <a:pt x="22868" y="0"/>
                  </a:cubicBezTo>
                  <a:close/>
                </a:path>
              </a:pathLst>
            </a:custGeom>
            <a:solidFill>
              <a:srgbClr val="4B444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47355" cy="2491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4748493">
            <a:off x="13490128" y="9480494"/>
            <a:ext cx="561536" cy="1002636"/>
          </a:xfrm>
          <a:custGeom>
            <a:avLst/>
            <a:gdLst/>
            <a:ahLst/>
            <a:cxnLst/>
            <a:rect r="r" b="b" t="t" l="l"/>
            <a:pathLst>
              <a:path h="1002636" w="561536">
                <a:moveTo>
                  <a:pt x="0" y="0"/>
                </a:moveTo>
                <a:lnTo>
                  <a:pt x="561536" y="0"/>
                </a:lnTo>
                <a:lnTo>
                  <a:pt x="561536" y="1002636"/>
                </a:lnTo>
                <a:lnTo>
                  <a:pt x="0" y="10026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3811001" y="9513286"/>
            <a:ext cx="2658043" cy="838707"/>
            <a:chOff x="0" y="0"/>
            <a:chExt cx="3544058" cy="1118275"/>
          </a:xfrm>
        </p:grpSpPr>
        <p:grpSp>
          <p:nvGrpSpPr>
            <p:cNvPr name="Group 7" id="7"/>
            <p:cNvGrpSpPr/>
            <p:nvPr/>
          </p:nvGrpSpPr>
          <p:grpSpPr>
            <a:xfrm rot="117060">
              <a:off x="27116" y="59305"/>
              <a:ext cx="3500940" cy="999666"/>
              <a:chOff x="0" y="0"/>
              <a:chExt cx="1753351" cy="500655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753351" cy="500655"/>
              </a:xfrm>
              <a:custGeom>
                <a:avLst/>
                <a:gdLst/>
                <a:ahLst/>
                <a:cxnLst/>
                <a:rect r="r" b="b" t="t" l="l"/>
                <a:pathLst>
                  <a:path h="500655" w="1753351">
                    <a:moveTo>
                      <a:pt x="0" y="0"/>
                    </a:moveTo>
                    <a:lnTo>
                      <a:pt x="1753351" y="0"/>
                    </a:lnTo>
                    <a:lnTo>
                      <a:pt x="1753351" y="500655"/>
                    </a:lnTo>
                    <a:lnTo>
                      <a:pt x="0" y="500655"/>
                    </a:lnTo>
                    <a:close/>
                  </a:path>
                </a:pathLst>
              </a:custGeom>
              <a:solidFill>
                <a:srgbClr val="868383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1753351" cy="538755"/>
              </a:xfrm>
              <a:prstGeom prst="rect">
                <a:avLst/>
              </a:prstGeom>
            </p:spPr>
            <p:txBody>
              <a:bodyPr anchor="ctr" rtlCol="false" tIns="30924" lIns="30924" bIns="30924" rIns="30924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10" id="10"/>
            <p:cNvSpPr/>
            <p:nvPr/>
          </p:nvSpPr>
          <p:spPr>
            <a:xfrm flipH="false" flipV="false" rot="0">
              <a:off x="0" y="19781"/>
              <a:ext cx="3518253" cy="1062256"/>
            </a:xfrm>
            <a:custGeom>
              <a:avLst/>
              <a:gdLst/>
              <a:ahLst/>
              <a:cxnLst/>
              <a:rect r="r" b="b" t="t" l="l"/>
              <a:pathLst>
                <a:path h="1062256" w="3518253">
                  <a:moveTo>
                    <a:pt x="0" y="0"/>
                  </a:moveTo>
                  <a:lnTo>
                    <a:pt x="3518253" y="0"/>
                  </a:lnTo>
                  <a:lnTo>
                    <a:pt x="3518253" y="1062256"/>
                  </a:lnTo>
                  <a:lnTo>
                    <a:pt x="0" y="10622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2276104" y="4434840"/>
            <a:ext cx="13576365" cy="1500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19"/>
              </a:lnSpc>
            </a:pPr>
            <a:r>
              <a:rPr lang="en-US" b="true" sz="8799" spc="1495">
                <a:solidFill>
                  <a:srgbClr val="FFA3C1"/>
                </a:solidFill>
                <a:latin typeface="One Little Font Bold"/>
                <a:ea typeface="One Little Font Bold"/>
                <a:cs typeface="One Little Font Bold"/>
                <a:sym typeface="One Little Font Bold"/>
              </a:rPr>
              <a:t>TERIMA KASIH!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2781244" y="5510798"/>
            <a:ext cx="1534886" cy="849094"/>
            <a:chOff x="0" y="0"/>
            <a:chExt cx="2046515" cy="1132126"/>
          </a:xfrm>
        </p:grpSpPr>
        <p:sp>
          <p:nvSpPr>
            <p:cNvPr name="Freeform 13" id="13"/>
            <p:cNvSpPr/>
            <p:nvPr/>
          </p:nvSpPr>
          <p:spPr>
            <a:xfrm flipH="false" flipV="false" rot="-1311898">
              <a:off x="-5176" y="331932"/>
              <a:ext cx="1846075" cy="328789"/>
            </a:xfrm>
            <a:custGeom>
              <a:avLst/>
              <a:gdLst/>
              <a:ahLst/>
              <a:cxnLst/>
              <a:rect r="r" b="b" t="t" l="l"/>
              <a:pathLst>
                <a:path h="328789" w="1846075">
                  <a:moveTo>
                    <a:pt x="0" y="0"/>
                  </a:moveTo>
                  <a:lnTo>
                    <a:pt x="1846076" y="0"/>
                  </a:lnTo>
                  <a:lnTo>
                    <a:pt x="1846076" y="328789"/>
                  </a:lnTo>
                  <a:lnTo>
                    <a:pt x="0" y="3287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-1311898">
              <a:off x="447277" y="558140"/>
              <a:ext cx="1603734" cy="285628"/>
            </a:xfrm>
            <a:custGeom>
              <a:avLst/>
              <a:gdLst/>
              <a:ahLst/>
              <a:cxnLst/>
              <a:rect r="r" b="b" t="t" l="l"/>
              <a:pathLst>
                <a:path h="285628" w="1603734">
                  <a:moveTo>
                    <a:pt x="0" y="0"/>
                  </a:moveTo>
                  <a:lnTo>
                    <a:pt x="1603734" y="0"/>
                  </a:lnTo>
                  <a:lnTo>
                    <a:pt x="1603734" y="285628"/>
                  </a:lnTo>
                  <a:lnTo>
                    <a:pt x="0" y="2856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DAG_JmRKULU</dc:identifier>
  <dcterms:modified xsi:type="dcterms:W3CDTF">2011-08-01T06:04:30Z</dcterms:modified>
  <cp:revision>1</cp:revision>
  <dc:title>Relasi dan Fungsi Presentasi Matematika  Hitam Pink Papan Tulis Sederhana</dc:title>
</cp:coreProperties>
</file>