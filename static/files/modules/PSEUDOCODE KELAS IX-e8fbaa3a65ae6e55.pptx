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Bobby Jones" charset="1" panose="00000000000000000000"/>
      <p:regular r:id="rId19"/>
    </p:embeddedFont>
    <p:embeddedFont>
      <p:font typeface="Canva Sans" charset="1" panose="020B0503030501040103"/>
      <p:regular r:id="rId20"/>
    </p:embeddedFont>
    <p:embeddedFont>
      <p:font typeface="Canva Sans Medium" charset="1" panose="020B0603030501040103"/>
      <p:regular r:id="rId21"/>
    </p:embeddedFont>
    <p:embeddedFont>
      <p:font typeface="Canva Sans Bold" charset="1" panose="020B08030305010401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https://cmlabs.co/id-id/seo-guidelines/apa-itu-flowchart"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https://cmlabs.co/id-id/seo-terms/apa-itu-bug" TargetMode="External" Type="http://schemas.openxmlformats.org/officeDocument/2006/relationships/hyperlink"/><Relationship Id="rId3" Target="https://cmlabs.co/id-id/seo-guidelines/debugging-adalah" TargetMode="External" Type="http://schemas.openxmlformats.org/officeDocument/2006/relationships/hyperlink"/><Relationship Id="rId4" Target="../media/image3.png" Type="http://schemas.openxmlformats.org/officeDocument/2006/relationships/image"/><Relationship Id="rId5"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3954F"/>
        </a:solidFill>
      </p:bgPr>
    </p:bg>
    <p:spTree>
      <p:nvGrpSpPr>
        <p:cNvPr id="1" name=""/>
        <p:cNvGrpSpPr/>
        <p:nvPr/>
      </p:nvGrpSpPr>
      <p:grpSpPr>
        <a:xfrm>
          <a:off x="0" y="0"/>
          <a:ext cx="0" cy="0"/>
          <a:chOff x="0" y="0"/>
          <a:chExt cx="0" cy="0"/>
        </a:xfrm>
      </p:grpSpPr>
      <p:grpSp>
        <p:nvGrpSpPr>
          <p:cNvPr name="Group 2" id="2"/>
          <p:cNvGrpSpPr/>
          <p:nvPr/>
        </p:nvGrpSpPr>
        <p:grpSpPr>
          <a:xfrm rot="0">
            <a:off x="494233" y="379316"/>
            <a:ext cx="17299534" cy="9528368"/>
            <a:chOff x="0" y="0"/>
            <a:chExt cx="4556256" cy="2509529"/>
          </a:xfrm>
        </p:grpSpPr>
        <p:sp>
          <p:nvSpPr>
            <p:cNvPr name="Freeform 3" id="3"/>
            <p:cNvSpPr/>
            <p:nvPr/>
          </p:nvSpPr>
          <p:spPr>
            <a:xfrm flipH="false" flipV="false" rot="0">
              <a:off x="0" y="0"/>
              <a:ext cx="4556256" cy="2509529"/>
            </a:xfrm>
            <a:custGeom>
              <a:avLst/>
              <a:gdLst/>
              <a:ahLst/>
              <a:cxnLst/>
              <a:rect r="r" b="b" t="t" l="l"/>
              <a:pathLst>
                <a:path h="2509529" w="4556256">
                  <a:moveTo>
                    <a:pt x="15216" y="0"/>
                  </a:moveTo>
                  <a:lnTo>
                    <a:pt x="4541040" y="0"/>
                  </a:lnTo>
                  <a:cubicBezTo>
                    <a:pt x="4549443" y="0"/>
                    <a:pt x="4556256" y="6812"/>
                    <a:pt x="4556256" y="15216"/>
                  </a:cubicBezTo>
                  <a:lnTo>
                    <a:pt x="4556256" y="2494313"/>
                  </a:lnTo>
                  <a:cubicBezTo>
                    <a:pt x="4556256" y="2498349"/>
                    <a:pt x="4554653" y="2502219"/>
                    <a:pt x="4551799" y="2505072"/>
                  </a:cubicBezTo>
                  <a:cubicBezTo>
                    <a:pt x="4548946" y="2507926"/>
                    <a:pt x="4545075" y="2509529"/>
                    <a:pt x="4541040" y="2509529"/>
                  </a:cubicBezTo>
                  <a:lnTo>
                    <a:pt x="15216" y="2509529"/>
                  </a:lnTo>
                  <a:cubicBezTo>
                    <a:pt x="6812" y="2509529"/>
                    <a:pt x="0" y="2502717"/>
                    <a:pt x="0" y="2494313"/>
                  </a:cubicBezTo>
                  <a:lnTo>
                    <a:pt x="0" y="15216"/>
                  </a:lnTo>
                  <a:cubicBezTo>
                    <a:pt x="0" y="11180"/>
                    <a:pt x="1603" y="7310"/>
                    <a:pt x="4457" y="4457"/>
                  </a:cubicBezTo>
                  <a:cubicBezTo>
                    <a:pt x="7310" y="1603"/>
                    <a:pt x="11180" y="0"/>
                    <a:pt x="15216" y="0"/>
                  </a:cubicBezTo>
                  <a:close/>
                </a:path>
              </a:pathLst>
            </a:custGeom>
            <a:solidFill>
              <a:srgbClr val="FFE0B7"/>
            </a:solidFill>
            <a:ln cap="rnd">
              <a:noFill/>
              <a:prstDash val="solid"/>
              <a:round/>
            </a:ln>
          </p:spPr>
        </p:sp>
        <p:sp>
          <p:nvSpPr>
            <p:cNvPr name="TextBox 4" id="4"/>
            <p:cNvSpPr txBox="true"/>
            <p:nvPr/>
          </p:nvSpPr>
          <p:spPr>
            <a:xfrm>
              <a:off x="0" y="-38100"/>
              <a:ext cx="4556256" cy="254762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7040954" y="2074696"/>
            <a:ext cx="10218346" cy="2594091"/>
          </a:xfrm>
          <a:prstGeom prst="rect">
            <a:avLst/>
          </a:prstGeom>
        </p:spPr>
        <p:txBody>
          <a:bodyPr anchor="t" rtlCol="false" tIns="0" lIns="0" bIns="0" rIns="0">
            <a:spAutoFit/>
          </a:bodyPr>
          <a:lstStyle/>
          <a:p>
            <a:pPr algn="r" marL="0" indent="0" lvl="0">
              <a:lnSpc>
                <a:spcPts val="20834"/>
              </a:lnSpc>
              <a:spcBef>
                <a:spcPct val="0"/>
              </a:spcBef>
            </a:pPr>
            <a:r>
              <a:rPr lang="en-US" sz="14881">
                <a:solidFill>
                  <a:srgbClr val="000000"/>
                </a:solidFill>
                <a:latin typeface="Bobby Jones"/>
                <a:ea typeface="Bobby Jones"/>
                <a:cs typeface="Bobby Jones"/>
                <a:sym typeface="Bobby Jones"/>
              </a:rPr>
              <a:t>pseudocode</a:t>
            </a:r>
          </a:p>
        </p:txBody>
      </p:sp>
      <p:sp>
        <p:nvSpPr>
          <p:cNvPr name="TextBox 6" id="6"/>
          <p:cNvSpPr txBox="true"/>
          <p:nvPr/>
        </p:nvSpPr>
        <p:spPr>
          <a:xfrm rot="0">
            <a:off x="9497616" y="8446770"/>
            <a:ext cx="8021686" cy="811530"/>
          </a:xfrm>
          <a:prstGeom prst="rect">
            <a:avLst/>
          </a:prstGeom>
        </p:spPr>
        <p:txBody>
          <a:bodyPr anchor="t" rtlCol="false" tIns="0" lIns="0" bIns="0" rIns="0">
            <a:spAutoFit/>
          </a:bodyPr>
          <a:lstStyle/>
          <a:p>
            <a:pPr algn="r" marL="0" indent="0" lvl="0">
              <a:lnSpc>
                <a:spcPts val="6719"/>
              </a:lnSpc>
              <a:spcBef>
                <a:spcPct val="0"/>
              </a:spcBef>
            </a:pPr>
            <a:r>
              <a:rPr lang="en-US" sz="4800">
                <a:solidFill>
                  <a:srgbClr val="000000"/>
                </a:solidFill>
                <a:latin typeface="Canva Sans"/>
                <a:ea typeface="Canva Sans"/>
                <a:cs typeface="Canva Sans"/>
                <a:sym typeface="Canva Sans"/>
              </a:rPr>
              <a:t>INFORMATIKA</a:t>
            </a:r>
          </a:p>
        </p:txBody>
      </p:sp>
      <p:sp>
        <p:nvSpPr>
          <p:cNvPr name="Freeform 7" id="7"/>
          <p:cNvSpPr/>
          <p:nvPr/>
        </p:nvSpPr>
        <p:spPr>
          <a:xfrm flipH="false" flipV="false" rot="0">
            <a:off x="1028700" y="4399112"/>
            <a:ext cx="3446516" cy="5575247"/>
          </a:xfrm>
          <a:custGeom>
            <a:avLst/>
            <a:gdLst/>
            <a:ahLst/>
            <a:cxnLst/>
            <a:rect r="r" b="b" t="t" l="l"/>
            <a:pathLst>
              <a:path h="5575247" w="3446516">
                <a:moveTo>
                  <a:pt x="0" y="0"/>
                </a:moveTo>
                <a:lnTo>
                  <a:pt x="3446516" y="0"/>
                </a:lnTo>
                <a:lnTo>
                  <a:pt x="3446516" y="5575247"/>
                </a:lnTo>
                <a:lnTo>
                  <a:pt x="0" y="55752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954F"/>
        </a:solidFill>
      </p:bgPr>
    </p:bg>
    <p:spTree>
      <p:nvGrpSpPr>
        <p:cNvPr id="1" name=""/>
        <p:cNvGrpSpPr/>
        <p:nvPr/>
      </p:nvGrpSpPr>
      <p:grpSpPr>
        <a:xfrm>
          <a:off x="0" y="0"/>
          <a:ext cx="0" cy="0"/>
          <a:chOff x="0" y="0"/>
          <a:chExt cx="0" cy="0"/>
        </a:xfrm>
      </p:grpSpPr>
      <p:grpSp>
        <p:nvGrpSpPr>
          <p:cNvPr name="Group 2" id="2"/>
          <p:cNvGrpSpPr/>
          <p:nvPr/>
        </p:nvGrpSpPr>
        <p:grpSpPr>
          <a:xfrm rot="0">
            <a:off x="494233" y="379316"/>
            <a:ext cx="17299534" cy="9528368"/>
            <a:chOff x="0" y="0"/>
            <a:chExt cx="4556256" cy="2509529"/>
          </a:xfrm>
        </p:grpSpPr>
        <p:sp>
          <p:nvSpPr>
            <p:cNvPr name="Freeform 3" id="3"/>
            <p:cNvSpPr/>
            <p:nvPr/>
          </p:nvSpPr>
          <p:spPr>
            <a:xfrm flipH="false" flipV="false" rot="0">
              <a:off x="0" y="0"/>
              <a:ext cx="4556256" cy="2509529"/>
            </a:xfrm>
            <a:custGeom>
              <a:avLst/>
              <a:gdLst/>
              <a:ahLst/>
              <a:cxnLst/>
              <a:rect r="r" b="b" t="t" l="l"/>
              <a:pathLst>
                <a:path h="2509529" w="4556256">
                  <a:moveTo>
                    <a:pt x="15216" y="0"/>
                  </a:moveTo>
                  <a:lnTo>
                    <a:pt x="4541040" y="0"/>
                  </a:lnTo>
                  <a:cubicBezTo>
                    <a:pt x="4549443" y="0"/>
                    <a:pt x="4556256" y="6812"/>
                    <a:pt x="4556256" y="15216"/>
                  </a:cubicBezTo>
                  <a:lnTo>
                    <a:pt x="4556256" y="2494313"/>
                  </a:lnTo>
                  <a:cubicBezTo>
                    <a:pt x="4556256" y="2498349"/>
                    <a:pt x="4554653" y="2502219"/>
                    <a:pt x="4551799" y="2505072"/>
                  </a:cubicBezTo>
                  <a:cubicBezTo>
                    <a:pt x="4548946" y="2507926"/>
                    <a:pt x="4545075" y="2509529"/>
                    <a:pt x="4541040" y="2509529"/>
                  </a:cubicBezTo>
                  <a:lnTo>
                    <a:pt x="15216" y="2509529"/>
                  </a:lnTo>
                  <a:cubicBezTo>
                    <a:pt x="6812" y="2509529"/>
                    <a:pt x="0" y="2502717"/>
                    <a:pt x="0" y="2494313"/>
                  </a:cubicBezTo>
                  <a:lnTo>
                    <a:pt x="0" y="15216"/>
                  </a:lnTo>
                  <a:cubicBezTo>
                    <a:pt x="0" y="11180"/>
                    <a:pt x="1603" y="7310"/>
                    <a:pt x="4457" y="4457"/>
                  </a:cubicBezTo>
                  <a:cubicBezTo>
                    <a:pt x="7310" y="1603"/>
                    <a:pt x="11180" y="0"/>
                    <a:pt x="15216" y="0"/>
                  </a:cubicBezTo>
                  <a:close/>
                </a:path>
              </a:pathLst>
            </a:custGeom>
            <a:solidFill>
              <a:srgbClr val="FFE0B7"/>
            </a:solidFill>
            <a:ln cap="rnd">
              <a:noFill/>
              <a:prstDash val="solid"/>
              <a:round/>
            </a:ln>
          </p:spPr>
        </p:sp>
        <p:sp>
          <p:nvSpPr>
            <p:cNvPr name="TextBox 4" id="4"/>
            <p:cNvSpPr txBox="true"/>
            <p:nvPr/>
          </p:nvSpPr>
          <p:spPr>
            <a:xfrm>
              <a:off x="0" y="-38100"/>
              <a:ext cx="4556256" cy="254762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2951797"/>
            <a:ext cx="9904055" cy="5427980"/>
          </a:xfrm>
          <a:prstGeom prst="rect">
            <a:avLst/>
          </a:prstGeom>
        </p:spPr>
        <p:txBody>
          <a:bodyPr anchor="t" rtlCol="false" tIns="0" lIns="0" bIns="0" rIns="0">
            <a:spAutoFit/>
          </a:bodyPr>
          <a:lstStyle/>
          <a:p>
            <a:pPr algn="l" marL="0" indent="0" lvl="0">
              <a:lnSpc>
                <a:spcPts val="6159"/>
              </a:lnSpc>
            </a:pPr>
            <a:r>
              <a:rPr lang="en-US" sz="3999">
                <a:solidFill>
                  <a:srgbClr val="000000"/>
                </a:solidFill>
                <a:latin typeface="Canva Sans"/>
                <a:ea typeface="Canva Sans"/>
                <a:cs typeface="Canva Sans"/>
                <a:sym typeface="Canva Sans"/>
              </a:rPr>
              <a:t>Pseudocode adalah salah satu istilah dalam bahasa pemrograman yang merujuk pada deskripsi tingkat tinggi yang ringkas. Bedanya dengan bahasa pemrograman biasa adalah pseudocode lebih sederhana dan mudah dipahami oleh orang awam sekalipun.</a:t>
            </a:r>
          </a:p>
        </p:txBody>
      </p:sp>
      <p:sp>
        <p:nvSpPr>
          <p:cNvPr name="TextBox 6" id="6"/>
          <p:cNvSpPr txBox="true"/>
          <p:nvPr/>
        </p:nvSpPr>
        <p:spPr>
          <a:xfrm rot="0">
            <a:off x="1028700" y="1708150"/>
            <a:ext cx="11023662" cy="1057275"/>
          </a:xfrm>
          <a:prstGeom prst="rect">
            <a:avLst/>
          </a:prstGeom>
        </p:spPr>
        <p:txBody>
          <a:bodyPr anchor="t" rtlCol="false" tIns="0" lIns="0" bIns="0" rIns="0">
            <a:spAutoFit/>
          </a:bodyPr>
          <a:lstStyle/>
          <a:p>
            <a:pPr algn="l" marL="0" indent="0" lvl="0">
              <a:lnSpc>
                <a:spcPts val="8400"/>
              </a:lnSpc>
              <a:spcBef>
                <a:spcPct val="0"/>
              </a:spcBef>
            </a:pPr>
            <a:r>
              <a:rPr lang="en-US" sz="6000">
                <a:solidFill>
                  <a:srgbClr val="000000"/>
                </a:solidFill>
                <a:latin typeface="Bobby Jones"/>
                <a:ea typeface="Bobby Jones"/>
                <a:cs typeface="Bobby Jones"/>
                <a:sym typeface="Bobby Jones"/>
              </a:rPr>
              <a:t>UnderstandING</a:t>
            </a:r>
          </a:p>
        </p:txBody>
      </p:sp>
      <p:sp>
        <p:nvSpPr>
          <p:cNvPr name="Freeform 7" id="7"/>
          <p:cNvSpPr/>
          <p:nvPr/>
        </p:nvSpPr>
        <p:spPr>
          <a:xfrm flipH="false" flipV="false" rot="0">
            <a:off x="12568975" y="5143500"/>
            <a:ext cx="4690325" cy="4830859"/>
          </a:xfrm>
          <a:custGeom>
            <a:avLst/>
            <a:gdLst/>
            <a:ahLst/>
            <a:cxnLst/>
            <a:rect r="r" b="b" t="t" l="l"/>
            <a:pathLst>
              <a:path h="4830859" w="4690325">
                <a:moveTo>
                  <a:pt x="0" y="0"/>
                </a:moveTo>
                <a:lnTo>
                  <a:pt x="4690325" y="0"/>
                </a:lnTo>
                <a:lnTo>
                  <a:pt x="4690325" y="4830859"/>
                </a:lnTo>
                <a:lnTo>
                  <a:pt x="0" y="4830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954F"/>
        </a:solidFill>
      </p:bgPr>
    </p:bg>
    <p:spTree>
      <p:nvGrpSpPr>
        <p:cNvPr id="1" name=""/>
        <p:cNvGrpSpPr/>
        <p:nvPr/>
      </p:nvGrpSpPr>
      <p:grpSpPr>
        <a:xfrm>
          <a:off x="0" y="0"/>
          <a:ext cx="0" cy="0"/>
          <a:chOff x="0" y="0"/>
          <a:chExt cx="0" cy="0"/>
        </a:xfrm>
      </p:grpSpPr>
      <p:grpSp>
        <p:nvGrpSpPr>
          <p:cNvPr name="Group 2" id="2"/>
          <p:cNvGrpSpPr/>
          <p:nvPr/>
        </p:nvGrpSpPr>
        <p:grpSpPr>
          <a:xfrm rot="0">
            <a:off x="494233" y="379316"/>
            <a:ext cx="17299534" cy="9528368"/>
            <a:chOff x="0" y="0"/>
            <a:chExt cx="4556256" cy="2509529"/>
          </a:xfrm>
        </p:grpSpPr>
        <p:sp>
          <p:nvSpPr>
            <p:cNvPr name="Freeform 3" id="3"/>
            <p:cNvSpPr/>
            <p:nvPr/>
          </p:nvSpPr>
          <p:spPr>
            <a:xfrm flipH="false" flipV="false" rot="0">
              <a:off x="0" y="0"/>
              <a:ext cx="4556256" cy="2509529"/>
            </a:xfrm>
            <a:custGeom>
              <a:avLst/>
              <a:gdLst/>
              <a:ahLst/>
              <a:cxnLst/>
              <a:rect r="r" b="b" t="t" l="l"/>
              <a:pathLst>
                <a:path h="2509529" w="4556256">
                  <a:moveTo>
                    <a:pt x="15216" y="0"/>
                  </a:moveTo>
                  <a:lnTo>
                    <a:pt x="4541040" y="0"/>
                  </a:lnTo>
                  <a:cubicBezTo>
                    <a:pt x="4549443" y="0"/>
                    <a:pt x="4556256" y="6812"/>
                    <a:pt x="4556256" y="15216"/>
                  </a:cubicBezTo>
                  <a:lnTo>
                    <a:pt x="4556256" y="2494313"/>
                  </a:lnTo>
                  <a:cubicBezTo>
                    <a:pt x="4556256" y="2498349"/>
                    <a:pt x="4554653" y="2502219"/>
                    <a:pt x="4551799" y="2505072"/>
                  </a:cubicBezTo>
                  <a:cubicBezTo>
                    <a:pt x="4548946" y="2507926"/>
                    <a:pt x="4545075" y="2509529"/>
                    <a:pt x="4541040" y="2509529"/>
                  </a:cubicBezTo>
                  <a:lnTo>
                    <a:pt x="15216" y="2509529"/>
                  </a:lnTo>
                  <a:cubicBezTo>
                    <a:pt x="6812" y="2509529"/>
                    <a:pt x="0" y="2502717"/>
                    <a:pt x="0" y="2494313"/>
                  </a:cubicBezTo>
                  <a:lnTo>
                    <a:pt x="0" y="15216"/>
                  </a:lnTo>
                  <a:cubicBezTo>
                    <a:pt x="0" y="11180"/>
                    <a:pt x="1603" y="7310"/>
                    <a:pt x="4457" y="4457"/>
                  </a:cubicBezTo>
                  <a:cubicBezTo>
                    <a:pt x="7310" y="1603"/>
                    <a:pt x="11180" y="0"/>
                    <a:pt x="15216" y="0"/>
                  </a:cubicBezTo>
                  <a:close/>
                </a:path>
              </a:pathLst>
            </a:custGeom>
            <a:solidFill>
              <a:srgbClr val="FFE0B7"/>
            </a:solidFill>
            <a:ln cap="rnd">
              <a:noFill/>
              <a:prstDash val="solid"/>
              <a:round/>
            </a:ln>
          </p:spPr>
        </p:sp>
        <p:sp>
          <p:nvSpPr>
            <p:cNvPr name="TextBox 4" id="4"/>
            <p:cNvSpPr txBox="true"/>
            <p:nvPr/>
          </p:nvSpPr>
          <p:spPr>
            <a:xfrm>
              <a:off x="0" y="-38100"/>
              <a:ext cx="4556256" cy="254762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1602881"/>
            <a:ext cx="11163496" cy="5906391"/>
          </a:xfrm>
          <a:prstGeom prst="rect">
            <a:avLst/>
          </a:prstGeom>
        </p:spPr>
        <p:txBody>
          <a:bodyPr anchor="t" rtlCol="false" tIns="0" lIns="0" bIns="0" rIns="0">
            <a:spAutoFit/>
          </a:bodyPr>
          <a:lstStyle/>
          <a:p>
            <a:pPr algn="l">
              <a:lnSpc>
                <a:spcPts val="5203"/>
              </a:lnSpc>
            </a:pPr>
            <a:r>
              <a:rPr lang="en-US" sz="3378">
                <a:solidFill>
                  <a:srgbClr val="000000"/>
                </a:solidFill>
                <a:latin typeface="Canva Sans"/>
                <a:ea typeface="Canva Sans"/>
                <a:cs typeface="Canva Sans"/>
                <a:sym typeface="Canva Sans"/>
              </a:rPr>
              <a:t>Pseudocode adalah penulisan kode semu yang dibuat dengan bahasa sederhana ag</a:t>
            </a:r>
            <a:r>
              <a:rPr lang="en-US" sz="3378">
                <a:solidFill>
                  <a:srgbClr val="000000"/>
                </a:solidFill>
                <a:latin typeface="Canva Sans"/>
                <a:ea typeface="Canva Sans"/>
                <a:cs typeface="Canva Sans"/>
                <a:sym typeface="Canva Sans"/>
              </a:rPr>
              <a:t>ar mudah dipahami oleh orang awam dari berbagai latar belakang teknis. </a:t>
            </a:r>
          </a:p>
          <a:p>
            <a:pPr algn="l">
              <a:lnSpc>
                <a:spcPts val="5203"/>
              </a:lnSpc>
            </a:pPr>
            <a:r>
              <a:rPr lang="en-US" sz="3378">
                <a:solidFill>
                  <a:srgbClr val="000000"/>
                </a:solidFill>
                <a:latin typeface="Canva Sans"/>
                <a:ea typeface="Canva Sans"/>
                <a:cs typeface="Canva Sans"/>
                <a:sym typeface="Canva Sans"/>
              </a:rPr>
              <a:t>Beberapa penulisan bahasa pemrograman seperti JavaScript yang tujuan utamanya adalah untuk mudah dibaca manusia, terkadang masih sedikit sulit untuk dipahami. Dalam hal ini, pseudocode adalah salah satu solusinya.</a:t>
            </a:r>
          </a:p>
          <a:p>
            <a:pPr algn="l" marL="0" indent="0" lvl="0">
              <a:lnSpc>
                <a:spcPts val="5203"/>
              </a:lnSpc>
            </a:pPr>
          </a:p>
        </p:txBody>
      </p:sp>
      <p:sp>
        <p:nvSpPr>
          <p:cNvPr name="Freeform 6" id="6"/>
          <p:cNvSpPr/>
          <p:nvPr/>
        </p:nvSpPr>
        <p:spPr>
          <a:xfrm flipH="false" flipV="false" rot="0">
            <a:off x="11893330" y="4977510"/>
            <a:ext cx="5365970" cy="5063524"/>
          </a:xfrm>
          <a:custGeom>
            <a:avLst/>
            <a:gdLst/>
            <a:ahLst/>
            <a:cxnLst/>
            <a:rect r="r" b="b" t="t" l="l"/>
            <a:pathLst>
              <a:path h="5063524" w="5365970">
                <a:moveTo>
                  <a:pt x="0" y="0"/>
                </a:moveTo>
                <a:lnTo>
                  <a:pt x="5365970" y="0"/>
                </a:lnTo>
                <a:lnTo>
                  <a:pt x="5365970" y="5063524"/>
                </a:lnTo>
                <a:lnTo>
                  <a:pt x="0" y="5063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954F"/>
        </a:solidFill>
      </p:bgPr>
    </p:bg>
    <p:spTree>
      <p:nvGrpSpPr>
        <p:cNvPr id="1" name=""/>
        <p:cNvGrpSpPr/>
        <p:nvPr/>
      </p:nvGrpSpPr>
      <p:grpSpPr>
        <a:xfrm>
          <a:off x="0" y="0"/>
          <a:ext cx="0" cy="0"/>
          <a:chOff x="0" y="0"/>
          <a:chExt cx="0" cy="0"/>
        </a:xfrm>
      </p:grpSpPr>
      <p:grpSp>
        <p:nvGrpSpPr>
          <p:cNvPr name="Group 2" id="2"/>
          <p:cNvGrpSpPr/>
          <p:nvPr/>
        </p:nvGrpSpPr>
        <p:grpSpPr>
          <a:xfrm rot="0">
            <a:off x="494233" y="379316"/>
            <a:ext cx="17299534" cy="9528368"/>
            <a:chOff x="0" y="0"/>
            <a:chExt cx="4556256" cy="2509529"/>
          </a:xfrm>
        </p:grpSpPr>
        <p:sp>
          <p:nvSpPr>
            <p:cNvPr name="Freeform 3" id="3"/>
            <p:cNvSpPr/>
            <p:nvPr/>
          </p:nvSpPr>
          <p:spPr>
            <a:xfrm flipH="false" flipV="false" rot="0">
              <a:off x="0" y="0"/>
              <a:ext cx="4556256" cy="2509529"/>
            </a:xfrm>
            <a:custGeom>
              <a:avLst/>
              <a:gdLst/>
              <a:ahLst/>
              <a:cxnLst/>
              <a:rect r="r" b="b" t="t" l="l"/>
              <a:pathLst>
                <a:path h="2509529" w="4556256">
                  <a:moveTo>
                    <a:pt x="15216" y="0"/>
                  </a:moveTo>
                  <a:lnTo>
                    <a:pt x="4541040" y="0"/>
                  </a:lnTo>
                  <a:cubicBezTo>
                    <a:pt x="4549443" y="0"/>
                    <a:pt x="4556256" y="6812"/>
                    <a:pt x="4556256" y="15216"/>
                  </a:cubicBezTo>
                  <a:lnTo>
                    <a:pt x="4556256" y="2494313"/>
                  </a:lnTo>
                  <a:cubicBezTo>
                    <a:pt x="4556256" y="2498349"/>
                    <a:pt x="4554653" y="2502219"/>
                    <a:pt x="4551799" y="2505072"/>
                  </a:cubicBezTo>
                  <a:cubicBezTo>
                    <a:pt x="4548946" y="2507926"/>
                    <a:pt x="4545075" y="2509529"/>
                    <a:pt x="4541040" y="2509529"/>
                  </a:cubicBezTo>
                  <a:lnTo>
                    <a:pt x="15216" y="2509529"/>
                  </a:lnTo>
                  <a:cubicBezTo>
                    <a:pt x="6812" y="2509529"/>
                    <a:pt x="0" y="2502717"/>
                    <a:pt x="0" y="2494313"/>
                  </a:cubicBezTo>
                  <a:lnTo>
                    <a:pt x="0" y="15216"/>
                  </a:lnTo>
                  <a:cubicBezTo>
                    <a:pt x="0" y="11180"/>
                    <a:pt x="1603" y="7310"/>
                    <a:pt x="4457" y="4457"/>
                  </a:cubicBezTo>
                  <a:cubicBezTo>
                    <a:pt x="7310" y="1603"/>
                    <a:pt x="11180" y="0"/>
                    <a:pt x="15216" y="0"/>
                  </a:cubicBezTo>
                  <a:close/>
                </a:path>
              </a:pathLst>
            </a:custGeom>
            <a:solidFill>
              <a:srgbClr val="FFE0B7"/>
            </a:solidFill>
            <a:ln cap="rnd">
              <a:noFill/>
              <a:prstDash val="solid"/>
              <a:round/>
            </a:ln>
          </p:spPr>
        </p:sp>
        <p:sp>
          <p:nvSpPr>
            <p:cNvPr name="TextBox 4" id="4"/>
            <p:cNvSpPr txBox="true"/>
            <p:nvPr/>
          </p:nvSpPr>
          <p:spPr>
            <a:xfrm>
              <a:off x="0" y="-38100"/>
              <a:ext cx="4556256" cy="254762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893640" y="1660454"/>
            <a:ext cx="11518889" cy="7597846"/>
          </a:xfrm>
          <a:prstGeom prst="rect">
            <a:avLst/>
          </a:prstGeom>
        </p:spPr>
        <p:txBody>
          <a:bodyPr anchor="t" rtlCol="false" tIns="0" lIns="0" bIns="0" rIns="0">
            <a:spAutoFit/>
          </a:bodyPr>
          <a:lstStyle/>
          <a:p>
            <a:pPr algn="l" marL="561312" indent="-280656" lvl="1">
              <a:lnSpc>
                <a:spcPts val="4003"/>
              </a:lnSpc>
              <a:buFont typeface="Arial"/>
              <a:buChar char="•"/>
            </a:pPr>
            <a:r>
              <a:rPr lang="en-US" sz="2599">
                <a:solidFill>
                  <a:srgbClr val="000000"/>
                </a:solidFill>
                <a:latin typeface="Canva Sans"/>
                <a:ea typeface="Canva Sans"/>
                <a:cs typeface="Canva Sans"/>
                <a:sym typeface="Canva Sans"/>
              </a:rPr>
              <a:t>Tidak memiliki aturan baku secara sintaks, sehingga setiap tim pengembang dapat menyusun pseudocode sesuai gaya dan preferensi mereka. </a:t>
            </a:r>
          </a:p>
          <a:p>
            <a:pPr algn="l" marL="561312" indent="-280656" lvl="1">
              <a:lnSpc>
                <a:spcPts val="4003"/>
              </a:lnSpc>
              <a:buFont typeface="Arial"/>
              <a:buChar char="•"/>
            </a:pPr>
            <a:r>
              <a:rPr lang="en-US" sz="2599">
                <a:solidFill>
                  <a:srgbClr val="000000"/>
                </a:solidFill>
                <a:latin typeface="Canva Sans"/>
                <a:ea typeface="Canva Sans"/>
                <a:cs typeface="Canva Sans"/>
                <a:sym typeface="Canva Sans"/>
              </a:rPr>
              <a:t>Pseudocode umumnya ditulis dengan bahasa Inggris untuk memudahkan integrasi ke dalam bahasa pemrograman.</a:t>
            </a:r>
          </a:p>
          <a:p>
            <a:pPr algn="l" marL="561312" indent="-280656" lvl="1">
              <a:lnSpc>
                <a:spcPts val="4003"/>
              </a:lnSpc>
              <a:buFont typeface="Arial"/>
              <a:buChar char="•"/>
            </a:pPr>
            <a:r>
              <a:rPr lang="en-US" sz="2599">
                <a:solidFill>
                  <a:srgbClr val="000000"/>
                </a:solidFill>
                <a:latin typeface="Canva Sans"/>
                <a:ea typeface="Canva Sans"/>
                <a:cs typeface="Canva Sans"/>
                <a:sym typeface="Canva Sans"/>
              </a:rPr>
              <a:t>Pseudocode bukan termasuk bahasa pemrograman karena hanya berfungsi sebagai kode semu yang bersifat sementara. </a:t>
            </a:r>
          </a:p>
          <a:p>
            <a:pPr algn="l" marL="561312" indent="-280656" lvl="1">
              <a:lnSpc>
                <a:spcPts val="4003"/>
              </a:lnSpc>
              <a:buFont typeface="Arial"/>
              <a:buChar char="•"/>
            </a:pPr>
            <a:r>
              <a:rPr lang="en-US" sz="2599">
                <a:solidFill>
                  <a:srgbClr val="000000"/>
                </a:solidFill>
                <a:latin typeface="Canva Sans"/>
                <a:ea typeface="Canva Sans"/>
                <a:cs typeface="Canva Sans"/>
                <a:sym typeface="Canva Sans"/>
              </a:rPr>
              <a:t>Pseudocode umumnya lebih ringkas dibandingkan dengan algoritma dalam bahasa pemrograman yang sesungguhnya</a:t>
            </a:r>
          </a:p>
          <a:p>
            <a:pPr algn="l" marL="561312" indent="-280656" lvl="1">
              <a:lnSpc>
                <a:spcPts val="4003"/>
              </a:lnSpc>
              <a:buFont typeface="Arial"/>
              <a:buChar char="•"/>
            </a:pPr>
            <a:r>
              <a:rPr lang="en-US" sz="2599">
                <a:solidFill>
                  <a:srgbClr val="000000"/>
                </a:solidFill>
                <a:latin typeface="Canva Sans"/>
                <a:ea typeface="Canva Sans"/>
                <a:cs typeface="Canva Sans"/>
                <a:sym typeface="Canva Sans"/>
              </a:rPr>
              <a:t>Penulisannya tidak menggunakan bentuk diagram karena sering kali ditulis dalam urutan suatu kejadian atau permasalahan.</a:t>
            </a:r>
          </a:p>
          <a:p>
            <a:pPr algn="l" marL="561312" indent="-280656" lvl="1">
              <a:lnSpc>
                <a:spcPts val="4003"/>
              </a:lnSpc>
              <a:buFont typeface="Arial"/>
              <a:buChar char="•"/>
            </a:pPr>
            <a:r>
              <a:rPr lang="en-US" sz="2599">
                <a:solidFill>
                  <a:srgbClr val="000000"/>
                </a:solidFill>
                <a:latin typeface="Canva Sans"/>
                <a:ea typeface="Canva Sans"/>
                <a:cs typeface="Canva Sans"/>
                <a:sym typeface="Canva Sans"/>
              </a:rPr>
              <a:t>Pseudocode menggunakan bahasa yang mudah dipahami secara universal sehingga dapat diakses dan dimengerti oleh berbagai pihak, terlepas dari latar belakang pemrograman mereka.</a:t>
            </a:r>
          </a:p>
          <a:p>
            <a:pPr algn="l" marL="0" indent="0" lvl="0">
              <a:lnSpc>
                <a:spcPts val="4003"/>
              </a:lnSpc>
            </a:pPr>
          </a:p>
        </p:txBody>
      </p:sp>
      <p:sp>
        <p:nvSpPr>
          <p:cNvPr name="Freeform 6" id="6"/>
          <p:cNvSpPr/>
          <p:nvPr/>
        </p:nvSpPr>
        <p:spPr>
          <a:xfrm flipH="false" flipV="false" rot="0">
            <a:off x="12568975" y="5143500"/>
            <a:ext cx="4690325" cy="4830859"/>
          </a:xfrm>
          <a:custGeom>
            <a:avLst/>
            <a:gdLst/>
            <a:ahLst/>
            <a:cxnLst/>
            <a:rect r="r" b="b" t="t" l="l"/>
            <a:pathLst>
              <a:path h="4830859" w="4690325">
                <a:moveTo>
                  <a:pt x="0" y="0"/>
                </a:moveTo>
                <a:lnTo>
                  <a:pt x="4690325" y="0"/>
                </a:lnTo>
                <a:lnTo>
                  <a:pt x="4690325" y="4830859"/>
                </a:lnTo>
                <a:lnTo>
                  <a:pt x="0" y="4830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893640" y="428625"/>
            <a:ext cx="11023662" cy="1057275"/>
          </a:xfrm>
          <a:prstGeom prst="rect">
            <a:avLst/>
          </a:prstGeom>
        </p:spPr>
        <p:txBody>
          <a:bodyPr anchor="t" rtlCol="false" tIns="0" lIns="0" bIns="0" rIns="0">
            <a:spAutoFit/>
          </a:bodyPr>
          <a:lstStyle/>
          <a:p>
            <a:pPr algn="l" marL="0" indent="0" lvl="0">
              <a:lnSpc>
                <a:spcPts val="8400"/>
              </a:lnSpc>
              <a:spcBef>
                <a:spcPct val="0"/>
              </a:spcBef>
            </a:pPr>
            <a:r>
              <a:rPr lang="en-US" sz="6000">
                <a:solidFill>
                  <a:srgbClr val="000000"/>
                </a:solidFill>
                <a:latin typeface="Bobby Jones"/>
                <a:ea typeface="Bobby Jones"/>
                <a:cs typeface="Bobby Jones"/>
                <a:sym typeface="Bobby Jones"/>
              </a:rPr>
              <a:t>Ciri-Ciri Pseudocode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954F"/>
        </a:solidFill>
      </p:bgPr>
    </p:bg>
    <p:spTree>
      <p:nvGrpSpPr>
        <p:cNvPr id="1" name=""/>
        <p:cNvGrpSpPr/>
        <p:nvPr/>
      </p:nvGrpSpPr>
      <p:grpSpPr>
        <a:xfrm>
          <a:off x="0" y="0"/>
          <a:ext cx="0" cy="0"/>
          <a:chOff x="0" y="0"/>
          <a:chExt cx="0" cy="0"/>
        </a:xfrm>
      </p:grpSpPr>
      <p:grpSp>
        <p:nvGrpSpPr>
          <p:cNvPr name="Group 2" id="2"/>
          <p:cNvGrpSpPr/>
          <p:nvPr/>
        </p:nvGrpSpPr>
        <p:grpSpPr>
          <a:xfrm rot="0">
            <a:off x="494233" y="379316"/>
            <a:ext cx="17299534" cy="9528368"/>
            <a:chOff x="0" y="0"/>
            <a:chExt cx="4556256" cy="2509529"/>
          </a:xfrm>
        </p:grpSpPr>
        <p:sp>
          <p:nvSpPr>
            <p:cNvPr name="Freeform 3" id="3"/>
            <p:cNvSpPr/>
            <p:nvPr/>
          </p:nvSpPr>
          <p:spPr>
            <a:xfrm flipH="false" flipV="false" rot="0">
              <a:off x="0" y="0"/>
              <a:ext cx="4556256" cy="2509529"/>
            </a:xfrm>
            <a:custGeom>
              <a:avLst/>
              <a:gdLst/>
              <a:ahLst/>
              <a:cxnLst/>
              <a:rect r="r" b="b" t="t" l="l"/>
              <a:pathLst>
                <a:path h="2509529" w="4556256">
                  <a:moveTo>
                    <a:pt x="15216" y="0"/>
                  </a:moveTo>
                  <a:lnTo>
                    <a:pt x="4541040" y="0"/>
                  </a:lnTo>
                  <a:cubicBezTo>
                    <a:pt x="4549443" y="0"/>
                    <a:pt x="4556256" y="6812"/>
                    <a:pt x="4556256" y="15216"/>
                  </a:cubicBezTo>
                  <a:lnTo>
                    <a:pt x="4556256" y="2494313"/>
                  </a:lnTo>
                  <a:cubicBezTo>
                    <a:pt x="4556256" y="2498349"/>
                    <a:pt x="4554653" y="2502219"/>
                    <a:pt x="4551799" y="2505072"/>
                  </a:cubicBezTo>
                  <a:cubicBezTo>
                    <a:pt x="4548946" y="2507926"/>
                    <a:pt x="4545075" y="2509529"/>
                    <a:pt x="4541040" y="2509529"/>
                  </a:cubicBezTo>
                  <a:lnTo>
                    <a:pt x="15216" y="2509529"/>
                  </a:lnTo>
                  <a:cubicBezTo>
                    <a:pt x="6812" y="2509529"/>
                    <a:pt x="0" y="2502717"/>
                    <a:pt x="0" y="2494313"/>
                  </a:cubicBezTo>
                  <a:lnTo>
                    <a:pt x="0" y="15216"/>
                  </a:lnTo>
                  <a:cubicBezTo>
                    <a:pt x="0" y="11180"/>
                    <a:pt x="1603" y="7310"/>
                    <a:pt x="4457" y="4457"/>
                  </a:cubicBezTo>
                  <a:cubicBezTo>
                    <a:pt x="7310" y="1603"/>
                    <a:pt x="11180" y="0"/>
                    <a:pt x="15216" y="0"/>
                  </a:cubicBezTo>
                  <a:close/>
                </a:path>
              </a:pathLst>
            </a:custGeom>
            <a:solidFill>
              <a:srgbClr val="FFE0B7"/>
            </a:solidFill>
            <a:ln cap="rnd">
              <a:noFill/>
              <a:prstDash val="solid"/>
              <a:round/>
            </a:ln>
          </p:spPr>
        </p:sp>
        <p:sp>
          <p:nvSpPr>
            <p:cNvPr name="TextBox 4" id="4"/>
            <p:cNvSpPr txBox="true"/>
            <p:nvPr/>
          </p:nvSpPr>
          <p:spPr>
            <a:xfrm>
              <a:off x="0" y="-38100"/>
              <a:ext cx="4556256" cy="254762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166728" y="1544760"/>
            <a:ext cx="10776212" cy="1359949"/>
          </a:xfrm>
          <a:prstGeom prst="rect">
            <a:avLst/>
          </a:prstGeom>
        </p:spPr>
        <p:txBody>
          <a:bodyPr anchor="t" rtlCol="false" tIns="0" lIns="0" bIns="0" rIns="0">
            <a:spAutoFit/>
          </a:bodyPr>
          <a:lstStyle/>
          <a:p>
            <a:pPr algn="l" marL="0" indent="0" lvl="0">
              <a:lnSpc>
                <a:spcPts val="3643"/>
              </a:lnSpc>
            </a:pPr>
            <a:r>
              <a:rPr lang="en-US" sz="2365">
                <a:solidFill>
                  <a:srgbClr val="000000"/>
                </a:solidFill>
                <a:latin typeface="Canva Sans"/>
                <a:ea typeface="Canva Sans"/>
                <a:cs typeface="Canva Sans"/>
                <a:sym typeface="Canva Sans"/>
              </a:rPr>
              <a:t>Pseudocode adalah kode semu yang membantu tim developer memahami alur dan logika dalam proses pengembangan program sebelum diubah menjadi script bahasa pemrograman yang sebenarnya.</a:t>
            </a:r>
          </a:p>
        </p:txBody>
      </p:sp>
      <p:sp>
        <p:nvSpPr>
          <p:cNvPr name="Freeform 6" id="6"/>
          <p:cNvSpPr/>
          <p:nvPr/>
        </p:nvSpPr>
        <p:spPr>
          <a:xfrm flipH="false" flipV="false" rot="0">
            <a:off x="13076526" y="4399112"/>
            <a:ext cx="3446516" cy="5575247"/>
          </a:xfrm>
          <a:custGeom>
            <a:avLst/>
            <a:gdLst/>
            <a:ahLst/>
            <a:cxnLst/>
            <a:rect r="r" b="b" t="t" l="l"/>
            <a:pathLst>
              <a:path h="5575247" w="3446516">
                <a:moveTo>
                  <a:pt x="0" y="0"/>
                </a:moveTo>
                <a:lnTo>
                  <a:pt x="3446516" y="0"/>
                </a:lnTo>
                <a:lnTo>
                  <a:pt x="3446516" y="5575247"/>
                </a:lnTo>
                <a:lnTo>
                  <a:pt x="0" y="55752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58580" y="428625"/>
            <a:ext cx="11023662" cy="1057275"/>
          </a:xfrm>
          <a:prstGeom prst="rect">
            <a:avLst/>
          </a:prstGeom>
        </p:spPr>
        <p:txBody>
          <a:bodyPr anchor="t" rtlCol="false" tIns="0" lIns="0" bIns="0" rIns="0">
            <a:spAutoFit/>
          </a:bodyPr>
          <a:lstStyle/>
          <a:p>
            <a:pPr algn="l" marL="0" indent="0" lvl="0">
              <a:lnSpc>
                <a:spcPts val="8400"/>
              </a:lnSpc>
              <a:spcBef>
                <a:spcPct val="0"/>
              </a:spcBef>
            </a:pPr>
            <a:r>
              <a:rPr lang="en-US" sz="6000">
                <a:solidFill>
                  <a:srgbClr val="000000"/>
                </a:solidFill>
                <a:latin typeface="Bobby Jones"/>
                <a:ea typeface="Bobby Jones"/>
                <a:cs typeface="Bobby Jones"/>
                <a:sym typeface="Bobby Jones"/>
              </a:rPr>
              <a:t>FUNGSI PSEUDOCODE</a:t>
            </a:r>
          </a:p>
        </p:txBody>
      </p:sp>
      <p:sp>
        <p:nvSpPr>
          <p:cNvPr name="TextBox 8" id="8"/>
          <p:cNvSpPr txBox="true"/>
          <p:nvPr/>
        </p:nvSpPr>
        <p:spPr>
          <a:xfrm rot="0">
            <a:off x="758580" y="3295373"/>
            <a:ext cx="10776212" cy="436010"/>
          </a:xfrm>
          <a:prstGeom prst="rect">
            <a:avLst/>
          </a:prstGeom>
        </p:spPr>
        <p:txBody>
          <a:bodyPr anchor="t" rtlCol="false" tIns="0" lIns="0" bIns="0" rIns="0">
            <a:spAutoFit/>
          </a:bodyPr>
          <a:lstStyle/>
          <a:p>
            <a:pPr algn="l" marL="0" indent="0" lvl="0">
              <a:lnSpc>
                <a:spcPts val="3643"/>
              </a:lnSpc>
            </a:pPr>
            <a:r>
              <a:rPr lang="en-US" sz="2365">
                <a:solidFill>
                  <a:srgbClr val="000000"/>
                </a:solidFill>
                <a:latin typeface="Canva Sans"/>
                <a:ea typeface="Canva Sans"/>
                <a:cs typeface="Canva Sans"/>
                <a:sym typeface="Canva Sans"/>
              </a:rPr>
              <a:t>fungsi pseudocode bagi tim programmer :</a:t>
            </a:r>
          </a:p>
        </p:txBody>
      </p:sp>
      <p:sp>
        <p:nvSpPr>
          <p:cNvPr name="TextBox 9" id="9"/>
          <p:cNvSpPr txBox="true"/>
          <p:nvPr/>
        </p:nvSpPr>
        <p:spPr>
          <a:xfrm rot="0">
            <a:off x="882305" y="4121908"/>
            <a:ext cx="10776212" cy="5055705"/>
          </a:xfrm>
          <a:prstGeom prst="rect">
            <a:avLst/>
          </a:prstGeom>
        </p:spPr>
        <p:txBody>
          <a:bodyPr anchor="t" rtlCol="false" tIns="0" lIns="0" bIns="0" rIns="0">
            <a:spAutoFit/>
          </a:bodyPr>
          <a:lstStyle/>
          <a:p>
            <a:pPr algn="l">
              <a:lnSpc>
                <a:spcPts val="3643"/>
              </a:lnSpc>
            </a:pPr>
            <a:r>
              <a:rPr lang="en-US" sz="2365">
                <a:solidFill>
                  <a:srgbClr val="000000"/>
                </a:solidFill>
                <a:latin typeface="Canva Sans"/>
                <a:ea typeface="Canva Sans"/>
                <a:cs typeface="Canva Sans"/>
                <a:sym typeface="Canva Sans"/>
              </a:rPr>
              <a:t>1. Dokumentasi Awal dari Pengembangan Program</a:t>
            </a:r>
          </a:p>
          <a:p>
            <a:pPr algn="l">
              <a:lnSpc>
                <a:spcPts val="3643"/>
              </a:lnSpc>
            </a:pPr>
          </a:p>
          <a:p>
            <a:pPr algn="l">
              <a:lnSpc>
                <a:spcPts val="3643"/>
              </a:lnSpc>
            </a:pPr>
            <a:r>
              <a:rPr lang="en-US" sz="2365">
                <a:solidFill>
                  <a:srgbClr val="000000"/>
                </a:solidFill>
                <a:latin typeface="Canva Sans"/>
                <a:ea typeface="Canva Sans"/>
                <a:cs typeface="Canva Sans"/>
                <a:sym typeface="Canva Sans"/>
              </a:rPr>
              <a:t>Fungsi pertama pseudocode adalah sebagai dokumentasi awal yang digunakan dalam pengembangan program. </a:t>
            </a:r>
          </a:p>
          <a:p>
            <a:pPr algn="l">
              <a:lnSpc>
                <a:spcPts val="3643"/>
              </a:lnSpc>
            </a:pPr>
            <a:r>
              <a:rPr lang="en-US" sz="2365">
                <a:solidFill>
                  <a:srgbClr val="000000"/>
                </a:solidFill>
                <a:latin typeface="Canva Sans"/>
                <a:ea typeface="Canva Sans"/>
                <a:cs typeface="Canva Sans"/>
                <a:sym typeface="Canva Sans"/>
              </a:rPr>
              <a:t>Artinya, sebelum programmer mulai menulis kode sebenarnya dalam bahasa pemrograman tertentu, mereka dapat menggambarkan langkah-langkah dan alur kerja program menggunakan pseudocode. </a:t>
            </a:r>
          </a:p>
          <a:p>
            <a:pPr algn="l">
              <a:lnSpc>
                <a:spcPts val="3643"/>
              </a:lnSpc>
            </a:pPr>
            <a:r>
              <a:rPr lang="en-US" sz="2365">
                <a:solidFill>
                  <a:srgbClr val="000000"/>
                </a:solidFill>
                <a:latin typeface="Canva Sans"/>
                <a:ea typeface="Canva Sans"/>
                <a:cs typeface="Canva Sans"/>
                <a:sym typeface="Canva Sans"/>
              </a:rPr>
              <a:t>Maka dari itu, pseudocode umumnya sangat berman</a:t>
            </a:r>
            <a:r>
              <a:rPr lang="en-US" sz="2365">
                <a:solidFill>
                  <a:srgbClr val="000000"/>
                </a:solidFill>
                <a:latin typeface="Canva Sans"/>
                <a:ea typeface="Canva Sans"/>
                <a:cs typeface="Canva Sans"/>
                <a:sym typeface="Canva Sans"/>
              </a:rPr>
              <a:t>faat dalam proses perancangan dan dokumentasi rencana kerja sebelum melakukan implementasi yang lebih rinci.</a:t>
            </a:r>
          </a:p>
          <a:p>
            <a:pPr algn="l" marL="0" indent="0" lvl="0">
              <a:lnSpc>
                <a:spcPts val="3643"/>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954F"/>
        </a:solidFill>
      </p:bgPr>
    </p:bg>
    <p:spTree>
      <p:nvGrpSpPr>
        <p:cNvPr id="1" name=""/>
        <p:cNvGrpSpPr/>
        <p:nvPr/>
      </p:nvGrpSpPr>
      <p:grpSpPr>
        <a:xfrm>
          <a:off x="0" y="0"/>
          <a:ext cx="0" cy="0"/>
          <a:chOff x="0" y="0"/>
          <a:chExt cx="0" cy="0"/>
        </a:xfrm>
      </p:grpSpPr>
      <p:grpSp>
        <p:nvGrpSpPr>
          <p:cNvPr name="Group 2" id="2"/>
          <p:cNvGrpSpPr/>
          <p:nvPr/>
        </p:nvGrpSpPr>
        <p:grpSpPr>
          <a:xfrm rot="0">
            <a:off x="494233" y="379316"/>
            <a:ext cx="17299534" cy="9528368"/>
            <a:chOff x="0" y="0"/>
            <a:chExt cx="4556256" cy="2509529"/>
          </a:xfrm>
        </p:grpSpPr>
        <p:sp>
          <p:nvSpPr>
            <p:cNvPr name="Freeform 3" id="3"/>
            <p:cNvSpPr/>
            <p:nvPr/>
          </p:nvSpPr>
          <p:spPr>
            <a:xfrm flipH="false" flipV="false" rot="0">
              <a:off x="0" y="0"/>
              <a:ext cx="4556256" cy="2509529"/>
            </a:xfrm>
            <a:custGeom>
              <a:avLst/>
              <a:gdLst/>
              <a:ahLst/>
              <a:cxnLst/>
              <a:rect r="r" b="b" t="t" l="l"/>
              <a:pathLst>
                <a:path h="2509529" w="4556256">
                  <a:moveTo>
                    <a:pt x="15216" y="0"/>
                  </a:moveTo>
                  <a:lnTo>
                    <a:pt x="4541040" y="0"/>
                  </a:lnTo>
                  <a:cubicBezTo>
                    <a:pt x="4549443" y="0"/>
                    <a:pt x="4556256" y="6812"/>
                    <a:pt x="4556256" y="15216"/>
                  </a:cubicBezTo>
                  <a:lnTo>
                    <a:pt x="4556256" y="2494313"/>
                  </a:lnTo>
                  <a:cubicBezTo>
                    <a:pt x="4556256" y="2498349"/>
                    <a:pt x="4554653" y="2502219"/>
                    <a:pt x="4551799" y="2505072"/>
                  </a:cubicBezTo>
                  <a:cubicBezTo>
                    <a:pt x="4548946" y="2507926"/>
                    <a:pt x="4545075" y="2509529"/>
                    <a:pt x="4541040" y="2509529"/>
                  </a:cubicBezTo>
                  <a:lnTo>
                    <a:pt x="15216" y="2509529"/>
                  </a:lnTo>
                  <a:cubicBezTo>
                    <a:pt x="6812" y="2509529"/>
                    <a:pt x="0" y="2502717"/>
                    <a:pt x="0" y="2494313"/>
                  </a:cubicBezTo>
                  <a:lnTo>
                    <a:pt x="0" y="15216"/>
                  </a:lnTo>
                  <a:cubicBezTo>
                    <a:pt x="0" y="11180"/>
                    <a:pt x="1603" y="7310"/>
                    <a:pt x="4457" y="4457"/>
                  </a:cubicBezTo>
                  <a:cubicBezTo>
                    <a:pt x="7310" y="1603"/>
                    <a:pt x="11180" y="0"/>
                    <a:pt x="15216" y="0"/>
                  </a:cubicBezTo>
                  <a:close/>
                </a:path>
              </a:pathLst>
            </a:custGeom>
            <a:solidFill>
              <a:srgbClr val="FFE0B7"/>
            </a:solidFill>
            <a:ln cap="rnd">
              <a:noFill/>
              <a:prstDash val="solid"/>
              <a:round/>
            </a:ln>
          </p:spPr>
        </p:sp>
        <p:sp>
          <p:nvSpPr>
            <p:cNvPr name="TextBox 4" id="4"/>
            <p:cNvSpPr txBox="true"/>
            <p:nvPr/>
          </p:nvSpPr>
          <p:spPr>
            <a:xfrm>
              <a:off x="0" y="-38100"/>
              <a:ext cx="4556256" cy="254762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736069" y="652634"/>
            <a:ext cx="13758562" cy="3530713"/>
          </a:xfrm>
          <a:prstGeom prst="rect">
            <a:avLst/>
          </a:prstGeom>
        </p:spPr>
        <p:txBody>
          <a:bodyPr anchor="t" rtlCol="false" tIns="0" lIns="0" bIns="0" rIns="0">
            <a:spAutoFit/>
          </a:bodyPr>
          <a:lstStyle/>
          <a:p>
            <a:pPr algn="l">
              <a:lnSpc>
                <a:spcPts val="3502"/>
              </a:lnSpc>
            </a:pPr>
            <a:r>
              <a:rPr lang="en-US" sz="2274">
                <a:solidFill>
                  <a:srgbClr val="000000"/>
                </a:solidFill>
                <a:latin typeface="Canva Sans"/>
                <a:ea typeface="Canva Sans"/>
                <a:cs typeface="Canva Sans"/>
                <a:sym typeface="Canva Sans"/>
              </a:rPr>
              <a:t>2. Mempermudah Keterbacaan Algoritma</a:t>
            </a:r>
          </a:p>
          <a:p>
            <a:pPr algn="l">
              <a:lnSpc>
                <a:spcPts val="3502"/>
              </a:lnSpc>
            </a:pPr>
          </a:p>
          <a:p>
            <a:pPr algn="l">
              <a:lnSpc>
                <a:spcPts val="3502"/>
              </a:lnSpc>
            </a:pPr>
            <a:r>
              <a:rPr lang="en-US" sz="2274">
                <a:solidFill>
                  <a:srgbClr val="000000"/>
                </a:solidFill>
                <a:latin typeface="Canva Sans"/>
                <a:ea typeface="Canva Sans"/>
                <a:cs typeface="Canva Sans"/>
                <a:sym typeface="Canva Sans"/>
              </a:rPr>
              <a:t>Jika dibandingkan dengan kode sumber yang ditulis dalam bahasa pemrograman, pseudocode dapat lebih mudah dipahami oleh berbagai pihak, termasuk tim programmer yang mungkin tidak terbiasa dengan bahasa pemrograman tertentu. </a:t>
            </a:r>
          </a:p>
          <a:p>
            <a:pPr algn="l">
              <a:lnSpc>
                <a:spcPts val="3502"/>
              </a:lnSpc>
            </a:pPr>
            <a:r>
              <a:rPr lang="en-US" sz="2274">
                <a:solidFill>
                  <a:srgbClr val="000000"/>
                </a:solidFill>
                <a:latin typeface="Canva Sans"/>
                <a:ea typeface="Canva Sans"/>
                <a:cs typeface="Canva Sans"/>
                <a:sym typeface="Canva Sans"/>
              </a:rPr>
              <a:t>Inilah mengapa struktur pseudocode sering digunakan dalam merancang prototype serta menggambarkan algoritma yang akan diimplementasikan dalam bahasa pemrograman tertentu</a:t>
            </a:r>
          </a:p>
          <a:p>
            <a:pPr algn="l" marL="0" indent="0" lvl="0">
              <a:lnSpc>
                <a:spcPts val="3502"/>
              </a:lnSpc>
            </a:pPr>
          </a:p>
        </p:txBody>
      </p:sp>
      <p:sp>
        <p:nvSpPr>
          <p:cNvPr name="Freeform 6" id="6"/>
          <p:cNvSpPr/>
          <p:nvPr/>
        </p:nvSpPr>
        <p:spPr>
          <a:xfrm flipH="false" flipV="false" rot="0">
            <a:off x="12568975" y="5143500"/>
            <a:ext cx="4690325" cy="4830859"/>
          </a:xfrm>
          <a:custGeom>
            <a:avLst/>
            <a:gdLst/>
            <a:ahLst/>
            <a:cxnLst/>
            <a:rect r="r" b="b" t="t" l="l"/>
            <a:pathLst>
              <a:path h="4830859" w="4690325">
                <a:moveTo>
                  <a:pt x="0" y="0"/>
                </a:moveTo>
                <a:lnTo>
                  <a:pt x="4690325" y="0"/>
                </a:lnTo>
                <a:lnTo>
                  <a:pt x="4690325" y="4830859"/>
                </a:lnTo>
                <a:lnTo>
                  <a:pt x="0" y="4830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444088" y="4107147"/>
            <a:ext cx="11124887" cy="5307073"/>
          </a:xfrm>
          <a:prstGeom prst="rect">
            <a:avLst/>
          </a:prstGeom>
        </p:spPr>
        <p:txBody>
          <a:bodyPr anchor="t" rtlCol="false" tIns="0" lIns="0" bIns="0" rIns="0">
            <a:spAutoFit/>
          </a:bodyPr>
          <a:lstStyle/>
          <a:p>
            <a:pPr algn="l">
              <a:lnSpc>
                <a:spcPts val="3502"/>
              </a:lnSpc>
            </a:pPr>
            <a:r>
              <a:rPr lang="en-US" sz="2274">
                <a:solidFill>
                  <a:srgbClr val="000000"/>
                </a:solidFill>
                <a:latin typeface="Canva Sans"/>
                <a:ea typeface="Canva Sans"/>
                <a:cs typeface="Canva Sans"/>
                <a:sym typeface="Canva Sans"/>
              </a:rPr>
              <a:t>3. Menafsirkan Alur Flowchart</a:t>
            </a:r>
          </a:p>
          <a:p>
            <a:pPr algn="l">
              <a:lnSpc>
                <a:spcPts val="3502"/>
              </a:lnSpc>
            </a:pPr>
          </a:p>
          <a:p>
            <a:pPr algn="l">
              <a:lnSpc>
                <a:spcPts val="3502"/>
              </a:lnSpc>
            </a:pPr>
            <a:r>
              <a:rPr lang="en-US" sz="2274">
                <a:solidFill>
                  <a:srgbClr val="000000"/>
                </a:solidFill>
                <a:latin typeface="Canva Sans"/>
                <a:ea typeface="Canva Sans"/>
                <a:cs typeface="Canva Sans"/>
                <a:sym typeface="Canva Sans"/>
              </a:rPr>
              <a:t>Dalam proses pengembangan program, pseudocode juga membantu merinci langkah-langkah yang harus diambil dalam suatu proses tanpa terikat pada bahasa pemrograman tertentu. </a:t>
            </a:r>
          </a:p>
          <a:p>
            <a:pPr algn="l">
              <a:lnSpc>
                <a:spcPts val="3502"/>
              </a:lnSpc>
            </a:pPr>
            <a:r>
              <a:rPr lang="en-US" sz="2274">
                <a:solidFill>
                  <a:srgbClr val="000000"/>
                </a:solidFill>
                <a:latin typeface="Canva Sans"/>
                <a:ea typeface="Canva Sans"/>
                <a:cs typeface="Canva Sans"/>
                <a:sym typeface="Canva Sans"/>
              </a:rPr>
              <a:t>Dengan pseudocode, pengembang dapat lebih mudah memahami konsep yang ada dalam </a:t>
            </a:r>
            <a:r>
              <a:rPr lang="en-US" sz="2274" u="sng">
                <a:solidFill>
                  <a:srgbClr val="000000"/>
                </a:solidFill>
                <a:latin typeface="Canva Sans"/>
                <a:ea typeface="Canva Sans"/>
                <a:cs typeface="Canva Sans"/>
                <a:sym typeface="Canva Sans"/>
                <a:hlinkClick r:id="rId4" tooltip="https://cmlabs.co/id-id/seo-guidelines/apa-itu-flowchart"/>
              </a:rPr>
              <a:t>flowchart</a:t>
            </a:r>
            <a:r>
              <a:rPr lang="en-US" sz="2274">
                <a:solidFill>
                  <a:srgbClr val="000000"/>
                </a:solidFill>
                <a:latin typeface="Canva Sans"/>
                <a:ea typeface="Canva Sans"/>
                <a:cs typeface="Canva Sans"/>
                <a:sym typeface="Canva Sans"/>
              </a:rPr>
              <a:t> dengan sintaks dan logika kode yang diperlukan dalam bahasa pemrograman tertentu. </a:t>
            </a:r>
          </a:p>
          <a:p>
            <a:pPr algn="l">
              <a:lnSpc>
                <a:spcPts val="3502"/>
              </a:lnSpc>
            </a:pPr>
            <a:r>
              <a:rPr lang="en-US" sz="2274">
                <a:solidFill>
                  <a:srgbClr val="000000"/>
                </a:solidFill>
                <a:latin typeface="Canva Sans"/>
                <a:ea typeface="Canva Sans"/>
                <a:cs typeface="Canva Sans"/>
                <a:sym typeface="Canva Sans"/>
              </a:rPr>
              <a:t>Ini membuat proses pengembangan perangkat lunak menjadi lebih mulus dan dapat membantu mengurangi potensi kesalahan atau kesalahpahaman yang mungkin timbul ketika mengonversi alur diagram ke kode yang sebenarnya.</a:t>
            </a:r>
          </a:p>
          <a:p>
            <a:pPr algn="l" marL="0" indent="0" lvl="0">
              <a:lnSpc>
                <a:spcPts val="3502"/>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954F"/>
        </a:solidFill>
      </p:bgPr>
    </p:bg>
    <p:spTree>
      <p:nvGrpSpPr>
        <p:cNvPr id="1" name=""/>
        <p:cNvGrpSpPr/>
        <p:nvPr/>
      </p:nvGrpSpPr>
      <p:grpSpPr>
        <a:xfrm>
          <a:off x="0" y="0"/>
          <a:ext cx="0" cy="0"/>
          <a:chOff x="0" y="0"/>
          <a:chExt cx="0" cy="0"/>
        </a:xfrm>
      </p:grpSpPr>
      <p:grpSp>
        <p:nvGrpSpPr>
          <p:cNvPr name="Group 2" id="2"/>
          <p:cNvGrpSpPr/>
          <p:nvPr/>
        </p:nvGrpSpPr>
        <p:grpSpPr>
          <a:xfrm rot="0">
            <a:off x="494233" y="379316"/>
            <a:ext cx="17299534" cy="9528368"/>
            <a:chOff x="0" y="0"/>
            <a:chExt cx="4556256" cy="2509529"/>
          </a:xfrm>
        </p:grpSpPr>
        <p:sp>
          <p:nvSpPr>
            <p:cNvPr name="Freeform 3" id="3"/>
            <p:cNvSpPr/>
            <p:nvPr/>
          </p:nvSpPr>
          <p:spPr>
            <a:xfrm flipH="false" flipV="false" rot="0">
              <a:off x="0" y="0"/>
              <a:ext cx="4556256" cy="2509529"/>
            </a:xfrm>
            <a:custGeom>
              <a:avLst/>
              <a:gdLst/>
              <a:ahLst/>
              <a:cxnLst/>
              <a:rect r="r" b="b" t="t" l="l"/>
              <a:pathLst>
                <a:path h="2509529" w="4556256">
                  <a:moveTo>
                    <a:pt x="15216" y="0"/>
                  </a:moveTo>
                  <a:lnTo>
                    <a:pt x="4541040" y="0"/>
                  </a:lnTo>
                  <a:cubicBezTo>
                    <a:pt x="4549443" y="0"/>
                    <a:pt x="4556256" y="6812"/>
                    <a:pt x="4556256" y="15216"/>
                  </a:cubicBezTo>
                  <a:lnTo>
                    <a:pt x="4556256" y="2494313"/>
                  </a:lnTo>
                  <a:cubicBezTo>
                    <a:pt x="4556256" y="2498349"/>
                    <a:pt x="4554653" y="2502219"/>
                    <a:pt x="4551799" y="2505072"/>
                  </a:cubicBezTo>
                  <a:cubicBezTo>
                    <a:pt x="4548946" y="2507926"/>
                    <a:pt x="4545075" y="2509529"/>
                    <a:pt x="4541040" y="2509529"/>
                  </a:cubicBezTo>
                  <a:lnTo>
                    <a:pt x="15216" y="2509529"/>
                  </a:lnTo>
                  <a:cubicBezTo>
                    <a:pt x="6812" y="2509529"/>
                    <a:pt x="0" y="2502717"/>
                    <a:pt x="0" y="2494313"/>
                  </a:cubicBezTo>
                  <a:lnTo>
                    <a:pt x="0" y="15216"/>
                  </a:lnTo>
                  <a:cubicBezTo>
                    <a:pt x="0" y="11180"/>
                    <a:pt x="1603" y="7310"/>
                    <a:pt x="4457" y="4457"/>
                  </a:cubicBezTo>
                  <a:cubicBezTo>
                    <a:pt x="7310" y="1603"/>
                    <a:pt x="11180" y="0"/>
                    <a:pt x="15216" y="0"/>
                  </a:cubicBezTo>
                  <a:close/>
                </a:path>
              </a:pathLst>
            </a:custGeom>
            <a:solidFill>
              <a:srgbClr val="FFE0B7"/>
            </a:solidFill>
            <a:ln cap="rnd">
              <a:noFill/>
              <a:prstDash val="solid"/>
              <a:round/>
            </a:ln>
          </p:spPr>
        </p:sp>
        <p:sp>
          <p:nvSpPr>
            <p:cNvPr name="TextBox 4" id="4"/>
            <p:cNvSpPr txBox="true"/>
            <p:nvPr/>
          </p:nvSpPr>
          <p:spPr>
            <a:xfrm>
              <a:off x="0" y="-38100"/>
              <a:ext cx="4556256" cy="254762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803600" y="569809"/>
            <a:ext cx="11765376" cy="9404549"/>
          </a:xfrm>
          <a:prstGeom prst="rect">
            <a:avLst/>
          </a:prstGeom>
        </p:spPr>
        <p:txBody>
          <a:bodyPr anchor="t" rtlCol="false" tIns="0" lIns="0" bIns="0" rIns="0">
            <a:spAutoFit/>
          </a:bodyPr>
          <a:lstStyle/>
          <a:p>
            <a:pPr algn="l">
              <a:lnSpc>
                <a:spcPts val="3233"/>
              </a:lnSpc>
            </a:pPr>
            <a:r>
              <a:rPr lang="en-US" sz="2099">
                <a:solidFill>
                  <a:srgbClr val="000000"/>
                </a:solidFill>
                <a:latin typeface="Canva Sans"/>
                <a:ea typeface="Canva Sans"/>
                <a:cs typeface="Canva Sans"/>
                <a:sym typeface="Canva Sans"/>
              </a:rPr>
              <a:t>4. Memudahkan Komunikasi Antar Tim </a:t>
            </a:r>
          </a:p>
          <a:p>
            <a:pPr algn="l">
              <a:lnSpc>
                <a:spcPts val="3233"/>
              </a:lnSpc>
            </a:pPr>
          </a:p>
          <a:p>
            <a:pPr algn="l">
              <a:lnSpc>
                <a:spcPts val="3233"/>
              </a:lnSpc>
            </a:pPr>
            <a:r>
              <a:rPr lang="en-US" sz="2099">
                <a:solidFill>
                  <a:srgbClr val="000000"/>
                </a:solidFill>
                <a:latin typeface="Canva Sans"/>
                <a:ea typeface="Canva Sans"/>
                <a:cs typeface="Canva Sans"/>
                <a:sym typeface="Canva Sans"/>
              </a:rPr>
              <a:t>Salah satu tujuan utama digunakannya pseudocode adalah memfasilitasi komunikasi antar tim developer agar semakin efektif dan efisien. </a:t>
            </a:r>
          </a:p>
          <a:p>
            <a:pPr algn="l">
              <a:lnSpc>
                <a:spcPts val="3233"/>
              </a:lnSpc>
            </a:pPr>
            <a:r>
              <a:rPr lang="en-US" sz="2099">
                <a:solidFill>
                  <a:srgbClr val="000000"/>
                </a:solidFill>
                <a:latin typeface="Canva Sans"/>
                <a:ea typeface="Canva Sans"/>
                <a:cs typeface="Canva Sans"/>
                <a:sym typeface="Canva Sans"/>
              </a:rPr>
              <a:t>Pseudocode tidak disusun dengan bahasa pemrograman yang rumit sehingga sering kali digunakan untuk menjelaskan logika dan langkah-langkah algoritma tanpa harus terkungkung oleh bahasa pemrograman tertentu.</a:t>
            </a:r>
          </a:p>
          <a:p>
            <a:pPr algn="l">
              <a:lnSpc>
                <a:spcPts val="3233"/>
              </a:lnSpc>
            </a:pPr>
          </a:p>
          <a:p>
            <a:pPr algn="l">
              <a:lnSpc>
                <a:spcPts val="3233"/>
              </a:lnSpc>
            </a:pPr>
            <a:r>
              <a:rPr lang="en-US" sz="2099">
                <a:solidFill>
                  <a:srgbClr val="000000"/>
                </a:solidFill>
                <a:latin typeface="Canva Sans"/>
                <a:ea typeface="Canva Sans"/>
                <a:cs typeface="Canva Sans"/>
                <a:sym typeface="Canva Sans"/>
              </a:rPr>
              <a:t>5. Mengurangi Kesalahan Penulisan Kode</a:t>
            </a:r>
          </a:p>
          <a:p>
            <a:pPr algn="l">
              <a:lnSpc>
                <a:spcPts val="3233"/>
              </a:lnSpc>
            </a:pPr>
          </a:p>
          <a:p>
            <a:pPr algn="l">
              <a:lnSpc>
                <a:spcPts val="3233"/>
              </a:lnSpc>
            </a:pPr>
            <a:r>
              <a:rPr lang="en-US" sz="2099">
                <a:solidFill>
                  <a:srgbClr val="000000"/>
                </a:solidFill>
                <a:latin typeface="Canva Sans"/>
                <a:ea typeface="Canva Sans"/>
                <a:cs typeface="Canva Sans"/>
                <a:sym typeface="Canva Sans"/>
              </a:rPr>
              <a:t>Pada dasarnya, pseudocode adalah kode semu yang juga digunakan untuk membantu menavigasi keberadaan </a:t>
            </a:r>
            <a:r>
              <a:rPr lang="en-US" sz="2099" u="sng">
                <a:solidFill>
                  <a:srgbClr val="000000"/>
                </a:solidFill>
                <a:latin typeface="Canva Sans"/>
                <a:ea typeface="Canva Sans"/>
                <a:cs typeface="Canva Sans"/>
                <a:sym typeface="Canva Sans"/>
                <a:hlinkClick r:id="rId2" tooltip="https://cmlabs.co/id-id/seo-terms/apa-itu-bug"/>
              </a:rPr>
              <a:t>bug</a:t>
            </a:r>
            <a:r>
              <a:rPr lang="en-US" sz="2099">
                <a:solidFill>
                  <a:srgbClr val="000000"/>
                </a:solidFill>
                <a:latin typeface="Canva Sans"/>
                <a:ea typeface="Canva Sans"/>
                <a:cs typeface="Canva Sans"/>
                <a:sym typeface="Canva Sans"/>
              </a:rPr>
              <a:t> pada suatu program sebelum algoritma asli mulai disusun. Sehingga secara keseluruhan, penggunaan pseudocode juga dapat membantu mengurangi potensi waktu yang terbuang untuk </a:t>
            </a:r>
            <a:r>
              <a:rPr lang="en-US" sz="2099" u="sng">
                <a:solidFill>
                  <a:srgbClr val="000000"/>
                </a:solidFill>
                <a:latin typeface="Canva Sans"/>
                <a:ea typeface="Canva Sans"/>
                <a:cs typeface="Canva Sans"/>
                <a:sym typeface="Canva Sans"/>
                <a:hlinkClick r:id="rId3" tooltip="https://cmlabs.co/id-id/seo-guidelines/debugging-adalah"/>
              </a:rPr>
              <a:t>debugging</a:t>
            </a:r>
            <a:r>
              <a:rPr lang="en-US" sz="2099">
                <a:solidFill>
                  <a:srgbClr val="000000"/>
                </a:solidFill>
                <a:latin typeface="Canva Sans"/>
                <a:ea typeface="Canva Sans"/>
                <a:cs typeface="Canva Sans"/>
                <a:sym typeface="Canva Sans"/>
              </a:rPr>
              <a:t> dalam pengembangan perangkat lunak.</a:t>
            </a:r>
          </a:p>
          <a:p>
            <a:pPr algn="l">
              <a:lnSpc>
                <a:spcPts val="3233"/>
              </a:lnSpc>
            </a:pPr>
          </a:p>
          <a:p>
            <a:pPr algn="l">
              <a:lnSpc>
                <a:spcPts val="3233"/>
              </a:lnSpc>
            </a:pPr>
            <a:r>
              <a:rPr lang="en-US" sz="2099">
                <a:solidFill>
                  <a:srgbClr val="000000"/>
                </a:solidFill>
                <a:latin typeface="Canva Sans"/>
                <a:ea typeface="Canva Sans"/>
                <a:cs typeface="Canva Sans"/>
                <a:sym typeface="Canva Sans"/>
              </a:rPr>
              <a:t>6. Bersifat Universal dan Tidak Terikat pada Bahasa Pemrograman</a:t>
            </a:r>
          </a:p>
          <a:p>
            <a:pPr algn="l">
              <a:lnSpc>
                <a:spcPts val="3233"/>
              </a:lnSpc>
            </a:pPr>
          </a:p>
          <a:p>
            <a:pPr algn="l">
              <a:lnSpc>
                <a:spcPts val="3233"/>
              </a:lnSpc>
            </a:pPr>
            <a:r>
              <a:rPr lang="en-US" sz="2099">
                <a:solidFill>
                  <a:srgbClr val="000000"/>
                </a:solidFill>
                <a:latin typeface="Canva Sans"/>
                <a:ea typeface="Canva Sans"/>
                <a:cs typeface="Canva Sans"/>
                <a:sym typeface="Canva Sans"/>
              </a:rPr>
              <a:t>Pseudocode bersifat universal dan tidak terikat pada bahasa pemrograman tertentu. Sehingga, setiap pengembang dari berbagai latar belakang daoat berkontribusi dan memahami algoritma tanpa harus memiliki pengetahuan mendalam tentang bahasa pemrograman yang digunakan dalam implementasi.</a:t>
            </a:r>
          </a:p>
          <a:p>
            <a:pPr algn="l">
              <a:lnSpc>
                <a:spcPts val="3233"/>
              </a:lnSpc>
            </a:pPr>
            <a:r>
              <a:rPr lang="en-US" sz="2099">
                <a:solidFill>
                  <a:srgbClr val="000000"/>
                </a:solidFill>
                <a:latin typeface="Canva Sans"/>
                <a:ea typeface="Canva Sans"/>
                <a:cs typeface="Canva Sans"/>
                <a:sym typeface="Canva Sans"/>
              </a:rPr>
              <a:t> </a:t>
            </a:r>
          </a:p>
          <a:p>
            <a:pPr algn="l" marL="0" indent="0" lvl="0">
              <a:lnSpc>
                <a:spcPts val="3233"/>
              </a:lnSpc>
            </a:pPr>
          </a:p>
        </p:txBody>
      </p:sp>
      <p:sp>
        <p:nvSpPr>
          <p:cNvPr name="Freeform 6" id="6"/>
          <p:cNvSpPr/>
          <p:nvPr/>
        </p:nvSpPr>
        <p:spPr>
          <a:xfrm flipH="false" flipV="false" rot="0">
            <a:off x="12568975" y="5143500"/>
            <a:ext cx="4690325" cy="4830859"/>
          </a:xfrm>
          <a:custGeom>
            <a:avLst/>
            <a:gdLst/>
            <a:ahLst/>
            <a:cxnLst/>
            <a:rect r="r" b="b" t="t" l="l"/>
            <a:pathLst>
              <a:path h="4830859" w="4690325">
                <a:moveTo>
                  <a:pt x="0" y="0"/>
                </a:moveTo>
                <a:lnTo>
                  <a:pt x="4690325" y="0"/>
                </a:lnTo>
                <a:lnTo>
                  <a:pt x="4690325" y="4830859"/>
                </a:lnTo>
                <a:lnTo>
                  <a:pt x="0" y="48308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954F"/>
        </a:solidFill>
      </p:bgPr>
    </p:bg>
    <p:spTree>
      <p:nvGrpSpPr>
        <p:cNvPr id="1" name=""/>
        <p:cNvGrpSpPr/>
        <p:nvPr/>
      </p:nvGrpSpPr>
      <p:grpSpPr>
        <a:xfrm>
          <a:off x="0" y="0"/>
          <a:ext cx="0" cy="0"/>
          <a:chOff x="0" y="0"/>
          <a:chExt cx="0" cy="0"/>
        </a:xfrm>
      </p:grpSpPr>
      <p:grpSp>
        <p:nvGrpSpPr>
          <p:cNvPr name="Group 2" id="2"/>
          <p:cNvGrpSpPr/>
          <p:nvPr/>
        </p:nvGrpSpPr>
        <p:grpSpPr>
          <a:xfrm rot="0">
            <a:off x="494233" y="379316"/>
            <a:ext cx="17299534" cy="9528368"/>
            <a:chOff x="0" y="0"/>
            <a:chExt cx="4556256" cy="2509529"/>
          </a:xfrm>
        </p:grpSpPr>
        <p:sp>
          <p:nvSpPr>
            <p:cNvPr name="Freeform 3" id="3"/>
            <p:cNvSpPr/>
            <p:nvPr/>
          </p:nvSpPr>
          <p:spPr>
            <a:xfrm flipH="false" flipV="false" rot="0">
              <a:off x="0" y="0"/>
              <a:ext cx="4556256" cy="2509529"/>
            </a:xfrm>
            <a:custGeom>
              <a:avLst/>
              <a:gdLst/>
              <a:ahLst/>
              <a:cxnLst/>
              <a:rect r="r" b="b" t="t" l="l"/>
              <a:pathLst>
                <a:path h="2509529" w="4556256">
                  <a:moveTo>
                    <a:pt x="15216" y="0"/>
                  </a:moveTo>
                  <a:lnTo>
                    <a:pt x="4541040" y="0"/>
                  </a:lnTo>
                  <a:cubicBezTo>
                    <a:pt x="4549443" y="0"/>
                    <a:pt x="4556256" y="6812"/>
                    <a:pt x="4556256" y="15216"/>
                  </a:cubicBezTo>
                  <a:lnTo>
                    <a:pt x="4556256" y="2494313"/>
                  </a:lnTo>
                  <a:cubicBezTo>
                    <a:pt x="4556256" y="2498349"/>
                    <a:pt x="4554653" y="2502219"/>
                    <a:pt x="4551799" y="2505072"/>
                  </a:cubicBezTo>
                  <a:cubicBezTo>
                    <a:pt x="4548946" y="2507926"/>
                    <a:pt x="4545075" y="2509529"/>
                    <a:pt x="4541040" y="2509529"/>
                  </a:cubicBezTo>
                  <a:lnTo>
                    <a:pt x="15216" y="2509529"/>
                  </a:lnTo>
                  <a:cubicBezTo>
                    <a:pt x="6812" y="2509529"/>
                    <a:pt x="0" y="2502717"/>
                    <a:pt x="0" y="2494313"/>
                  </a:cubicBezTo>
                  <a:lnTo>
                    <a:pt x="0" y="15216"/>
                  </a:lnTo>
                  <a:cubicBezTo>
                    <a:pt x="0" y="11180"/>
                    <a:pt x="1603" y="7310"/>
                    <a:pt x="4457" y="4457"/>
                  </a:cubicBezTo>
                  <a:cubicBezTo>
                    <a:pt x="7310" y="1603"/>
                    <a:pt x="11180" y="0"/>
                    <a:pt x="15216" y="0"/>
                  </a:cubicBezTo>
                  <a:close/>
                </a:path>
              </a:pathLst>
            </a:custGeom>
            <a:solidFill>
              <a:srgbClr val="FFE0B7"/>
            </a:solidFill>
            <a:ln cap="rnd">
              <a:noFill/>
              <a:prstDash val="solid"/>
              <a:round/>
            </a:ln>
          </p:spPr>
        </p:sp>
        <p:sp>
          <p:nvSpPr>
            <p:cNvPr name="TextBox 4" id="4"/>
            <p:cNvSpPr txBox="true"/>
            <p:nvPr/>
          </p:nvSpPr>
          <p:spPr>
            <a:xfrm>
              <a:off x="0" y="-38100"/>
              <a:ext cx="4556256" cy="254762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668539" y="1366154"/>
            <a:ext cx="11677155" cy="8142036"/>
          </a:xfrm>
          <a:prstGeom prst="rect">
            <a:avLst/>
          </a:prstGeom>
        </p:spPr>
        <p:txBody>
          <a:bodyPr anchor="t" rtlCol="false" tIns="0" lIns="0" bIns="0" rIns="0">
            <a:spAutoFit/>
          </a:bodyPr>
          <a:lstStyle/>
          <a:p>
            <a:pPr algn="l" marL="0" indent="0" lvl="0">
              <a:lnSpc>
                <a:spcPts val="3220"/>
              </a:lnSpc>
            </a:pPr>
            <a:r>
              <a:rPr lang="en-US" sz="2090">
                <a:solidFill>
                  <a:srgbClr val="000000"/>
                </a:solidFill>
                <a:latin typeface="Canva Sans"/>
                <a:ea typeface="Canva Sans"/>
                <a:cs typeface="Canva Sans"/>
                <a:sym typeface="Canva Sans"/>
              </a:rPr>
              <a:t>Notasi pseudocode adalah rangkaian kode yang umumnya digunakan dengan tujuan mempermudah komunikasi dan fungsi pada masing-masing kode pemrograman.</a:t>
            </a:r>
          </a:p>
          <a:p>
            <a:pPr algn="l" marL="0" indent="0" lvl="0">
              <a:lnSpc>
                <a:spcPts val="3220"/>
              </a:lnSpc>
            </a:pPr>
          </a:p>
          <a:p>
            <a:pPr algn="l" marL="0" indent="0" lvl="0">
              <a:lnSpc>
                <a:spcPts val="3220"/>
              </a:lnSpc>
            </a:pPr>
            <a:r>
              <a:rPr lang="en-US" b="true" sz="2090" strike="noStrike" u="none">
                <a:solidFill>
                  <a:srgbClr val="000000"/>
                </a:solidFill>
                <a:latin typeface="Canva Sans Medium"/>
                <a:ea typeface="Canva Sans Medium"/>
                <a:cs typeface="Canva Sans Medium"/>
                <a:sym typeface="Canva Sans Medium"/>
              </a:rPr>
              <a:t>1. INPUT</a:t>
            </a:r>
          </a:p>
          <a:p>
            <a:pPr algn="l" marL="0" indent="0" lvl="0">
              <a:lnSpc>
                <a:spcPts val="3220"/>
              </a:lnSpc>
            </a:pPr>
            <a:r>
              <a:rPr lang="en-US" sz="2090" strike="noStrike" u="none">
                <a:solidFill>
                  <a:srgbClr val="000000"/>
                </a:solidFill>
                <a:latin typeface="Canva Sans"/>
                <a:ea typeface="Canva Sans"/>
                <a:cs typeface="Canva Sans"/>
                <a:sym typeface="Canva Sans"/>
              </a:rPr>
              <a:t>Notasi pseudocode "INPUT" digunakan untuk menunjukkan proses memasukkan suatu nilai ke dalam variabel. Notasi ini umumnya dimanfaatkan dalam proses mengambil data dari pengguna atau sumber lainnya.</a:t>
            </a:r>
          </a:p>
          <a:p>
            <a:pPr algn="l" marL="0" indent="0" lvl="0">
              <a:lnSpc>
                <a:spcPts val="3220"/>
              </a:lnSpc>
            </a:pPr>
            <a:r>
              <a:rPr lang="en-US" b="true" sz="2090" strike="noStrike" u="none">
                <a:solidFill>
                  <a:srgbClr val="000000"/>
                </a:solidFill>
                <a:latin typeface="Canva Sans Medium"/>
                <a:ea typeface="Canva Sans Medium"/>
                <a:cs typeface="Canva Sans Medium"/>
                <a:sym typeface="Canva Sans Medium"/>
              </a:rPr>
              <a:t>2. OUTPUT</a:t>
            </a:r>
          </a:p>
          <a:p>
            <a:pPr algn="l" marL="0" indent="0" lvl="0">
              <a:lnSpc>
                <a:spcPts val="3220"/>
              </a:lnSpc>
            </a:pPr>
            <a:r>
              <a:rPr lang="en-US" sz="2090" strike="noStrike" u="none">
                <a:solidFill>
                  <a:srgbClr val="000000"/>
                </a:solidFill>
                <a:latin typeface="Canva Sans"/>
                <a:ea typeface="Canva Sans"/>
                <a:cs typeface="Canva Sans"/>
                <a:sym typeface="Canva Sans"/>
              </a:rPr>
              <a:t>Notasi “OUTPUT” umumnya digunakan untuk menunjukkan keluaran atau hasil dari suatu algoritma.</a:t>
            </a:r>
          </a:p>
          <a:p>
            <a:pPr algn="l" marL="0" indent="0" lvl="0">
              <a:lnSpc>
                <a:spcPts val="3220"/>
              </a:lnSpc>
            </a:pPr>
            <a:r>
              <a:rPr lang="en-US" b="true" sz="2090" strike="noStrike" u="none">
                <a:solidFill>
                  <a:srgbClr val="000000"/>
                </a:solidFill>
                <a:latin typeface="Canva Sans Medium"/>
                <a:ea typeface="Canva Sans Medium"/>
                <a:cs typeface="Canva Sans Medium"/>
                <a:sym typeface="Canva Sans Medium"/>
              </a:rPr>
              <a:t>3. FOR</a:t>
            </a:r>
          </a:p>
          <a:p>
            <a:pPr algn="l" marL="0" indent="0" lvl="0">
              <a:lnSpc>
                <a:spcPts val="3220"/>
              </a:lnSpc>
            </a:pPr>
            <a:r>
              <a:rPr lang="en-US" sz="2090" strike="noStrike" u="none">
                <a:solidFill>
                  <a:srgbClr val="000000"/>
                </a:solidFill>
                <a:latin typeface="Canva Sans"/>
                <a:ea typeface="Canva Sans"/>
                <a:cs typeface="Canva Sans"/>
                <a:sym typeface="Canva Sans"/>
              </a:rPr>
              <a:t>Notasi “FOR” digunakan untuk menggambarkan sebuah perulangan perhitungan dengan iterasi yang jelas. Biasanya, perulangan ini akan berlangsung sebanyak iterasi yang ditentukan.</a:t>
            </a:r>
          </a:p>
          <a:p>
            <a:pPr algn="l" marL="0" indent="0" lvl="0">
              <a:lnSpc>
                <a:spcPts val="3220"/>
              </a:lnSpc>
            </a:pPr>
            <a:r>
              <a:rPr lang="en-US" b="true" sz="2090" strike="noStrike" u="none">
                <a:solidFill>
                  <a:srgbClr val="000000"/>
                </a:solidFill>
                <a:latin typeface="Canva Sans Medium"/>
                <a:ea typeface="Canva Sans Medium"/>
                <a:cs typeface="Canva Sans Medium"/>
                <a:sym typeface="Canva Sans Medium"/>
              </a:rPr>
              <a:t>4. WHILE</a:t>
            </a:r>
          </a:p>
          <a:p>
            <a:pPr algn="l" marL="0" indent="0" lvl="0">
              <a:lnSpc>
                <a:spcPts val="3220"/>
              </a:lnSpc>
            </a:pPr>
            <a:r>
              <a:rPr lang="en-US" sz="2090" strike="noStrike" u="none">
                <a:solidFill>
                  <a:srgbClr val="000000"/>
                </a:solidFill>
                <a:latin typeface="Canva Sans"/>
                <a:ea typeface="Canva Sans"/>
                <a:cs typeface="Canva Sans"/>
                <a:sym typeface="Canva Sans"/>
              </a:rPr>
              <a:t>Notasi "WHILE" adalah salah satu elemen penting dalam pseudocode yang digunakan untuk merincikan perulangan dalam algoritma. </a:t>
            </a:r>
          </a:p>
          <a:p>
            <a:pPr algn="l" marL="0" indent="0" lvl="0">
              <a:lnSpc>
                <a:spcPts val="3220"/>
              </a:lnSpc>
            </a:pPr>
            <a:r>
              <a:rPr lang="en-US" sz="2090" strike="noStrike" u="none">
                <a:solidFill>
                  <a:srgbClr val="000000"/>
                </a:solidFill>
                <a:latin typeface="Canva Sans"/>
                <a:ea typeface="Canva Sans"/>
                <a:cs typeface="Canva Sans"/>
                <a:sym typeface="Canva Sans"/>
              </a:rPr>
              <a:t>Dengan notasi "WHILE," sebuah proses akan terus diulang selama suatu kondisi tertentu terpenuhi. Dalam proses ini, pseudocode bertugas merinci kondisi perulangan dengan jelas.</a:t>
            </a:r>
          </a:p>
          <a:p>
            <a:pPr algn="l" marL="0" indent="0" lvl="0">
              <a:lnSpc>
                <a:spcPts val="3220"/>
              </a:lnSpc>
            </a:pPr>
          </a:p>
        </p:txBody>
      </p:sp>
      <p:sp>
        <p:nvSpPr>
          <p:cNvPr name="Freeform 6" id="6"/>
          <p:cNvSpPr/>
          <p:nvPr/>
        </p:nvSpPr>
        <p:spPr>
          <a:xfrm flipH="false" flipV="false" rot="0">
            <a:off x="12345694" y="4766573"/>
            <a:ext cx="5136269" cy="4846770"/>
          </a:xfrm>
          <a:custGeom>
            <a:avLst/>
            <a:gdLst/>
            <a:ahLst/>
            <a:cxnLst/>
            <a:rect r="r" b="b" t="t" l="l"/>
            <a:pathLst>
              <a:path h="4846770" w="5136269">
                <a:moveTo>
                  <a:pt x="0" y="0"/>
                </a:moveTo>
                <a:lnTo>
                  <a:pt x="5136269" y="0"/>
                </a:lnTo>
                <a:lnTo>
                  <a:pt x="5136269" y="4846770"/>
                </a:lnTo>
                <a:lnTo>
                  <a:pt x="0" y="48467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68539" y="466725"/>
            <a:ext cx="8702427" cy="826631"/>
          </a:xfrm>
          <a:prstGeom prst="rect">
            <a:avLst/>
          </a:prstGeom>
        </p:spPr>
        <p:txBody>
          <a:bodyPr anchor="t" rtlCol="false" tIns="0" lIns="0" bIns="0" rIns="0">
            <a:spAutoFit/>
          </a:bodyPr>
          <a:lstStyle/>
          <a:p>
            <a:pPr algn="l" marL="0" indent="0" lvl="0">
              <a:lnSpc>
                <a:spcPts val="6631"/>
              </a:lnSpc>
              <a:spcBef>
                <a:spcPct val="0"/>
              </a:spcBef>
            </a:pPr>
            <a:r>
              <a:rPr lang="en-US" sz="4736">
                <a:solidFill>
                  <a:srgbClr val="000000"/>
                </a:solidFill>
                <a:latin typeface="Bobby Jones"/>
                <a:ea typeface="Bobby Jones"/>
                <a:cs typeface="Bobby Jones"/>
                <a:sym typeface="Bobby Jones"/>
              </a:rPr>
              <a:t>Notasi Pseudocode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954F"/>
        </a:solidFill>
      </p:bgPr>
    </p:bg>
    <p:spTree>
      <p:nvGrpSpPr>
        <p:cNvPr id="1" name=""/>
        <p:cNvGrpSpPr/>
        <p:nvPr/>
      </p:nvGrpSpPr>
      <p:grpSpPr>
        <a:xfrm>
          <a:off x="0" y="0"/>
          <a:ext cx="0" cy="0"/>
          <a:chOff x="0" y="0"/>
          <a:chExt cx="0" cy="0"/>
        </a:xfrm>
      </p:grpSpPr>
      <p:grpSp>
        <p:nvGrpSpPr>
          <p:cNvPr name="Group 2" id="2"/>
          <p:cNvGrpSpPr/>
          <p:nvPr/>
        </p:nvGrpSpPr>
        <p:grpSpPr>
          <a:xfrm rot="0">
            <a:off x="494233" y="379316"/>
            <a:ext cx="17299534" cy="9528368"/>
            <a:chOff x="0" y="0"/>
            <a:chExt cx="4556256" cy="2509529"/>
          </a:xfrm>
        </p:grpSpPr>
        <p:sp>
          <p:nvSpPr>
            <p:cNvPr name="Freeform 3" id="3"/>
            <p:cNvSpPr/>
            <p:nvPr/>
          </p:nvSpPr>
          <p:spPr>
            <a:xfrm flipH="false" flipV="false" rot="0">
              <a:off x="0" y="0"/>
              <a:ext cx="4556256" cy="2509529"/>
            </a:xfrm>
            <a:custGeom>
              <a:avLst/>
              <a:gdLst/>
              <a:ahLst/>
              <a:cxnLst/>
              <a:rect r="r" b="b" t="t" l="l"/>
              <a:pathLst>
                <a:path h="2509529" w="4556256">
                  <a:moveTo>
                    <a:pt x="15216" y="0"/>
                  </a:moveTo>
                  <a:lnTo>
                    <a:pt x="4541040" y="0"/>
                  </a:lnTo>
                  <a:cubicBezTo>
                    <a:pt x="4549443" y="0"/>
                    <a:pt x="4556256" y="6812"/>
                    <a:pt x="4556256" y="15216"/>
                  </a:cubicBezTo>
                  <a:lnTo>
                    <a:pt x="4556256" y="2494313"/>
                  </a:lnTo>
                  <a:cubicBezTo>
                    <a:pt x="4556256" y="2498349"/>
                    <a:pt x="4554653" y="2502219"/>
                    <a:pt x="4551799" y="2505072"/>
                  </a:cubicBezTo>
                  <a:cubicBezTo>
                    <a:pt x="4548946" y="2507926"/>
                    <a:pt x="4545075" y="2509529"/>
                    <a:pt x="4541040" y="2509529"/>
                  </a:cubicBezTo>
                  <a:lnTo>
                    <a:pt x="15216" y="2509529"/>
                  </a:lnTo>
                  <a:cubicBezTo>
                    <a:pt x="6812" y="2509529"/>
                    <a:pt x="0" y="2502717"/>
                    <a:pt x="0" y="2494313"/>
                  </a:cubicBezTo>
                  <a:lnTo>
                    <a:pt x="0" y="15216"/>
                  </a:lnTo>
                  <a:cubicBezTo>
                    <a:pt x="0" y="11180"/>
                    <a:pt x="1603" y="7310"/>
                    <a:pt x="4457" y="4457"/>
                  </a:cubicBezTo>
                  <a:cubicBezTo>
                    <a:pt x="7310" y="1603"/>
                    <a:pt x="11180" y="0"/>
                    <a:pt x="15216" y="0"/>
                  </a:cubicBezTo>
                  <a:close/>
                </a:path>
              </a:pathLst>
            </a:custGeom>
            <a:solidFill>
              <a:srgbClr val="FFE0B7"/>
            </a:solidFill>
            <a:ln cap="rnd">
              <a:noFill/>
              <a:prstDash val="solid"/>
              <a:round/>
            </a:ln>
          </p:spPr>
        </p:sp>
        <p:sp>
          <p:nvSpPr>
            <p:cNvPr name="TextBox 4" id="4"/>
            <p:cNvSpPr txBox="true"/>
            <p:nvPr/>
          </p:nvSpPr>
          <p:spPr>
            <a:xfrm>
              <a:off x="0" y="-38100"/>
              <a:ext cx="4556256" cy="254762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2568975" y="5143500"/>
            <a:ext cx="4690325" cy="4830859"/>
          </a:xfrm>
          <a:custGeom>
            <a:avLst/>
            <a:gdLst/>
            <a:ahLst/>
            <a:cxnLst/>
            <a:rect r="r" b="b" t="t" l="l"/>
            <a:pathLst>
              <a:path h="4830859" w="4690325">
                <a:moveTo>
                  <a:pt x="0" y="0"/>
                </a:moveTo>
                <a:lnTo>
                  <a:pt x="4690325" y="0"/>
                </a:lnTo>
                <a:lnTo>
                  <a:pt x="4690325" y="4830859"/>
                </a:lnTo>
                <a:lnTo>
                  <a:pt x="0" y="4830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32421" y="519934"/>
            <a:ext cx="11722833" cy="9060481"/>
          </a:xfrm>
          <a:prstGeom prst="rect">
            <a:avLst/>
          </a:prstGeom>
        </p:spPr>
        <p:txBody>
          <a:bodyPr anchor="t" rtlCol="false" tIns="0" lIns="0" bIns="0" rIns="0">
            <a:spAutoFit/>
          </a:bodyPr>
          <a:lstStyle/>
          <a:p>
            <a:pPr algn="l">
              <a:lnSpc>
                <a:spcPts val="3149"/>
              </a:lnSpc>
              <a:spcBef>
                <a:spcPct val="0"/>
              </a:spcBef>
            </a:pPr>
            <a:r>
              <a:rPr lang="en-US" sz="2249">
                <a:solidFill>
                  <a:srgbClr val="000000"/>
                </a:solidFill>
                <a:latin typeface="Canva Sans"/>
                <a:ea typeface="Canva Sans"/>
                <a:cs typeface="Canva Sans"/>
                <a:sym typeface="Canva Sans"/>
              </a:rPr>
              <a:t>5. REPEAT- UNTIL</a:t>
            </a:r>
          </a:p>
          <a:p>
            <a:pPr algn="l">
              <a:lnSpc>
                <a:spcPts val="3149"/>
              </a:lnSpc>
              <a:spcBef>
                <a:spcPct val="0"/>
              </a:spcBef>
            </a:pPr>
            <a:r>
              <a:rPr lang="en-US" sz="2249">
                <a:solidFill>
                  <a:srgbClr val="000000"/>
                </a:solidFill>
                <a:latin typeface="Canva Sans"/>
                <a:ea typeface="Canva Sans"/>
                <a:cs typeface="Canva Sans"/>
                <a:sym typeface="Canva Sans"/>
              </a:rPr>
              <a:t>Notasi pseudocode ini digunakan untuk menggambarkan sebuah perulangan yang memiliki kondisi akhir. </a:t>
            </a:r>
          </a:p>
          <a:p>
            <a:pPr algn="l">
              <a:lnSpc>
                <a:spcPts val="3149"/>
              </a:lnSpc>
              <a:spcBef>
                <a:spcPct val="0"/>
              </a:spcBef>
            </a:pPr>
            <a:r>
              <a:rPr lang="en-US" sz="2249">
                <a:solidFill>
                  <a:srgbClr val="000000"/>
                </a:solidFill>
                <a:latin typeface="Canva Sans"/>
                <a:ea typeface="Canva Sans"/>
                <a:cs typeface="Canva Sans"/>
                <a:sym typeface="Canva Sans"/>
              </a:rPr>
              <a:t>Artinya, sebuah proses akan diulang sampai kondisi tertentu terpenuhi. Aspek ini menjadikannya berbeda dengan "WHILE" yang memerlukan kondisi awalnya terpenuhi.</a:t>
            </a:r>
          </a:p>
          <a:p>
            <a:pPr algn="l">
              <a:lnSpc>
                <a:spcPts val="3149"/>
              </a:lnSpc>
              <a:spcBef>
                <a:spcPct val="0"/>
              </a:spcBef>
            </a:pPr>
            <a:r>
              <a:rPr lang="en-US" sz="2249">
                <a:solidFill>
                  <a:srgbClr val="000000"/>
                </a:solidFill>
                <a:latin typeface="Canva Sans"/>
                <a:ea typeface="Canva Sans"/>
                <a:cs typeface="Canva Sans"/>
                <a:sym typeface="Canva Sans"/>
              </a:rPr>
              <a:t>6. IF - THEN - ELSE</a:t>
            </a:r>
          </a:p>
          <a:p>
            <a:pPr algn="l">
              <a:lnSpc>
                <a:spcPts val="3149"/>
              </a:lnSpc>
              <a:spcBef>
                <a:spcPct val="0"/>
              </a:spcBef>
            </a:pPr>
            <a:r>
              <a:rPr lang="en-US" sz="2249">
                <a:solidFill>
                  <a:srgbClr val="000000"/>
                </a:solidFill>
                <a:latin typeface="Canva Sans"/>
                <a:ea typeface="Canva Sans"/>
                <a:cs typeface="Canva Sans"/>
                <a:sym typeface="Canva Sans"/>
              </a:rPr>
              <a:t>Notasi "IF - THEN - ELSE" digunakan untuk menggambarkan pengambilan keputusan berdasarkan beberapa kondisi. </a:t>
            </a:r>
          </a:p>
          <a:p>
            <a:pPr algn="l">
              <a:lnSpc>
                <a:spcPts val="3149"/>
              </a:lnSpc>
              <a:spcBef>
                <a:spcPct val="0"/>
              </a:spcBef>
            </a:pPr>
            <a:r>
              <a:rPr lang="en-US" sz="2249">
                <a:solidFill>
                  <a:srgbClr val="000000"/>
                </a:solidFill>
                <a:latin typeface="Canva Sans"/>
                <a:ea typeface="Canva Sans"/>
                <a:cs typeface="Canva Sans"/>
                <a:sym typeface="Canva Sans"/>
              </a:rPr>
              <a:t>Jika suatu kondisi terpenuhi ("IF"), maka suatu tindakan akan diambil ("THEN"), dan jika tidak, tindakan alternatif lain dapat diambil ("ELSE").</a:t>
            </a:r>
          </a:p>
          <a:p>
            <a:pPr algn="l">
              <a:lnSpc>
                <a:spcPts val="3149"/>
              </a:lnSpc>
              <a:spcBef>
                <a:spcPct val="0"/>
              </a:spcBef>
            </a:pPr>
            <a:r>
              <a:rPr lang="en-US" sz="2249">
                <a:solidFill>
                  <a:srgbClr val="000000"/>
                </a:solidFill>
                <a:latin typeface="Canva Sans"/>
                <a:ea typeface="Canva Sans"/>
                <a:cs typeface="Canva Sans"/>
                <a:sym typeface="Canva Sans"/>
              </a:rPr>
              <a:t>7. Komentar</a:t>
            </a:r>
          </a:p>
          <a:p>
            <a:pPr algn="l">
              <a:lnSpc>
                <a:spcPts val="3149"/>
              </a:lnSpc>
              <a:spcBef>
                <a:spcPct val="0"/>
              </a:spcBef>
            </a:pPr>
            <a:r>
              <a:rPr lang="en-US" sz="2249">
                <a:solidFill>
                  <a:srgbClr val="000000"/>
                </a:solidFill>
                <a:latin typeface="Canva Sans"/>
                <a:ea typeface="Canva Sans"/>
                <a:cs typeface="Canva Sans"/>
                <a:sym typeface="Canva Sans"/>
              </a:rPr>
              <a:t>Menggunakan tanda '#' atau '//' (mirip dengan bahasa pemrograman) untuk memberikan komentar atau penjelasan pada langkah-langkah pseudocode. </a:t>
            </a:r>
          </a:p>
          <a:p>
            <a:pPr algn="l">
              <a:lnSpc>
                <a:spcPts val="3149"/>
              </a:lnSpc>
              <a:spcBef>
                <a:spcPct val="0"/>
              </a:spcBef>
            </a:pPr>
            <a:r>
              <a:rPr lang="en-US" sz="2249">
                <a:solidFill>
                  <a:srgbClr val="000000"/>
                </a:solidFill>
                <a:latin typeface="Canva Sans"/>
                <a:ea typeface="Canva Sans"/>
                <a:cs typeface="Canva Sans"/>
                <a:sym typeface="Canva Sans"/>
              </a:rPr>
              <a:t>Contoh: # text contoh komentar</a:t>
            </a:r>
          </a:p>
          <a:p>
            <a:pPr algn="l">
              <a:lnSpc>
                <a:spcPts val="3149"/>
              </a:lnSpc>
              <a:spcBef>
                <a:spcPct val="0"/>
              </a:spcBef>
            </a:pPr>
            <a:r>
              <a:rPr lang="en-US" sz="2249">
                <a:solidFill>
                  <a:srgbClr val="000000"/>
                </a:solidFill>
                <a:latin typeface="Canva Sans"/>
                <a:ea typeface="Canva Sans"/>
                <a:cs typeface="Canva Sans"/>
                <a:sym typeface="Canva Sans"/>
              </a:rPr>
              <a:t>8. Inisialisasi Variabel</a:t>
            </a:r>
          </a:p>
          <a:p>
            <a:pPr algn="l">
              <a:lnSpc>
                <a:spcPts val="3149"/>
              </a:lnSpc>
              <a:spcBef>
                <a:spcPct val="0"/>
              </a:spcBef>
            </a:pPr>
            <a:r>
              <a:rPr lang="en-US" sz="2249">
                <a:solidFill>
                  <a:srgbClr val="000000"/>
                </a:solidFill>
                <a:latin typeface="Canva Sans"/>
                <a:ea typeface="Canva Sans"/>
                <a:cs typeface="Canva Sans"/>
                <a:sym typeface="Canva Sans"/>
              </a:rPr>
              <a:t>Notasi ini dapat digunakan untuk menunjukkan bagaimana variabel diinisialisasi dan diberi nilai awal. </a:t>
            </a:r>
          </a:p>
          <a:p>
            <a:pPr algn="l">
              <a:lnSpc>
                <a:spcPts val="3149"/>
              </a:lnSpc>
              <a:spcBef>
                <a:spcPct val="0"/>
              </a:spcBef>
            </a:pPr>
            <a:r>
              <a:rPr lang="en-US" sz="2249">
                <a:solidFill>
                  <a:srgbClr val="000000"/>
                </a:solidFill>
                <a:latin typeface="Canva Sans"/>
                <a:ea typeface="Canva Sans"/>
                <a:cs typeface="Canva Sans"/>
                <a:sym typeface="Canva Sans"/>
              </a:rPr>
              <a:t>Contoh: x = 0</a:t>
            </a:r>
          </a:p>
          <a:p>
            <a:pPr algn="l">
              <a:lnSpc>
                <a:spcPts val="3149"/>
              </a:lnSpc>
              <a:spcBef>
                <a:spcPct val="0"/>
              </a:spcBef>
            </a:pPr>
            <a:r>
              <a:rPr lang="en-US" sz="2249">
                <a:solidFill>
                  <a:srgbClr val="000000"/>
                </a:solidFill>
                <a:latin typeface="Canva Sans"/>
                <a:ea typeface="Canva Sans"/>
                <a:cs typeface="Canva Sans"/>
                <a:sym typeface="Canva Sans"/>
              </a:rPr>
              <a:t>9. Fungsi dan Prosedur</a:t>
            </a:r>
          </a:p>
          <a:p>
            <a:pPr algn="l">
              <a:lnSpc>
                <a:spcPts val="3149"/>
              </a:lnSpc>
              <a:spcBef>
                <a:spcPct val="0"/>
              </a:spcBef>
            </a:pPr>
            <a:r>
              <a:rPr lang="en-US" sz="2249">
                <a:solidFill>
                  <a:srgbClr val="000000"/>
                </a:solidFill>
                <a:latin typeface="Canva Sans"/>
                <a:ea typeface="Canva Sans"/>
                <a:cs typeface="Canva Sans"/>
                <a:sym typeface="Canva Sans"/>
              </a:rPr>
              <a:t>Menggunakan NAMA_FUNGSI (parameter) untuk menunjukkan pemanggilan fungsi atau prosedur.</a:t>
            </a:r>
          </a:p>
          <a:p>
            <a:pPr algn="l">
              <a:lnSpc>
                <a:spcPts val="3149"/>
              </a:lnSpc>
              <a:spcBef>
                <a:spcPct val="0"/>
              </a:spcBef>
            </a:pPr>
            <a:r>
              <a:rPr lang="en-US" sz="2249">
                <a:solidFill>
                  <a:srgbClr val="000000"/>
                </a:solidFill>
                <a:latin typeface="Canva Sans"/>
                <a:ea typeface="Canva Sans"/>
                <a:cs typeface="Canva Sans"/>
                <a:sym typeface="Canva Sans"/>
              </a:rPr>
              <a:t>Contoh: total = HITUNG_TOTAL(x, 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3954F"/>
        </a:solidFill>
      </p:bgPr>
    </p:bg>
    <p:spTree>
      <p:nvGrpSpPr>
        <p:cNvPr id="1" name=""/>
        <p:cNvGrpSpPr/>
        <p:nvPr/>
      </p:nvGrpSpPr>
      <p:grpSpPr>
        <a:xfrm>
          <a:off x="0" y="0"/>
          <a:ext cx="0" cy="0"/>
          <a:chOff x="0" y="0"/>
          <a:chExt cx="0" cy="0"/>
        </a:xfrm>
      </p:grpSpPr>
      <p:grpSp>
        <p:nvGrpSpPr>
          <p:cNvPr name="Group 2" id="2"/>
          <p:cNvGrpSpPr/>
          <p:nvPr/>
        </p:nvGrpSpPr>
        <p:grpSpPr>
          <a:xfrm rot="0">
            <a:off x="494233" y="379316"/>
            <a:ext cx="17299534" cy="9528368"/>
            <a:chOff x="0" y="0"/>
            <a:chExt cx="4556256" cy="2509529"/>
          </a:xfrm>
        </p:grpSpPr>
        <p:sp>
          <p:nvSpPr>
            <p:cNvPr name="Freeform 3" id="3"/>
            <p:cNvSpPr/>
            <p:nvPr/>
          </p:nvSpPr>
          <p:spPr>
            <a:xfrm flipH="false" flipV="false" rot="0">
              <a:off x="0" y="0"/>
              <a:ext cx="4556256" cy="2509529"/>
            </a:xfrm>
            <a:custGeom>
              <a:avLst/>
              <a:gdLst/>
              <a:ahLst/>
              <a:cxnLst/>
              <a:rect r="r" b="b" t="t" l="l"/>
              <a:pathLst>
                <a:path h="2509529" w="4556256">
                  <a:moveTo>
                    <a:pt x="15216" y="0"/>
                  </a:moveTo>
                  <a:lnTo>
                    <a:pt x="4541040" y="0"/>
                  </a:lnTo>
                  <a:cubicBezTo>
                    <a:pt x="4549443" y="0"/>
                    <a:pt x="4556256" y="6812"/>
                    <a:pt x="4556256" y="15216"/>
                  </a:cubicBezTo>
                  <a:lnTo>
                    <a:pt x="4556256" y="2494313"/>
                  </a:lnTo>
                  <a:cubicBezTo>
                    <a:pt x="4556256" y="2498349"/>
                    <a:pt x="4554653" y="2502219"/>
                    <a:pt x="4551799" y="2505072"/>
                  </a:cubicBezTo>
                  <a:cubicBezTo>
                    <a:pt x="4548946" y="2507926"/>
                    <a:pt x="4545075" y="2509529"/>
                    <a:pt x="4541040" y="2509529"/>
                  </a:cubicBezTo>
                  <a:lnTo>
                    <a:pt x="15216" y="2509529"/>
                  </a:lnTo>
                  <a:cubicBezTo>
                    <a:pt x="6812" y="2509529"/>
                    <a:pt x="0" y="2502717"/>
                    <a:pt x="0" y="2494313"/>
                  </a:cubicBezTo>
                  <a:lnTo>
                    <a:pt x="0" y="15216"/>
                  </a:lnTo>
                  <a:cubicBezTo>
                    <a:pt x="0" y="11180"/>
                    <a:pt x="1603" y="7310"/>
                    <a:pt x="4457" y="4457"/>
                  </a:cubicBezTo>
                  <a:cubicBezTo>
                    <a:pt x="7310" y="1603"/>
                    <a:pt x="11180" y="0"/>
                    <a:pt x="15216" y="0"/>
                  </a:cubicBezTo>
                  <a:close/>
                </a:path>
              </a:pathLst>
            </a:custGeom>
            <a:solidFill>
              <a:srgbClr val="FFE0B7"/>
            </a:solidFill>
            <a:ln cap="rnd">
              <a:noFill/>
              <a:prstDash val="solid"/>
              <a:round/>
            </a:ln>
          </p:spPr>
        </p:sp>
        <p:sp>
          <p:nvSpPr>
            <p:cNvPr name="TextBox 4" id="4"/>
            <p:cNvSpPr txBox="true"/>
            <p:nvPr/>
          </p:nvSpPr>
          <p:spPr>
            <a:xfrm>
              <a:off x="0" y="-38100"/>
              <a:ext cx="4556256" cy="254762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713559" y="1400175"/>
            <a:ext cx="12999922" cy="8661887"/>
          </a:xfrm>
          <a:prstGeom prst="rect">
            <a:avLst/>
          </a:prstGeom>
        </p:spPr>
        <p:txBody>
          <a:bodyPr anchor="t" rtlCol="false" tIns="0" lIns="0" bIns="0" rIns="0">
            <a:spAutoFit/>
          </a:bodyPr>
          <a:lstStyle/>
          <a:p>
            <a:pPr algn="l">
              <a:lnSpc>
                <a:spcPts val="4286"/>
              </a:lnSpc>
            </a:pPr>
            <a:r>
              <a:rPr lang="en-US" sz="2783">
                <a:solidFill>
                  <a:srgbClr val="000000"/>
                </a:solidFill>
                <a:latin typeface="Canva Sans"/>
                <a:ea typeface="Canva Sans"/>
                <a:cs typeface="Canva Sans"/>
                <a:sym typeface="Canva Sans"/>
              </a:rPr>
              <a:t>Secara umum, struktur pseudocode terdiri dari 5 bagian utama, yaitu: </a:t>
            </a:r>
          </a:p>
          <a:p>
            <a:pPr algn="l">
              <a:lnSpc>
                <a:spcPts val="4286"/>
              </a:lnSpc>
            </a:pPr>
          </a:p>
          <a:p>
            <a:pPr algn="l" marL="600967" indent="-300484" lvl="1">
              <a:lnSpc>
                <a:spcPts val="4286"/>
              </a:lnSpc>
              <a:buFont typeface="Arial"/>
              <a:buChar char="•"/>
            </a:pPr>
            <a:r>
              <a:rPr lang="en-US" sz="2783">
                <a:solidFill>
                  <a:srgbClr val="000000"/>
                </a:solidFill>
                <a:latin typeface="Canva Sans"/>
                <a:ea typeface="Canva Sans"/>
                <a:cs typeface="Canva Sans"/>
                <a:sym typeface="Canva Sans"/>
              </a:rPr>
              <a:t>Judul Program: Berisi judul utama dari algoritma pseudocode atau program yang akan dikerjakan. </a:t>
            </a:r>
          </a:p>
          <a:p>
            <a:pPr algn="l" marL="600967" indent="-300484" lvl="1">
              <a:lnSpc>
                <a:spcPts val="4286"/>
              </a:lnSpc>
              <a:buFont typeface="Arial"/>
              <a:buChar char="•"/>
            </a:pPr>
            <a:r>
              <a:rPr lang="en-US" sz="2783">
                <a:solidFill>
                  <a:srgbClr val="000000"/>
                </a:solidFill>
                <a:latin typeface="Canva Sans"/>
                <a:ea typeface="Canva Sans"/>
                <a:cs typeface="Canva Sans"/>
                <a:sym typeface="Canva Sans"/>
              </a:rPr>
              <a:t>Deklarasi: Mencakup keterangan-keterangan inti seperti konstanta atau variabel dalam algoritma. </a:t>
            </a:r>
          </a:p>
          <a:p>
            <a:pPr algn="l" marL="600967" indent="-300484" lvl="1">
              <a:lnSpc>
                <a:spcPts val="4286"/>
              </a:lnSpc>
              <a:buFont typeface="Arial"/>
              <a:buChar char="•"/>
            </a:pPr>
            <a:r>
              <a:rPr lang="en-US" sz="2783">
                <a:solidFill>
                  <a:srgbClr val="000000"/>
                </a:solidFill>
                <a:latin typeface="Canva Sans"/>
                <a:ea typeface="Canva Sans"/>
                <a:cs typeface="Canva Sans"/>
                <a:sym typeface="Canva Sans"/>
              </a:rPr>
              <a:t>Implementasi Algoritma: Bagian inti dari pseudocode yang berisi proses, langkah, atau perintah. Anda dapat menyusun algoritma dalam beberapa proses seperti perulangan (FOR), operasional, dan kondisional (IF/ELSE). </a:t>
            </a:r>
          </a:p>
          <a:p>
            <a:pPr algn="l" marL="600967" indent="-300484" lvl="1">
              <a:lnSpc>
                <a:spcPts val="4286"/>
              </a:lnSpc>
              <a:buFont typeface="Arial"/>
              <a:buChar char="•"/>
            </a:pPr>
            <a:r>
              <a:rPr lang="en-US" sz="2783">
                <a:solidFill>
                  <a:srgbClr val="000000"/>
                </a:solidFill>
                <a:latin typeface="Canva Sans"/>
                <a:ea typeface="Canva Sans"/>
                <a:cs typeface="Canva Sans"/>
                <a:sym typeface="Canva Sans"/>
              </a:rPr>
              <a:t>Output: Setelah algoritma diproses, pseudocode dapat mencakup langkah-langkah untuk menampilkan hasil keluaran atau menyimpan hasil ke dalam variabel.</a:t>
            </a:r>
          </a:p>
          <a:p>
            <a:pPr algn="l" marL="600967" indent="-300484" lvl="1">
              <a:lnSpc>
                <a:spcPts val="4286"/>
              </a:lnSpc>
              <a:buFont typeface="Arial"/>
              <a:buChar char="•"/>
            </a:pPr>
            <a:r>
              <a:rPr lang="en-US" sz="2783">
                <a:solidFill>
                  <a:srgbClr val="000000"/>
                </a:solidFill>
                <a:latin typeface="Canva Sans"/>
                <a:ea typeface="Canva Sans"/>
                <a:cs typeface="Canva Sans"/>
                <a:sym typeface="Canva Sans"/>
              </a:rPr>
              <a:t>Penanganan Kesalahan (Opsional): Jika algoritma memerlukan penanganan kesalahan, pseudocode juga bisa digunakan untuk mengatasi situasi tersebut.</a:t>
            </a:r>
          </a:p>
          <a:p>
            <a:pPr algn="l" marL="0" indent="0" lvl="0">
              <a:lnSpc>
                <a:spcPts val="4286"/>
              </a:lnSpc>
            </a:pPr>
          </a:p>
        </p:txBody>
      </p:sp>
      <p:sp>
        <p:nvSpPr>
          <p:cNvPr name="Freeform 6" id="6"/>
          <p:cNvSpPr/>
          <p:nvPr/>
        </p:nvSpPr>
        <p:spPr>
          <a:xfrm flipH="false" flipV="false" rot="0">
            <a:off x="14111987" y="4332437"/>
            <a:ext cx="3446516" cy="5575247"/>
          </a:xfrm>
          <a:custGeom>
            <a:avLst/>
            <a:gdLst/>
            <a:ahLst/>
            <a:cxnLst/>
            <a:rect r="r" b="b" t="t" l="l"/>
            <a:pathLst>
              <a:path h="5575247" w="3446516">
                <a:moveTo>
                  <a:pt x="0" y="0"/>
                </a:moveTo>
                <a:lnTo>
                  <a:pt x="3446517" y="0"/>
                </a:lnTo>
                <a:lnTo>
                  <a:pt x="3446517" y="5575247"/>
                </a:lnTo>
                <a:lnTo>
                  <a:pt x="0" y="55752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13559" y="428625"/>
            <a:ext cx="11023662" cy="1057275"/>
          </a:xfrm>
          <a:prstGeom prst="rect">
            <a:avLst/>
          </a:prstGeom>
        </p:spPr>
        <p:txBody>
          <a:bodyPr anchor="t" rtlCol="false" tIns="0" lIns="0" bIns="0" rIns="0">
            <a:spAutoFit/>
          </a:bodyPr>
          <a:lstStyle/>
          <a:p>
            <a:pPr algn="l" marL="0" indent="0" lvl="0">
              <a:lnSpc>
                <a:spcPts val="8400"/>
              </a:lnSpc>
              <a:spcBef>
                <a:spcPct val="0"/>
              </a:spcBef>
            </a:pPr>
            <a:r>
              <a:rPr lang="en-US" sz="6000">
                <a:solidFill>
                  <a:srgbClr val="000000"/>
                </a:solidFill>
                <a:latin typeface="Bobby Jones"/>
                <a:ea typeface="Bobby Jones"/>
                <a:cs typeface="Bobby Jones"/>
                <a:sym typeface="Bobby Jones"/>
              </a:rPr>
              <a:t>struktur pseudocode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3954F"/>
        </a:solidFill>
      </p:bgPr>
    </p:bg>
    <p:spTree>
      <p:nvGrpSpPr>
        <p:cNvPr id="1" name=""/>
        <p:cNvGrpSpPr/>
        <p:nvPr/>
      </p:nvGrpSpPr>
      <p:grpSpPr>
        <a:xfrm>
          <a:off x="0" y="0"/>
          <a:ext cx="0" cy="0"/>
          <a:chOff x="0" y="0"/>
          <a:chExt cx="0" cy="0"/>
        </a:xfrm>
      </p:grpSpPr>
      <p:grpSp>
        <p:nvGrpSpPr>
          <p:cNvPr name="Group 2" id="2"/>
          <p:cNvGrpSpPr/>
          <p:nvPr/>
        </p:nvGrpSpPr>
        <p:grpSpPr>
          <a:xfrm rot="0">
            <a:off x="494233" y="379316"/>
            <a:ext cx="17299534" cy="9528368"/>
            <a:chOff x="0" y="0"/>
            <a:chExt cx="4556256" cy="2509529"/>
          </a:xfrm>
        </p:grpSpPr>
        <p:sp>
          <p:nvSpPr>
            <p:cNvPr name="Freeform 3" id="3"/>
            <p:cNvSpPr/>
            <p:nvPr/>
          </p:nvSpPr>
          <p:spPr>
            <a:xfrm flipH="false" flipV="false" rot="0">
              <a:off x="0" y="0"/>
              <a:ext cx="4556256" cy="2509529"/>
            </a:xfrm>
            <a:custGeom>
              <a:avLst/>
              <a:gdLst/>
              <a:ahLst/>
              <a:cxnLst/>
              <a:rect r="r" b="b" t="t" l="l"/>
              <a:pathLst>
                <a:path h="2509529" w="4556256">
                  <a:moveTo>
                    <a:pt x="15216" y="0"/>
                  </a:moveTo>
                  <a:lnTo>
                    <a:pt x="4541040" y="0"/>
                  </a:lnTo>
                  <a:cubicBezTo>
                    <a:pt x="4549443" y="0"/>
                    <a:pt x="4556256" y="6812"/>
                    <a:pt x="4556256" y="15216"/>
                  </a:cubicBezTo>
                  <a:lnTo>
                    <a:pt x="4556256" y="2494313"/>
                  </a:lnTo>
                  <a:cubicBezTo>
                    <a:pt x="4556256" y="2498349"/>
                    <a:pt x="4554653" y="2502219"/>
                    <a:pt x="4551799" y="2505072"/>
                  </a:cubicBezTo>
                  <a:cubicBezTo>
                    <a:pt x="4548946" y="2507926"/>
                    <a:pt x="4545075" y="2509529"/>
                    <a:pt x="4541040" y="2509529"/>
                  </a:cubicBezTo>
                  <a:lnTo>
                    <a:pt x="15216" y="2509529"/>
                  </a:lnTo>
                  <a:cubicBezTo>
                    <a:pt x="6812" y="2509529"/>
                    <a:pt x="0" y="2502717"/>
                    <a:pt x="0" y="2494313"/>
                  </a:cubicBezTo>
                  <a:lnTo>
                    <a:pt x="0" y="15216"/>
                  </a:lnTo>
                  <a:cubicBezTo>
                    <a:pt x="0" y="11180"/>
                    <a:pt x="1603" y="7310"/>
                    <a:pt x="4457" y="4457"/>
                  </a:cubicBezTo>
                  <a:cubicBezTo>
                    <a:pt x="7310" y="1603"/>
                    <a:pt x="11180" y="0"/>
                    <a:pt x="15216" y="0"/>
                  </a:cubicBezTo>
                  <a:close/>
                </a:path>
              </a:pathLst>
            </a:custGeom>
            <a:solidFill>
              <a:srgbClr val="FFE0B7"/>
            </a:solidFill>
            <a:ln cap="rnd">
              <a:noFill/>
              <a:prstDash val="solid"/>
              <a:round/>
            </a:ln>
          </p:spPr>
        </p:sp>
        <p:sp>
          <p:nvSpPr>
            <p:cNvPr name="TextBox 4" id="4"/>
            <p:cNvSpPr txBox="true"/>
            <p:nvPr/>
          </p:nvSpPr>
          <p:spPr>
            <a:xfrm>
              <a:off x="0" y="-38100"/>
              <a:ext cx="4556256" cy="254762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734608" y="2508432"/>
            <a:ext cx="10693600" cy="7399251"/>
          </a:xfrm>
          <a:prstGeom prst="rect">
            <a:avLst/>
          </a:prstGeom>
        </p:spPr>
        <p:txBody>
          <a:bodyPr anchor="t" rtlCol="false" tIns="0" lIns="0" bIns="0" rIns="0">
            <a:spAutoFit/>
          </a:bodyPr>
          <a:lstStyle/>
          <a:p>
            <a:pPr algn="l">
              <a:lnSpc>
                <a:spcPts val="2673"/>
              </a:lnSpc>
            </a:pPr>
            <a:r>
              <a:rPr lang="en-US" sz="1736" b="true">
                <a:solidFill>
                  <a:srgbClr val="000000"/>
                </a:solidFill>
                <a:latin typeface="Canva Sans Bold"/>
                <a:ea typeface="Canva Sans Bold"/>
                <a:cs typeface="Canva Sans Bold"/>
                <a:sym typeface="Canva Sans Bold"/>
              </a:rPr>
              <a:t>1. Ketahui Tujuan dari Pemrograman</a:t>
            </a:r>
          </a:p>
          <a:p>
            <a:pPr algn="l">
              <a:lnSpc>
                <a:spcPts val="2673"/>
              </a:lnSpc>
            </a:pPr>
            <a:r>
              <a:rPr lang="en-US" sz="1736">
                <a:solidFill>
                  <a:srgbClr val="000000"/>
                </a:solidFill>
                <a:latin typeface="Canva Sans"/>
                <a:ea typeface="Canva Sans"/>
                <a:cs typeface="Canva Sans"/>
                <a:sym typeface="Canva Sans"/>
              </a:rPr>
              <a:t>Langkah pertama dalam membuat pseudocode adalah memahami apa tujuan dari sebuah aktivitas pemrograman terlebih dahulu. </a:t>
            </a:r>
          </a:p>
          <a:p>
            <a:pPr algn="l">
              <a:lnSpc>
                <a:spcPts val="2673"/>
              </a:lnSpc>
            </a:pPr>
            <a:r>
              <a:rPr lang="en-US" sz="1736">
                <a:solidFill>
                  <a:srgbClr val="000000"/>
                </a:solidFill>
                <a:latin typeface="Canva Sans"/>
                <a:ea typeface="Canva Sans"/>
                <a:cs typeface="Canva Sans"/>
                <a:sym typeface="Canva Sans"/>
              </a:rPr>
              <a:t>Dalam hal ini, Anda perlu mengidentifikasi langkah-langkah dasar yang diperlukan untuk mencapai tujuan tersebut. </a:t>
            </a:r>
          </a:p>
          <a:p>
            <a:pPr algn="l">
              <a:lnSpc>
                <a:spcPts val="2673"/>
              </a:lnSpc>
            </a:pPr>
            <a:r>
              <a:rPr lang="en-US" sz="1736" b="true">
                <a:solidFill>
                  <a:srgbClr val="000000"/>
                </a:solidFill>
                <a:latin typeface="Canva Sans Bold"/>
                <a:ea typeface="Canva Sans Bold"/>
                <a:cs typeface="Canva Sans Bold"/>
                <a:sym typeface="Canva Sans Bold"/>
              </a:rPr>
              <a:t>2. Tulis Isi Pseudocode Secara Deskriptif</a:t>
            </a:r>
          </a:p>
          <a:p>
            <a:pPr algn="l">
              <a:lnSpc>
                <a:spcPts val="2673"/>
              </a:lnSpc>
            </a:pPr>
            <a:r>
              <a:rPr lang="en-US" sz="1736">
                <a:solidFill>
                  <a:srgbClr val="000000"/>
                </a:solidFill>
                <a:latin typeface="Canva Sans"/>
                <a:ea typeface="Canva Sans"/>
                <a:cs typeface="Canva Sans"/>
                <a:sym typeface="Canva Sans"/>
              </a:rPr>
              <a:t>Dalam tahap ini, Anda perlu menulis deskripsi teks sederhana yang menjelaskan algoritma atau langkah-langkah penyelesaian program.</a:t>
            </a:r>
          </a:p>
          <a:p>
            <a:pPr algn="l">
              <a:lnSpc>
                <a:spcPts val="2673"/>
              </a:lnSpc>
            </a:pPr>
            <a:r>
              <a:rPr lang="en-US" sz="1736">
                <a:solidFill>
                  <a:srgbClr val="000000"/>
                </a:solidFill>
                <a:latin typeface="Canva Sans"/>
                <a:ea typeface="Canva Sans"/>
                <a:cs typeface="Canva Sans"/>
                <a:sym typeface="Canva Sans"/>
              </a:rPr>
              <a:t>Anda perlu memastikan agar penulisan pseudocode tetap spesifik dan konsisten, terutama dalam penggunaan huruf kapital. </a:t>
            </a:r>
          </a:p>
          <a:p>
            <a:pPr algn="l">
              <a:lnSpc>
                <a:spcPts val="2673"/>
              </a:lnSpc>
            </a:pPr>
            <a:r>
              <a:rPr lang="en-US" sz="1736">
                <a:solidFill>
                  <a:srgbClr val="000000"/>
                </a:solidFill>
                <a:latin typeface="Canva Sans"/>
                <a:ea typeface="Canva Sans"/>
                <a:cs typeface="Canva Sans"/>
                <a:sym typeface="Canva Sans"/>
              </a:rPr>
              <a:t>Gunakanlah huruf kapital untuk menulis kode perintah pada notasi pseudocode, misalnya ELSE, IF, THEN, FOR, atau notasi-notasi lainnya.. </a:t>
            </a:r>
          </a:p>
          <a:p>
            <a:pPr algn="l">
              <a:lnSpc>
                <a:spcPts val="2673"/>
              </a:lnSpc>
            </a:pPr>
            <a:r>
              <a:rPr lang="en-US" sz="1736">
                <a:solidFill>
                  <a:srgbClr val="000000"/>
                </a:solidFill>
                <a:latin typeface="Canva Sans"/>
                <a:ea typeface="Canva Sans"/>
                <a:cs typeface="Canva Sans"/>
                <a:sym typeface="Canva Sans"/>
              </a:rPr>
              <a:t> </a:t>
            </a:r>
            <a:r>
              <a:rPr lang="en-US" sz="1736" b="true">
                <a:solidFill>
                  <a:srgbClr val="000000"/>
                </a:solidFill>
                <a:latin typeface="Canva Sans Bold"/>
                <a:ea typeface="Canva Sans Bold"/>
                <a:cs typeface="Canva Sans Bold"/>
                <a:sym typeface="Canva Sans Bold"/>
              </a:rPr>
              <a:t>3. Gunakan Indentasi</a:t>
            </a:r>
          </a:p>
          <a:p>
            <a:pPr algn="l">
              <a:lnSpc>
                <a:spcPts val="2673"/>
              </a:lnSpc>
            </a:pPr>
            <a:r>
              <a:rPr lang="en-US" sz="1736">
                <a:solidFill>
                  <a:srgbClr val="000000"/>
                </a:solidFill>
                <a:latin typeface="Canva Sans"/>
                <a:ea typeface="Canva Sans"/>
                <a:cs typeface="Canva Sans"/>
                <a:sym typeface="Canva Sans"/>
              </a:rPr>
              <a:t>Beberapa bahasa pemrograman seperti Phyton umumnya ditulis menggunakan indentasi. Meski penulisan pseudocode tidak memiliki aturan tersendiri, namun penggunaan indentasi dapat memudahkan Anda dalam membaca notasi-notasi pseudocode. </a:t>
            </a:r>
          </a:p>
          <a:p>
            <a:pPr algn="l">
              <a:lnSpc>
                <a:spcPts val="2673"/>
              </a:lnSpc>
            </a:pPr>
            <a:r>
              <a:rPr lang="en-US" sz="1736" b="true">
                <a:solidFill>
                  <a:srgbClr val="000000"/>
                </a:solidFill>
                <a:latin typeface="Canva Sans Bold"/>
                <a:ea typeface="Canva Sans Bold"/>
                <a:cs typeface="Canva Sans Bold"/>
                <a:sym typeface="Canva Sans Bold"/>
              </a:rPr>
              <a:t>4. Pastikan Kode Tetap Sederhana</a:t>
            </a:r>
          </a:p>
          <a:p>
            <a:pPr algn="l">
              <a:lnSpc>
                <a:spcPts val="2673"/>
              </a:lnSpc>
            </a:pPr>
            <a:r>
              <a:rPr lang="en-US" sz="1736">
                <a:solidFill>
                  <a:srgbClr val="000000"/>
                </a:solidFill>
                <a:latin typeface="Canva Sans"/>
                <a:ea typeface="Canva Sans"/>
                <a:cs typeface="Canva Sans"/>
                <a:sym typeface="Canva Sans"/>
              </a:rPr>
              <a:t>Apabila Anda sedang mempelajari cara membuat pseudocode, maka pastikanlah Anda membuatnya tetap sederhana dan mudah dipahami dengan tidak terlalu sering menyisipkan istilah teknis. </a:t>
            </a:r>
          </a:p>
          <a:p>
            <a:pPr algn="l">
              <a:lnSpc>
                <a:spcPts val="2673"/>
              </a:lnSpc>
            </a:pPr>
            <a:r>
              <a:rPr lang="en-US" sz="1736">
                <a:solidFill>
                  <a:srgbClr val="000000"/>
                </a:solidFill>
                <a:latin typeface="Canva Sans"/>
                <a:ea typeface="Canva Sans"/>
                <a:cs typeface="Canva Sans"/>
                <a:sym typeface="Canva Sans"/>
              </a:rPr>
              <a:t>Dengan demikian, Anda dapat membantu pembaca, terutama tim dengan pengetahuan pemrograman terbatas, untuk memahami logika dan alur program yang dijalankan. </a:t>
            </a:r>
          </a:p>
          <a:p>
            <a:pPr algn="l" marL="0" indent="0" lvl="0">
              <a:lnSpc>
                <a:spcPts val="2673"/>
              </a:lnSpc>
            </a:pPr>
          </a:p>
        </p:txBody>
      </p:sp>
      <p:sp>
        <p:nvSpPr>
          <p:cNvPr name="TextBox 6" id="6"/>
          <p:cNvSpPr txBox="true"/>
          <p:nvPr/>
        </p:nvSpPr>
        <p:spPr>
          <a:xfrm rot="0">
            <a:off x="734608" y="428625"/>
            <a:ext cx="11023662" cy="1057275"/>
          </a:xfrm>
          <a:prstGeom prst="rect">
            <a:avLst/>
          </a:prstGeom>
        </p:spPr>
        <p:txBody>
          <a:bodyPr anchor="t" rtlCol="false" tIns="0" lIns="0" bIns="0" rIns="0">
            <a:spAutoFit/>
          </a:bodyPr>
          <a:lstStyle/>
          <a:p>
            <a:pPr algn="l" marL="0" indent="0" lvl="0">
              <a:lnSpc>
                <a:spcPts val="8400"/>
              </a:lnSpc>
              <a:spcBef>
                <a:spcPct val="0"/>
              </a:spcBef>
            </a:pPr>
            <a:r>
              <a:rPr lang="en-US" sz="6000">
                <a:solidFill>
                  <a:srgbClr val="000000"/>
                </a:solidFill>
                <a:latin typeface="Bobby Jones"/>
                <a:ea typeface="Bobby Jones"/>
                <a:cs typeface="Bobby Jones"/>
                <a:sym typeface="Bobby Jones"/>
              </a:rPr>
              <a:t>Tips Cara Membuat Pseudocode</a:t>
            </a:r>
          </a:p>
        </p:txBody>
      </p:sp>
      <p:sp>
        <p:nvSpPr>
          <p:cNvPr name="Freeform 7" id="7"/>
          <p:cNvSpPr/>
          <p:nvPr/>
        </p:nvSpPr>
        <p:spPr>
          <a:xfrm flipH="false" flipV="false" rot="0">
            <a:off x="11893330" y="4977510"/>
            <a:ext cx="5365970" cy="5063524"/>
          </a:xfrm>
          <a:custGeom>
            <a:avLst/>
            <a:gdLst/>
            <a:ahLst/>
            <a:cxnLst/>
            <a:rect r="r" b="b" t="t" l="l"/>
            <a:pathLst>
              <a:path h="5063524" w="5365970">
                <a:moveTo>
                  <a:pt x="0" y="0"/>
                </a:moveTo>
                <a:lnTo>
                  <a:pt x="5365970" y="0"/>
                </a:lnTo>
                <a:lnTo>
                  <a:pt x="5365970" y="5063524"/>
                </a:lnTo>
                <a:lnTo>
                  <a:pt x="0" y="50635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734608" y="1170181"/>
            <a:ext cx="16088133" cy="1580375"/>
          </a:xfrm>
          <a:prstGeom prst="rect">
            <a:avLst/>
          </a:prstGeom>
        </p:spPr>
        <p:txBody>
          <a:bodyPr anchor="t" rtlCol="false" tIns="0" lIns="0" bIns="0" rIns="0">
            <a:spAutoFit/>
          </a:bodyPr>
          <a:lstStyle/>
          <a:p>
            <a:pPr algn="l">
              <a:lnSpc>
                <a:spcPts val="3139"/>
              </a:lnSpc>
            </a:pPr>
          </a:p>
          <a:p>
            <a:pPr algn="l">
              <a:lnSpc>
                <a:spcPts val="3139"/>
              </a:lnSpc>
            </a:pPr>
            <a:r>
              <a:rPr lang="en-US" sz="2038">
                <a:solidFill>
                  <a:srgbClr val="000000"/>
                </a:solidFill>
                <a:latin typeface="Canva Sans"/>
                <a:ea typeface="Canva Sans"/>
                <a:cs typeface="Canva Sans"/>
                <a:sym typeface="Canva Sans"/>
              </a:rPr>
              <a:t>Pseudocode adalah k</a:t>
            </a:r>
            <a:r>
              <a:rPr lang="en-US" sz="2038">
                <a:solidFill>
                  <a:srgbClr val="000000"/>
                </a:solidFill>
                <a:latin typeface="Canva Sans"/>
                <a:ea typeface="Canva Sans"/>
                <a:cs typeface="Canva Sans"/>
                <a:sym typeface="Canva Sans"/>
              </a:rPr>
              <a:t>ode semu yang tidak memiliki standar sintaks. Apabila Anda adalah pemula di dunia pemrograman atau sedang mempelajari apa itu pseudocode dan bagaimana implementasinya.</a:t>
            </a:r>
          </a:p>
          <a:p>
            <a:pPr algn="l" marL="0" indent="0" lvl="0">
              <a:lnSpc>
                <a:spcPts val="313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E0B7"/>
        </a:solidFill>
      </p:bgPr>
    </p:bg>
    <p:spTree>
      <p:nvGrpSpPr>
        <p:cNvPr id="1" name=""/>
        <p:cNvGrpSpPr/>
        <p:nvPr/>
      </p:nvGrpSpPr>
      <p:grpSpPr>
        <a:xfrm>
          <a:off x="0" y="0"/>
          <a:ext cx="0" cy="0"/>
          <a:chOff x="0" y="0"/>
          <a:chExt cx="0" cy="0"/>
        </a:xfrm>
      </p:grpSpPr>
      <p:sp>
        <p:nvSpPr>
          <p:cNvPr name="TextBox 2" id="2"/>
          <p:cNvSpPr txBox="true"/>
          <p:nvPr/>
        </p:nvSpPr>
        <p:spPr>
          <a:xfrm rot="0">
            <a:off x="443439" y="536102"/>
            <a:ext cx="12278261" cy="9157646"/>
          </a:xfrm>
          <a:prstGeom prst="rect">
            <a:avLst/>
          </a:prstGeom>
        </p:spPr>
        <p:txBody>
          <a:bodyPr anchor="t" rtlCol="false" tIns="0" lIns="0" bIns="0" rIns="0">
            <a:spAutoFit/>
          </a:bodyPr>
          <a:lstStyle/>
          <a:p>
            <a:pPr algn="l">
              <a:lnSpc>
                <a:spcPts val="3657"/>
              </a:lnSpc>
              <a:spcBef>
                <a:spcPct val="0"/>
              </a:spcBef>
            </a:pPr>
            <a:r>
              <a:rPr lang="en-US" b="true" sz="2612">
                <a:solidFill>
                  <a:srgbClr val="000000"/>
                </a:solidFill>
                <a:latin typeface="Canva Sans Bold"/>
                <a:ea typeface="Canva Sans Bold"/>
                <a:cs typeface="Canva Sans Bold"/>
                <a:sym typeface="Canva Sans Bold"/>
              </a:rPr>
              <a:t>5. Satu Pernyataan untuk Setiap Baris</a:t>
            </a:r>
          </a:p>
          <a:p>
            <a:pPr algn="l">
              <a:lnSpc>
                <a:spcPts val="3657"/>
              </a:lnSpc>
              <a:spcBef>
                <a:spcPct val="0"/>
              </a:spcBef>
            </a:pPr>
            <a:r>
              <a:rPr lang="en-US" sz="2612">
                <a:solidFill>
                  <a:srgbClr val="000000"/>
                </a:solidFill>
                <a:latin typeface="Canva Sans"/>
                <a:ea typeface="Canva Sans"/>
                <a:cs typeface="Canva Sans"/>
                <a:sym typeface="Canva Sans"/>
              </a:rPr>
              <a:t>Cara membuat pseudocode ini dapat membantu Anda untuk fokus pada satu pemecahan masalah pada satu waktu. </a:t>
            </a:r>
          </a:p>
          <a:p>
            <a:pPr algn="l">
              <a:lnSpc>
                <a:spcPts val="3657"/>
              </a:lnSpc>
              <a:spcBef>
                <a:spcPct val="0"/>
              </a:spcBef>
            </a:pPr>
            <a:r>
              <a:rPr lang="en-US" sz="2612">
                <a:solidFill>
                  <a:srgbClr val="000000"/>
                </a:solidFill>
                <a:latin typeface="Canva Sans"/>
                <a:ea typeface="Canva Sans"/>
                <a:cs typeface="Canva Sans"/>
                <a:sym typeface="Canva Sans"/>
              </a:rPr>
              <a:t>Dalam pseudocode, satu pernyataan yang jelas dan spesifik umumnya menggambarkan satu langkah dalam algoritma. </a:t>
            </a:r>
          </a:p>
          <a:p>
            <a:pPr algn="l">
              <a:lnSpc>
                <a:spcPts val="3657"/>
              </a:lnSpc>
              <a:spcBef>
                <a:spcPct val="0"/>
              </a:spcBef>
            </a:pPr>
            <a:r>
              <a:rPr lang="en-US" sz="2612">
                <a:solidFill>
                  <a:srgbClr val="000000"/>
                </a:solidFill>
                <a:latin typeface="Canva Sans"/>
                <a:ea typeface="Canva Sans"/>
                <a:cs typeface="Canva Sans"/>
                <a:sym typeface="Canva Sans"/>
              </a:rPr>
              <a:t>Oleh karena itu, prinsip satu pernyataan untuk setiap baris ini dapat mempermudah pemahaman dan pembuatan program, serta meminimalkan potensi kesalahan dalam proses pengembangan perangkat lunak.</a:t>
            </a:r>
          </a:p>
          <a:p>
            <a:pPr algn="l">
              <a:lnSpc>
                <a:spcPts val="3657"/>
              </a:lnSpc>
              <a:spcBef>
                <a:spcPct val="0"/>
              </a:spcBef>
            </a:pPr>
            <a:r>
              <a:rPr lang="en-US" b="true" sz="2612">
                <a:solidFill>
                  <a:srgbClr val="000000"/>
                </a:solidFill>
                <a:latin typeface="Canva Sans Bold"/>
                <a:ea typeface="Canva Sans Bold"/>
                <a:cs typeface="Canva Sans Bold"/>
                <a:sym typeface="Canva Sans Bold"/>
              </a:rPr>
              <a:t>6. Sediakan Spasi Antar Blok</a:t>
            </a:r>
          </a:p>
          <a:p>
            <a:pPr algn="l">
              <a:lnSpc>
                <a:spcPts val="3657"/>
              </a:lnSpc>
              <a:spcBef>
                <a:spcPct val="0"/>
              </a:spcBef>
            </a:pPr>
            <a:r>
              <a:rPr lang="en-US" sz="2612">
                <a:solidFill>
                  <a:srgbClr val="000000"/>
                </a:solidFill>
                <a:latin typeface="Canva Sans"/>
                <a:ea typeface="Canva Sans"/>
                <a:cs typeface="Canva Sans"/>
                <a:sym typeface="Canva Sans"/>
              </a:rPr>
              <a:t>Untuk memastikan penyusunan komponen pseudocode tetap rapi dan mudah dibaca, Anda bisa menggunakan spasi di antara “blok” algoritma.</a:t>
            </a:r>
          </a:p>
          <a:p>
            <a:pPr algn="l">
              <a:lnSpc>
                <a:spcPts val="3657"/>
              </a:lnSpc>
              <a:spcBef>
                <a:spcPct val="0"/>
              </a:spcBef>
            </a:pPr>
            <a:r>
              <a:rPr lang="en-US" b="true" sz="2612">
                <a:solidFill>
                  <a:srgbClr val="000000"/>
                </a:solidFill>
                <a:latin typeface="Canva Sans Bold"/>
                <a:ea typeface="Canva Sans Bold"/>
                <a:cs typeface="Canva Sans Bold"/>
                <a:sym typeface="Canva Sans Bold"/>
              </a:rPr>
              <a:t>7. Periksa Kembali Pseudocode</a:t>
            </a:r>
          </a:p>
          <a:p>
            <a:pPr algn="l">
              <a:lnSpc>
                <a:spcPts val="3657"/>
              </a:lnSpc>
              <a:spcBef>
                <a:spcPct val="0"/>
              </a:spcBef>
            </a:pPr>
            <a:r>
              <a:rPr lang="en-US" sz="2612">
                <a:solidFill>
                  <a:srgbClr val="000000"/>
                </a:solidFill>
                <a:latin typeface="Canva Sans"/>
                <a:ea typeface="Canva Sans"/>
                <a:cs typeface="Canva Sans"/>
                <a:sym typeface="Canva Sans"/>
              </a:rPr>
              <a:t>Dalam melakukan pemeriksaan ini, Anda bisa meninjau beberapa hal seperti: </a:t>
            </a:r>
          </a:p>
          <a:p>
            <a:pPr algn="l">
              <a:lnSpc>
                <a:spcPts val="3657"/>
              </a:lnSpc>
              <a:spcBef>
                <a:spcPct val="0"/>
              </a:spcBef>
            </a:pPr>
            <a:r>
              <a:rPr lang="en-US" sz="2612">
                <a:solidFill>
                  <a:srgbClr val="000000"/>
                </a:solidFill>
                <a:latin typeface="Canva Sans"/>
                <a:ea typeface="Canva Sans"/>
                <a:cs typeface="Canva Sans"/>
                <a:sym typeface="Canva Sans"/>
              </a:rPr>
              <a:t>Pastikan pseudocode mudah dibaca dan dimengerti oleh orang lain.</a:t>
            </a:r>
          </a:p>
          <a:p>
            <a:pPr algn="l">
              <a:lnSpc>
                <a:spcPts val="3657"/>
              </a:lnSpc>
              <a:spcBef>
                <a:spcPct val="0"/>
              </a:spcBef>
            </a:pPr>
            <a:r>
              <a:rPr lang="en-US" sz="2612">
                <a:solidFill>
                  <a:srgbClr val="000000"/>
                </a:solidFill>
                <a:latin typeface="Canva Sans"/>
                <a:ea typeface="Canva Sans"/>
                <a:cs typeface="Canva Sans"/>
                <a:sym typeface="Canva Sans"/>
              </a:rPr>
              <a:t>Pastikan bahwa logika pseudocode, langkah dan pernyataannya sudah cukup konsisten, tidak ambigu, dan tidak tumpang tindih.</a:t>
            </a:r>
          </a:p>
          <a:p>
            <a:pPr algn="l">
              <a:lnSpc>
                <a:spcPts val="3657"/>
              </a:lnSpc>
              <a:spcBef>
                <a:spcPct val="0"/>
              </a:spcBef>
            </a:pPr>
            <a:r>
              <a:rPr lang="en-US" sz="2612">
                <a:solidFill>
                  <a:srgbClr val="000000"/>
                </a:solidFill>
                <a:latin typeface="Canva Sans"/>
                <a:ea typeface="Canva Sans"/>
                <a:cs typeface="Canva Sans"/>
                <a:sym typeface="Canva Sans"/>
              </a:rPr>
              <a:t>Telusuri pseudocode untuk memastikan tidak ada kesalahan atau bug dalam alur logika dan segera perbaiki apabila Anda menemukan bug di dalamnya. </a:t>
            </a:r>
          </a:p>
          <a:p>
            <a:pPr algn="l">
              <a:lnSpc>
                <a:spcPts val="3657"/>
              </a:lnSpc>
              <a:spcBef>
                <a:spcPct val="0"/>
              </a:spcBef>
            </a:pPr>
            <a:r>
              <a:rPr lang="en-US" sz="2612">
                <a:solidFill>
                  <a:srgbClr val="000000"/>
                </a:solidFill>
                <a:latin typeface="Canva Sans"/>
                <a:ea typeface="Canva Sans"/>
                <a:cs typeface="Canva Sans"/>
                <a:sym typeface="Canva Sans"/>
              </a:rPr>
              <a:t>Pastikan bahwa logika pseudocode yang disusun dapat dikonversi ke dalam bahasa pemrograman tertentu. </a:t>
            </a:r>
          </a:p>
        </p:txBody>
      </p:sp>
      <p:sp>
        <p:nvSpPr>
          <p:cNvPr name="Freeform 3" id="3"/>
          <p:cNvSpPr/>
          <p:nvPr/>
        </p:nvSpPr>
        <p:spPr>
          <a:xfrm flipH="false" flipV="false" rot="0">
            <a:off x="12901780" y="4698004"/>
            <a:ext cx="5122861" cy="5276355"/>
          </a:xfrm>
          <a:custGeom>
            <a:avLst/>
            <a:gdLst/>
            <a:ahLst/>
            <a:cxnLst/>
            <a:rect r="r" b="b" t="t" l="l"/>
            <a:pathLst>
              <a:path h="5276355" w="5122861">
                <a:moveTo>
                  <a:pt x="0" y="0"/>
                </a:moveTo>
                <a:lnTo>
                  <a:pt x="5122861" y="0"/>
                </a:lnTo>
                <a:lnTo>
                  <a:pt x="5122861" y="5276355"/>
                </a:lnTo>
                <a:lnTo>
                  <a:pt x="0" y="52763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E0B7"/>
        </a:solidFill>
      </p:bgPr>
    </p:bg>
    <p:spTree>
      <p:nvGrpSpPr>
        <p:cNvPr id="1" name=""/>
        <p:cNvGrpSpPr/>
        <p:nvPr/>
      </p:nvGrpSpPr>
      <p:grpSpPr>
        <a:xfrm>
          <a:off x="0" y="0"/>
          <a:ext cx="0" cy="0"/>
          <a:chOff x="0" y="0"/>
          <a:chExt cx="0" cy="0"/>
        </a:xfrm>
      </p:grpSpPr>
      <p:sp>
        <p:nvSpPr>
          <p:cNvPr name="Freeform 2" id="2"/>
          <p:cNvSpPr/>
          <p:nvPr/>
        </p:nvSpPr>
        <p:spPr>
          <a:xfrm flipH="false" flipV="false" rot="0">
            <a:off x="183297" y="231285"/>
            <a:ext cx="17855108" cy="9889931"/>
          </a:xfrm>
          <a:custGeom>
            <a:avLst/>
            <a:gdLst/>
            <a:ahLst/>
            <a:cxnLst/>
            <a:rect r="r" b="b" t="t" l="l"/>
            <a:pathLst>
              <a:path h="9889931" w="17855108">
                <a:moveTo>
                  <a:pt x="0" y="0"/>
                </a:moveTo>
                <a:lnTo>
                  <a:pt x="17855108" y="0"/>
                </a:lnTo>
                <a:lnTo>
                  <a:pt x="17855108" y="9889931"/>
                </a:lnTo>
                <a:lnTo>
                  <a:pt x="0" y="9889931"/>
                </a:lnTo>
                <a:lnTo>
                  <a:pt x="0" y="0"/>
                </a:lnTo>
                <a:close/>
              </a:path>
            </a:pathLst>
          </a:custGeom>
          <a:blipFill>
            <a:blip r:embed="rId2"/>
            <a:stretch>
              <a:fillRect l="0" t="-1965" r="0" b="-1965"/>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DAGvKCCKgWY</dc:identifier>
  <dcterms:modified xsi:type="dcterms:W3CDTF">2011-08-01T06:04:30Z</dcterms:modified>
  <cp:revision>1</cp:revision>
  <dc:title>Designing and Creating Algorithms for Sorting and Classifying Shapes Mathematics Presentation in Orange White Illustration Style</dc:title>
</cp:coreProperties>
</file>